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a0e3a8b57444643" Type="http://schemas.openxmlformats.org/package/2006/relationships/metadata/core-properties" Target="docProps/core.xml"/><Relationship Id="Rc97a6d6116ad4ad9" Type="http://schemas.openxmlformats.org/officeDocument/2006/relationships/officeDocument" Target="ppt/presentation.xml"/><Relationship Id="Reac0182960484678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29d9c363a74cac"/>
  </p:sldMasterIdLst>
  <p:notesMasterIdLst>
    <p:notesMasterId xmlns:r="http://schemas.openxmlformats.org/officeDocument/2006/relationships" r:id="R372965e293804d78"/>
  </p:notesMasterIdLst>
  <p:sldIdLst>
    <p:sldId xmlns:r="http://schemas.openxmlformats.org/officeDocument/2006/relationships" id="256" r:id="R33b83af2d5fd45a8"/>
    <p:sldId xmlns:r="http://schemas.openxmlformats.org/officeDocument/2006/relationships" id="257" r:id="R58b551fcc31e4f6c"/>
    <p:sldId xmlns:r="http://schemas.openxmlformats.org/officeDocument/2006/relationships" id="258" r:id="R2ae519de6c0d4174"/>
    <p:sldId xmlns:r="http://schemas.openxmlformats.org/officeDocument/2006/relationships" id="259" r:id="R56e02aab89e24461"/>
    <p:sldId xmlns:r="http://schemas.openxmlformats.org/officeDocument/2006/relationships" id="260" r:id="R8a67b77d9bc14cb4"/>
    <p:sldId xmlns:r="http://schemas.openxmlformats.org/officeDocument/2006/relationships" id="261" r:id="R27cccb2f46ed4062"/>
    <p:sldId xmlns:r="http://schemas.openxmlformats.org/officeDocument/2006/relationships" id="262" r:id="R04978efdf0a14b81"/>
    <p:sldId xmlns:r="http://schemas.openxmlformats.org/officeDocument/2006/relationships" id="263" r:id="R68c82c6422014826"/>
    <p:sldId xmlns:r="http://schemas.openxmlformats.org/officeDocument/2006/relationships" id="264" r:id="R9d24efb05c0545d9"/>
    <p:sldId xmlns:r="http://schemas.openxmlformats.org/officeDocument/2006/relationships" id="265" r:id="R6d5dfbce46994414"/>
    <p:sldId xmlns:r="http://schemas.openxmlformats.org/officeDocument/2006/relationships" id="266" r:id="R45a23097c328493a"/>
    <p:sldId xmlns:r="http://schemas.openxmlformats.org/officeDocument/2006/relationships" id="267" r:id="R37dcf89940124ff0"/>
    <p:sldId xmlns:r="http://schemas.openxmlformats.org/officeDocument/2006/relationships" id="268" r:id="R63d258c82fd34099"/>
    <p:sldId xmlns:ns0="http://schemas.openxmlformats.org/officeDocument/2006/relationships" id="273" ns0:id="rId23"/>
    <p:sldId xmlns:r="http://schemas.openxmlformats.org/officeDocument/2006/relationships" id="269" r:id="R6e245f6ee4824352"/>
    <p:sldId xmlns:r="http://schemas.openxmlformats.org/officeDocument/2006/relationships" id="270" r:id="Ra899c119ccc94f29"/>
    <p:sldId xmlns:r="http://schemas.openxmlformats.org/officeDocument/2006/relationships" id="271" r:id="R6acaf13db07b4b28"/>
    <p:sldId xmlns:r="http://schemas.openxmlformats.org/officeDocument/2006/relationships" id="272" r:id="Rd7c8a2757dce48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4978efdf0a14b81" Type="http://schemas.openxmlformats.org/officeDocument/2006/relationships/slide" Target="slides/slide7.xml"/><Relationship Id="R27cccb2f46ed4062" Type="http://schemas.openxmlformats.org/officeDocument/2006/relationships/slide" Target="slides/slide6.xml"/><Relationship Id="R2ae519de6c0d4174" Type="http://schemas.openxmlformats.org/officeDocument/2006/relationships/slide" Target="slides/slide3.xml"/><Relationship Id="R33b83af2d5fd45a8" Type="http://schemas.openxmlformats.org/officeDocument/2006/relationships/slide" Target="slides/slide1.xml"/><Relationship Id="R372965e293804d78" Type="http://schemas.openxmlformats.org/officeDocument/2006/relationships/notesMaster" Target="notesMasters/notesMaster1.xml"/><Relationship Id="R37dcf89940124ff0" Type="http://schemas.openxmlformats.org/officeDocument/2006/relationships/slide" Target="slides/slide12.xml"/><Relationship Id="R45a23097c328493a" Type="http://schemas.openxmlformats.org/officeDocument/2006/relationships/slide" Target="slides/slide11.xml"/><Relationship Id="R56e02aab89e24461" Type="http://schemas.openxmlformats.org/officeDocument/2006/relationships/slide" Target="slides/slide4.xml"/><Relationship Id="R58b551fcc31e4f6c" Type="http://schemas.openxmlformats.org/officeDocument/2006/relationships/slide" Target="slides/slide2.xml"/><Relationship Id="R63d258c82fd34099" Type="http://schemas.openxmlformats.org/officeDocument/2006/relationships/slide" Target="slides/slide13.xml"/><Relationship Id="R68c82c6422014826" Type="http://schemas.openxmlformats.org/officeDocument/2006/relationships/slide" Target="slides/slide8.xml"/><Relationship Id="R6acaf13db07b4b28" Type="http://schemas.openxmlformats.org/officeDocument/2006/relationships/slide" Target="slides/slide17.xml"/><Relationship Id="R6d5dfbce46994414" Type="http://schemas.openxmlformats.org/officeDocument/2006/relationships/slide" Target="slides/slide10.xml"/><Relationship Id="R6e245f6ee4824352" Type="http://schemas.openxmlformats.org/officeDocument/2006/relationships/slide" Target="slides/slide15.xml"/><Relationship Id="R80089d7d1f1c41cb" Type="http://schemas.openxmlformats.org/officeDocument/2006/relationships/theme" Target="theme/theme1.xml"/><Relationship Id="R8a67b77d9bc14cb4" Type="http://schemas.openxmlformats.org/officeDocument/2006/relationships/slide" Target="slides/slide5.xml"/><Relationship Id="R9629d9c363a74cac" Type="http://schemas.openxmlformats.org/officeDocument/2006/relationships/slideMaster" Target="slideMasters/slideMaster1.xml"/><Relationship Id="R9d24efb05c0545d9" Type="http://schemas.openxmlformats.org/officeDocument/2006/relationships/slide" Target="slides/slide9.xml"/><Relationship Id="Ra899c119ccc94f29" Type="http://schemas.openxmlformats.org/officeDocument/2006/relationships/slide" Target="slides/slide16.xml"/><Relationship Id="Rc3a13ac008d348e7" Type="http://schemas.openxmlformats.org/officeDocument/2006/relationships/tableStyles" Target="tableStyles.xml"/><Relationship Id="Rd7c8a2757dce48c7" Type="http://schemas.openxmlformats.org/officeDocument/2006/relationships/slide" Target="slides/slide18.xml"/><Relationship Id="Rd93eda35c0f94fcc" Type="http://schemas.openxmlformats.org/officeDocument/2006/relationships/presProps" Target="presProps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6bb343bdea6b43a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cf498154be64ad0" Type="http://schemas.openxmlformats.org/officeDocument/2006/relationships/slide" Target="../slides/slide1.xml"/><Relationship Id="Rec96914f3b0541f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6049c5b033d42f7" Type="http://schemas.openxmlformats.org/officeDocument/2006/relationships/notesMaster" Target="../notesMasters/notesMaster1.xml"/><Relationship Id="Rb4bda33d1aaf44d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748701828af464d" Type="http://schemas.openxmlformats.org/officeDocument/2006/relationships/notesMaster" Target="../notesMasters/notesMaster1.xml"/><Relationship Id="Re5a10cc820e14a3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13b547798544b6d" Type="http://schemas.openxmlformats.org/officeDocument/2006/relationships/notesMaster" Target="../notesMasters/notesMaster1.xml"/><Relationship Id="Rac178b3397124cf6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a88bbda8fde4985" Type="http://schemas.openxmlformats.org/officeDocument/2006/relationships/notesMaster" Target="../notesMasters/notesMaster1.xml"/><Relationship Id="R8f558a8a87f545e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84a2fc169d14946" Type="http://schemas.openxmlformats.org/officeDocument/2006/relationships/notesMaster" Target="../notesMasters/notesMaster1.xml"/><Relationship Id="R95d59be435bc45a8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b644138076441dc" Type="http://schemas.openxmlformats.org/officeDocument/2006/relationships/notesMaster" Target="../notesMasters/notesMaster1.xml"/><Relationship Id="Rf4cc15d1f0a044f1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749db3aef3894eac" Type="http://schemas.openxmlformats.org/officeDocument/2006/relationships/notesMaster" Target="../notesMasters/notesMaster1.xml"/><Relationship Id="Rc24c2ba7e57f4f5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126e8c4d68b465c" Type="http://schemas.openxmlformats.org/officeDocument/2006/relationships/slide" Target="../slides/slide9.xml"/><Relationship Id="Red93dd5273c0445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be7c7498db64c41" Type="http://schemas.openxmlformats.org/officeDocument/2006/relationships/slide" Target="../slides/slide10.xml"/><Relationship Id="R1c9dc13d15434139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0c88f1a9195a4567" Type="http://schemas.openxmlformats.org/officeDocument/2006/relationships/notesMaster" Target="../notesMasters/notesMaster1.xml"/><Relationship Id="R80a13a486aeb4778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a65e01ce2b484e8e" Type="http://schemas.openxmlformats.org/officeDocument/2006/relationships/notesMaster" Target="../notesMasters/notesMaster1.xml"/><Relationship Id="Rca033e450b9949e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e7dbddb05a94b2e" Type="http://schemas.openxmlformats.org/officeDocument/2006/relationships/slide" Target="../slides/slide13.xml"/><Relationship Id="R8e1507840d8d41f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a184d9aa7364a9f" Type="http://schemas.openxmlformats.org/officeDocument/2006/relationships/notesMaster" Target="../notesMasters/notesMaster1.xml"/><Relationship Id="R2fe7b4177dc3453f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8d16999b036a4208" Type="http://schemas.openxmlformats.org/officeDocument/2006/relationships/slide" Target="../slides/slide16.xml"/><Relationship Id="R96f72d25cee3445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c8a8ae8982c412f" Type="http://schemas.openxmlformats.org/officeDocument/2006/relationships/slide" Target="../slides/slide17.xml"/><Relationship Id="Rfdf3e95ec0f44f0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3f5d11840d5f49b7" Type="http://schemas.openxmlformats.org/officeDocument/2006/relationships/notesMaster" Target="../notesMasters/notesMaster1.xml"/><Relationship Id="Rd9d2365e84224750" Type="http://schemas.openxmlformats.org/officeDocument/2006/relationships/slide" Target="../slides/slide1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f836ffce4c743f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a23236a85324749" Type="http://schemas.openxmlformats.org/officeDocument/2006/relationships/theme" Target="theme/theme2.xml"/><Relationship Id="R5461a7602eaa477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1a7602eaa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a3eebf657944a87" Type="http://schemas.openxmlformats.org/officeDocument/2006/relationships/slideLayout" Target="../slideLayouts/slideLayout1.xml"/><Relationship Id="R634bf8f7f64d447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2f5e76a5614442b" Type="http://schemas.openxmlformats.org/officeDocument/2006/relationships/slideLayout" Target="../slideLayouts/slideLayout1.xml"/><Relationship Id="R62640ac142824bb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8e5f4667af2a49f4" Type="http://schemas.openxmlformats.org/officeDocument/2006/relationships/slideLayout" Target="../slideLayouts/slideLayout1.xml"/><Relationship Id="Rc2f6eb526d2e421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8f5e745b6334da9" Type="http://schemas.openxmlformats.org/officeDocument/2006/relationships/notesSlide" Target="../notesSlides/notesSlide4.xml"/><Relationship Id="Rfab05dd0dd86402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86d415f50e14bb5" Type="http://schemas.openxmlformats.org/officeDocument/2006/relationships/notesSlide" Target="../notesSlides/notesSlide5.xml"/><Relationship Id="R788540f9be0341b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16a0374a5344688" Type="http://schemas.openxmlformats.org/officeDocument/2006/relationships/slideLayout" Target="../slideLayouts/slideLayout1.xml"/><Relationship Id="Ra5062fd401084f4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4166c65e8b54118" Type="http://schemas.openxmlformats.org/officeDocument/2006/relationships/slideLayout" Target="../slideLayouts/slideLayout1.xml"/><Relationship Id="R2a6a944967e64af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ab4dbf5048724c9c" Type="http://schemas.openxmlformats.org/officeDocument/2006/relationships/slideLayout" Target="../slideLayouts/slideLayout1.xml"/><Relationship Id="Rd1a9d47438004d7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1d31186cc564524" Type="http://schemas.openxmlformats.org/officeDocument/2006/relationships/notesSlide" Target="../notesSlides/notesSlide9.xml"/><Relationship Id="R5547b7edfa3749f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59167efc6004e44" Type="http://schemas.openxmlformats.org/officeDocument/2006/relationships/notesSlide" Target="../notesSlides/notesSlide10.xml"/><Relationship Id="Reb88ae9810404c2d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1d96965626840dd" Type="http://schemas.openxmlformats.org/officeDocument/2006/relationships/slideLayout" Target="../slideLayouts/slideLayout1.xml"/><Relationship Id="Ree8bd18422ea46b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888aea44b9e44aff" Type="http://schemas.openxmlformats.org/officeDocument/2006/relationships/slideLayout" Target="../slideLayouts/slideLayout1.xml"/><Relationship Id="R9962b35cd621474e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40b0a65ab2364ae1" Type="http://schemas.openxmlformats.org/officeDocument/2006/relationships/slideLayout" Target="../slideLayouts/slideLayout1.xml"/><Relationship Id="R7c74435dc2de4d2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9cea2ed1ef749c5" Type="http://schemas.openxmlformats.org/officeDocument/2006/relationships/notesSlide" Target="../notesSlides/notesSlide14.xml"/><Relationship Id="Rfb3678697c2d440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566f052ece474a6b" Type="http://schemas.openxmlformats.org/officeDocument/2006/relationships/slideLayout" Target="../slideLayouts/slideLayout1.xml"/><Relationship Id="Rab542dc302314b50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623079859319484e" Type="http://schemas.openxmlformats.org/officeDocument/2006/relationships/notesSlide" Target="../notesSlides/notesSlide16.xml"/><Relationship Id="R7203b766e3954907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c52d4cd46da74d40" Type="http://schemas.openxmlformats.org/officeDocument/2006/relationships/slideLayout" Target="../slideLayouts/slideLayout1.xml"/><Relationship Id="Rdb81248890a0470f" Type="http://schemas.openxmlformats.org/officeDocument/2006/relationships/notesSlide" Target="../notesSlides/notesSlide1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EBECF-20FE-4177-937C-D6FD644E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8ABA3-E3F3-449B-A6EB-1C4960C2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B2A35-2617-44CF-86B5-76515AC8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23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ВЫПУСКНАЯ КВАЛИФИКАЦИОННАЯ РАБОТА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B955A-8A5D-47F4-9653-F778A39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231"/>
                </a:solidFill>
              </a:defRPr>
            </a:pPr>
            <a:r>
              <a:rPr sz="3000" b="1">
                <a:solidFill>
                  <a:srgbClr val="172231"/>
                </a:solidFill>
              </a:rPr>
              <a:t>Разработка программного средства анализа EH/Unwind-метаданных PE32+ AMD64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A1770-1E60-4C88-BED4-A554E035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1A66-FBAC-4E2E-A286-58958D4C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57625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C6A73"/>
                </a:solidFill>
              </a:defRPr>
            </a:pPr>
            <a:r>
              <a:rPr sz="1875">
                <a:solidFill>
                  <a:srgbClr val="5C6A73"/>
                </a:solidFill>
              </a:rPr>
              <a:t>Проект для анализа служебных структур Windows, связанных с обработкой исключений и восстановлением стека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7D9C1-09BC-4084-A979-806BD2D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Екатеринбург, 2026</a:t>
            </a:r>
          </a:p>
        </p:txBody>
      </p:sp>
    </p:spTree>
    <p:extLst>
      <p:ext uri="{BB962C8B-B14F-4D97-AF65-F5344CB8AC3E}">
        <p14:creationId xmlns:p14="http://schemas.microsoft.com/office/powerpoint/2010/main" val="78551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29FAD-357D-4D99-A185-6F60FDCD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CD2C0-9361-43E3-BD99-E4415BF4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7B86E-FB4B-4980-96EB-C6AE9B60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583B9-849A-4B3D-BF2D-73AB6082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9E6D1-CEBA-4648-BF3C-FC9700C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2781-E5F9-4394-9ADE-9AB6D9A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В PE-файлах Windows есть служебный слой, который описывает функции, обработчики исключений и правила восстановления стека. Если этот слой поврежден или намеренно изменен, ручной анализ становится медленным и рискованным.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7437C-A522-474C-871C-520ACF4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095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93F59-32C8-4D17-9B00-D84D086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38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96987-84A3-4478-81F9-089912D3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54CC4-85F8-4D6E-9209-A7874A5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A9B3"/>
                </a:solidFill>
              </a:defRPr>
            </a:pPr>
            <a:r>
              <a:rPr sz="1575" b="1">
                <a:solidFill>
                  <a:srgbClr val="15A9B3"/>
                </a:solidFill>
              </a:rPr>
              <a:t>Файл выглядит обычным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DE8D-232C-4EBE-ACA5-B5D9E76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2314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видны PE-заголовки, секции, импорт и машинный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1BEFD-237F-4538-923A-23A78DA9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3095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DCAF-54C1-4C90-B611-3DB0E9A2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438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870CD-9DEC-425D-8158-81A224AC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DE491-59FF-4BBF-8729-08D70508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9080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07A24"/>
                </a:solidFill>
              </a:defRPr>
            </a:pPr>
            <a:r>
              <a:rPr sz="1575" b="1">
                <a:solidFill>
                  <a:srgbClr val="C07A24"/>
                </a:solidFill>
              </a:rPr>
              <a:t>Служебный слой скрыт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BA1F2-A5BD-4885-8EF7-8A4861A2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62300"/>
            <a:ext cx="2314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EH/Unwind-данные могут быть повреждены, сжаты или намеренно спрятаны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635FB-44B9-40C0-B708-C78FAD3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309562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1196B-2788-4B56-98C3-14DEEB4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76500"/>
            <a:ext cx="438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B2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EF63E-8164-4C38-80BD-EA53C9AB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737EB-1E7F-4EAD-B894-1339D9DB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90800"/>
            <a:ext cx="2314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2B2B"/>
                </a:solidFill>
              </a:defRPr>
            </a:pPr>
            <a:r>
              <a:rPr sz="1575" b="1">
                <a:solidFill>
                  <a:srgbClr val="9B2B2B"/>
                </a:solidFill>
              </a:rPr>
              <a:t>Риск неверного вывода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E4601-2426-4F78-886F-8E1C8B72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62300"/>
            <a:ext cx="2314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без проверки легко ошибиться в границах функций и обработчиках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88F37-30AE-4E6D-801E-A7D4B729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7781"/>
                </a:solidFill>
              </a:defRPr>
            </a:pPr>
            <a:r>
              <a:rPr sz="1950" b="1">
                <a:solidFill>
                  <a:srgbClr val="087781"/>
                </a:solidFill>
              </a:rPr>
              <a:t>Задача проекта - превратить этот низкоуровневый слой в понятный и проверяемый отчет.</a:t>
            </a:r>
          </a:p>
        </p:txBody>
      </p:sp>
    </p:spTree>
    <p:extLst>
      <p:ext uri="{BB962C8B-B14F-4D97-AF65-F5344CB8AC3E}">
        <p14:creationId xmlns:p14="http://schemas.microsoft.com/office/powerpoint/2010/main" val="41237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5323E-B79A-4797-8EF9-8B4BCC91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64E42-1F09-4FF0-A6B0-6717368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Актуальность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D6F89-6881-44DC-8630-7772DA0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C83B-67D8-41DD-B06D-6B60FD2D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177D5-9B4D-4D85-99C0-A3606D4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4A5AF-AF71-4962-A752-7AB90F0D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Большинство средств показывает общую структуру файла или поведение процесса. Но отдельная проверка EH/Unwind-метаданных обычно остается ручной работой специалиста.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CA2C5-CF11-46FD-A2E4-4B62823C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7FA87-0559-40A9-B55C-1206C7F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0300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таблица .pdata задает диапазоны функций в 64-разрядном PE-файле;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2200F-6C9B-4C05-A185-7897F533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6FD2B-CF28-4FF1-8EEA-A0090E8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895600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структуры .xdata описывают, как восстановить стек после исключения;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59026-5CBD-40CC-AA04-350E361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33A9B-8D2D-42E6-B58C-270760A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90900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поврежденные диапазоны, нетипичные секции и обработчики требуют ручной проверки;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6BEF6-5D11-4B2A-8EDA-69DF3B92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81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5DB820-0095-455B-A301-B7605C4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86200"/>
            <a:ext cx="701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динамические обработчики VEH/VCH/UEF проявляются только во время выполнения.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AD5A7-9189-431E-8D8C-2C90BEEE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9800"/>
            <a:ext cx="2333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E5F1A-0A2E-460C-9CC4-54788179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781"/>
                </a:solidFill>
              </a:defRPr>
            </a:pPr>
            <a:r>
              <a:rPr sz="1575" b="1">
                <a:solidFill>
                  <a:srgbClr val="087781"/>
                </a:solidFill>
              </a:rPr>
              <a:t>Ключевые структуры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6F5DF-78F9-444C-B57D-D8FE1429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1857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.pdata</a:t>
            </a:r>
          </a:p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таблица функций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.xdata</a:t>
            </a:r>
          </a:p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правила раскрутки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VEH / VCH / UEF</a:t>
            </a:r>
          </a:p>
          <a:p xmlns:a="http://schemas.openxmlformats.org/drawingml/2006/main">
            <a:pPr algn="ctr"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обработчики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1732324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DEFD96-D038-4A6C-9D69-44EBD8B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4812A-A43F-43FF-8A70-3B909EDA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Цель и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1C908-9E38-440B-9B59-536AEDFC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F02FE-CE31-47B2-999B-6C987A72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8D8D9-1B7C-4F63-BA61-A017B6A1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243F7-E330-475A-B1F5-EDAF18CE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231"/>
                </a:solidFill>
              </a:defRPr>
            </a:pPr>
            <a:r>
              <a:rPr sz="1650" b="1">
                <a:solidFill>
                  <a:srgbClr val="172231"/>
                </a:solidFill>
              </a:rPr>
              <a:t>Цель работы: разработать программное средство, которое автоматически извлекает EH/Unwind-метаданные, выявляет аномалии и формирует понятные отчеты для дальнейшего анализа.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CA749-7878-423C-B6A7-0705799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AFE3C-02CC-4217-9E8B-C191069D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5E96-78E5-4A57-B520-8CA04E5F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16F80-EDB3-4952-A898-C6FA86A6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955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A9B3"/>
                </a:solidFill>
              </a:defRPr>
            </a:pPr>
            <a:r>
              <a:rPr sz="1500" b="1">
                <a:solidFill>
                  <a:srgbClr val="15A9B3"/>
                </a:solidFill>
              </a:rPr>
              <a:t>Изучить PE32+ AMD64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185CD-3E83-463E-984C-57C51AD5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6003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где находятся .pdata, .xdata и адреса функций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6F845-4680-4E36-9AAE-B8BB7A67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D462B-D02C-4BE5-BEFC-6366F47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4DA6D-3BD6-4D4E-BF8B-28A71256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621B5-78F6-4FA1-BB40-7C93455F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955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866A"/>
                </a:solidFill>
              </a:defRPr>
            </a:pPr>
            <a:r>
              <a:rPr sz="1500" b="1">
                <a:solidFill>
                  <a:srgbClr val="27866A"/>
                </a:solidFill>
              </a:rPr>
              <a:t>Реализовать парсинг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1A7CF-713A-4A46-A482-7554AC8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03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прочитать заголовки, функции и UNWIND_INFO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BFE04-E468-4B59-8209-316F048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8FAA5-E24F-444C-A5F5-F072FA47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2C3A1-D9CE-4C61-AA88-8C1389AC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86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ACED8-7027-4165-818A-9BDFE600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623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A9B3"/>
                </a:solidFill>
              </a:defRPr>
            </a:pPr>
            <a:r>
              <a:rPr sz="1500" b="1">
                <a:solidFill>
                  <a:srgbClr val="15A9B3"/>
                </a:solidFill>
              </a:rPr>
              <a:t>Сделать статический анализ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8B786-1781-4231-946E-B3CB3228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6671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найти нарушения границ, секций и обработчиков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E2A89-83F9-460E-9BA6-5E00C4F4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8E14C-61CF-4207-A49B-F630731D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5BCD3-A24E-43E4-B838-708CF7BD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7EB80B-C2E0-4880-8D0D-2ADE6137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866A"/>
                </a:solidFill>
              </a:defRPr>
            </a:pPr>
            <a:r>
              <a:rPr sz="1500" b="1">
                <a:solidFill>
                  <a:srgbClr val="27866A"/>
                </a:solidFill>
              </a:rPr>
              <a:t>Добавить динамический анализ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AEC79-C712-4893-A062-FDD2933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671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собрать события исключений в Windows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12D77-6757-4D38-A563-6D85E1C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243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A6F06-A6CF-4C85-88AA-F6909C85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243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53F15-3D5E-469C-86F2-009BABAF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207BA9-C18B-4552-A09F-27A7976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291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A9B3"/>
                </a:solidFill>
              </a:defRPr>
            </a:pPr>
            <a:r>
              <a:rPr sz="1500" b="1">
                <a:solidFill>
                  <a:srgbClr val="15A9B3"/>
                </a:solidFill>
              </a:rPr>
              <a:t>Подготовить отчеты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7896C3-7679-4657-9A41-0B87E211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7339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JSON, HTML, CSV и импорт данных в Ghidra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EC231-CD63-43DA-9D2E-880AF398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619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D77C3A-9244-48DE-9D07-91AA9EAC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7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7E98C-A4DE-42EE-90EB-C75D1B64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CA056B-1438-48B4-94E8-E8004081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3800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866A"/>
                </a:solidFill>
              </a:defRPr>
            </a:pPr>
            <a:r>
              <a:rPr sz="1500" b="1">
                <a:solidFill>
                  <a:srgbClr val="27866A"/>
                </a:solidFill>
              </a:rPr>
              <a:t>Проверить корректность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25F3F-EA0F-478B-970A-A819387E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33925"/>
            <a:ext cx="3800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тесты, учебные примеры и реальные PE-файлы</a:t>
            </a:r>
          </a:p>
        </p:txBody>
      </p:sp>
    </p:spTree>
    <p:extLst>
      <p:ext uri="{BB962C8B-B14F-4D97-AF65-F5344CB8AC3E}">
        <p14:creationId xmlns:p14="http://schemas.microsoft.com/office/powerpoint/2010/main" val="745835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5CE30-5071-4D47-943F-B526635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D2D99-570D-4E67-972F-A3E4848A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Из каких блоков состоит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FF79A-CFDC-4E9E-B764-7044C5E5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BDFA0-750F-4006-BF3C-68CE9C8E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DBC3D-76F2-4657-9D65-09357BE6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BB1EB-1997-4CF5-8547-7D15704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44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Проект не сводится к одному парсеру. Он состоит из четырех связанных блоков, которые последовательно превращают файл в проверяемый аналитический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F1570-D509-4E80-8837-45BEAF8E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F143-CB3A-4191-9185-D690730E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DB5D5-8F55-4F1F-AD31-1420AB34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86025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A9B3"/>
                </a:solidFill>
              </a:defRPr>
            </a:pPr>
            <a:r>
              <a:rPr sz="1800" b="1">
                <a:solidFill>
                  <a:srgbClr val="15A9B3"/>
                </a:solidFill>
              </a:rPr>
              <a:t>1. Парсинг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B3CEC-A154-48F8-89CC-B6CB654F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21050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231"/>
                </a:solidFill>
              </a:defRPr>
            </a:pPr>
            <a:r>
              <a:rPr sz="1425">
                <a:solidFill>
                  <a:srgbClr val="172231"/>
                </a:solidFill>
              </a:rPr>
              <a:t>безопасно читает PE-файл, секции, таблицу функций и структуры UNWIND_INFO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8116A-8494-4299-806E-FCAE0F29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9C6F0-925C-4F4D-8287-45A766B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7C1A0-597B-4842-9D59-41E05AF2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6025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2. Статический анализ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5636F-07D1-43C9-80DB-7A6C62DF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76575"/>
            <a:ext cx="21050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231"/>
                </a:solidFill>
              </a:defRPr>
            </a:pPr>
            <a:r>
              <a:rPr sz="1425">
                <a:solidFill>
                  <a:srgbClr val="172231"/>
                </a:solidFill>
              </a:rPr>
              <a:t>проверяет повреждения, границы, секции, обработчики и подозрительные закономерности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94F86-E3C2-444A-9714-FF8EF32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A86F6-B0E2-4E8A-BACB-8670022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ADAD5-23EE-4A18-876F-8FB0D1ED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86025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7A24"/>
                </a:solidFill>
              </a:defRPr>
            </a:pPr>
            <a:r>
              <a:rPr sz="1800" b="1">
                <a:solidFill>
                  <a:srgbClr val="C07A24"/>
                </a:solidFill>
              </a:rPr>
              <a:t>3. Динамический анализ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4D2E4-DED4-47B6-AA52-6DA1507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76575"/>
            <a:ext cx="21050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231"/>
                </a:solidFill>
              </a:defRPr>
            </a:pPr>
            <a:r>
              <a:rPr sz="1425">
                <a:solidFill>
                  <a:srgbClr val="172231"/>
                </a:solidFill>
              </a:rPr>
              <a:t>запускает цель под отладчиком Windows и собирает события исключений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4456-6AA2-4C42-87BB-056FFCB2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428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84E6F-D14C-4B56-92F6-B23A76C9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8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C44BA-D62A-4E56-ACE6-6BF39BC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86025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4. Отчеты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737CB-348D-4170-8C57-CDEF457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76575"/>
            <a:ext cx="21050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231"/>
                </a:solidFill>
              </a:defRPr>
            </a:pPr>
            <a:r>
              <a:rPr sz="1425">
                <a:solidFill>
                  <a:srgbClr val="172231"/>
                </a:solidFill>
              </a:rPr>
              <a:t>формирует понятный вывод для человека и машинно-читаемые файлы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403D0-7831-4BB2-97E7-54E3C094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781"/>
                </a:solidFill>
              </a:defRPr>
            </a:pPr>
            <a:r>
              <a:rPr sz="1650" b="1">
                <a:solidFill>
                  <a:srgbClr val="087781"/>
                </a:solidFill>
              </a:rPr>
              <a:t>Такое разделение помогает объяснить проект комиссии: сначала читаем файл, потом оцениваем структуру, затем при необходимости проверяем выполнение и сохраняем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437047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3E6D7F-B280-4830-B47E-7F442A30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8AC3D-158C-4983-8B7D-35E5472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Требования к системе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2191F-9141-4350-8B66-32E9E6F4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97A0F-54ED-489E-808C-2B271D7F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43EFD-B8F1-48F7-AAB5-B18FB4A7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4ED7D-00AB-4088-ADFD-AE4F174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Основное требование - анализировать недоверенные PE-файлы так, чтобы вывод был воспроизводимым и пригодным для проверки вручную.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3878D-EF85-401C-B26D-EB9E93B9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19A03-FFEB-46ED-8E27-3EFF5105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D57BE-37FB-4F4B-AE97-12E0FA4F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A9B3"/>
                </a:solidFill>
              </a:defRPr>
            </a:pPr>
            <a:r>
              <a:rPr sz="1800" b="1">
                <a:solidFill>
                  <a:srgbClr val="15A9B3"/>
                </a:solidFill>
              </a:rPr>
              <a:t>Безопасность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2AF94-8255-41C7-A4A4-6AE2B3F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статический режим не запускает исследуемый файл; все чтение идет с проверкой границ и размеров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A8404-F20F-41DC-A5C0-FE751A0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4CF98-26F2-47E3-8211-51273F5C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0E9CE-168C-4531-B40A-2C550583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Корректность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5F142-18E3-4DFF-80BF-50880972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33700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ошибка парсинга не скрывается: в отчет записывается точная причина и место проблемы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B3920-EBD3-449D-B08E-D7E10466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9A87F-C352-4003-B019-C6E1C302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2D29E-D9A0-46B0-9804-DEEC5D6A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7A24"/>
                </a:solidFill>
              </a:defRPr>
            </a:pPr>
            <a:r>
              <a:rPr sz="1800" b="1">
                <a:solidFill>
                  <a:srgbClr val="C07A24"/>
                </a:solidFill>
              </a:rPr>
              <a:t>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586A4-15FA-4681-BE44-2088167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33700"/>
            <a:ext cx="2819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статический режим читает PE-файл без запуска; динамический режим работает только на Windows x64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3D9AE-9CCF-4BE0-AA8E-B88EA9C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2B2B"/>
                </a:solidFill>
              </a:defRPr>
            </a:pPr>
            <a:r>
              <a:rPr sz="1650" b="1">
                <a:solidFill>
                  <a:srgbClr val="9B2B2B"/>
                </a:solidFill>
              </a:rPr>
              <a:t>Важно: динамический анализ исполняет файл, поэтому для неизвестных образцов нужна изолированная виртуальная машина.</a:t>
            </a:r>
          </a:p>
        </p:txBody>
      </p:sp>
    </p:spTree>
    <p:extLst>
      <p:ext uri="{BB962C8B-B14F-4D97-AF65-F5344CB8AC3E}">
        <p14:creationId xmlns:p14="http://schemas.microsoft.com/office/powerpoint/2010/main" val="19597523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602257-4D5B-4D22-A593-BFBFE0D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30A7-06D4-46B6-B115-05C9DD7F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Что подается на 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9666-0E87-4BCA-AF84-0BA89BB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FE272-1000-49BD-891B-6500468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CF99D-746C-4759-9E9A-8E25F44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F28EE-BD65-476A-A637-A544047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На вход подается Windows PE-файл. Инструмент сам извлекает из него нужные структуры, а пользователь выбирает режим анализа и формат отчета.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2AD4E-E9A8-427E-A955-280EDFEF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3190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CAC7-8C5E-461B-ACDE-5747F9BA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38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D7AAF-3C44-4819-B4FF-9A17D232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C9AF9-A6B2-4091-9B98-CBE3D97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52675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A9B3"/>
                </a:solidFill>
              </a:defRPr>
            </a:pPr>
            <a:r>
              <a:rPr sz="1575" b="1">
                <a:solidFill>
                  <a:srgbClr val="15A9B3"/>
                </a:solidFill>
              </a:rPr>
              <a:t>PE-файл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7D12B-A2EA-43D8-9185-96DC0457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241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исполняемый файл Windows для AMD64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39FC0-FDDC-41B3-A069-88C0AC77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3190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A980B-A92E-49E6-9B91-D474129E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38375"/>
            <a:ext cx="438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B0A8B-9410-42B1-A500-C188671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BA725-EDFC-4FED-8A9A-0DD336C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7866A"/>
                </a:solidFill>
              </a:defRPr>
            </a:pPr>
            <a:r>
              <a:rPr sz="1575" b="1">
                <a:solidFill>
                  <a:srgbClr val="27866A"/>
                </a:solidFill>
              </a:rPr>
              <a:t>Режим анализа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B2F9-C649-4BFD-8D29-A32DFDF7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241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статический, динамический, эвристики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D90CC-C860-4D0E-81FF-0755389D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38375"/>
            <a:ext cx="3190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EA349-7209-4E32-AF66-E7AADBC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38375"/>
            <a:ext cx="438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8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6A361-FBFB-43B4-B9D9-C812262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0982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79463-A0A0-4EC8-A9B0-E3B68A93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52675"/>
            <a:ext cx="2409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781"/>
                </a:solidFill>
              </a:defRPr>
            </a:pPr>
            <a:r>
              <a:rPr sz="1575" b="1">
                <a:solidFill>
                  <a:srgbClr val="087781"/>
                </a:solidFill>
              </a:rPr>
              <a:t>Формат отчета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9D510-F0D4-40CB-B121-F84B99D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24175"/>
            <a:ext cx="2409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231"/>
                </a:solidFill>
              </a:defRPr>
            </a:pPr>
            <a:r>
              <a:rPr sz="1275">
                <a:solidFill>
                  <a:srgbClr val="172231"/>
                </a:solidFill>
              </a:rPr>
              <a:t>HTML для чтения, JSON/CSV для обработки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1FADF-F58B-4D92-AE38-4AF6F5F1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DA1CC-1B72-4EAD-BE09-AE766E3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BD073-520A-4820-A150-08230FAC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A9B3"/>
                </a:solidFill>
              </a:defRPr>
            </a:pPr>
            <a:r>
              <a:rPr sz="1500" b="1">
                <a:solidFill>
                  <a:srgbClr val="15A9B3"/>
                </a:solidFill>
              </a:rPr>
              <a:t>Пример статического запуска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76D9F-AA0E-43D0-8596-651DD6F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958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analyzer.exe file.exe --json report.json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96011-8880-4D9D-9462-1580765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38725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A73"/>
                </a:solidFill>
              </a:defRPr>
            </a:pPr>
            <a:r>
              <a:rPr sz="1275">
                <a:solidFill>
                  <a:srgbClr val="5C6A73"/>
                </a:solidFill>
              </a:rPr>
              <a:t>Файл не запускается, строится JSON-отчет.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ADF832-9E3F-40EC-9550-F37931F8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57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D01F87-9FD3-4C6E-8120-D2C06F09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06302-D658-486C-86DE-0E6B6AD7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71975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07A24"/>
                </a:solidFill>
              </a:defRPr>
            </a:pPr>
            <a:r>
              <a:rPr sz="1500" b="1">
                <a:solidFill>
                  <a:srgbClr val="C07A24"/>
                </a:solidFill>
              </a:rPr>
              <a:t>Пример динамического запуска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65648-8943-46CB-853A-07230F9F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231"/>
                </a:solidFill>
              </a:defRPr>
            </a:pPr>
            <a:r>
              <a:rPr sz="1200">
                <a:solidFill>
                  <a:srgbClr val="172231"/>
                </a:solidFill>
              </a:rPr>
              <a:t>analyzer.exe file.exe --dynamic --html report.html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DA0305-7C5F-4A79-A022-8072E1B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38725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6A73"/>
                </a:solidFill>
              </a:defRPr>
            </a:pPr>
            <a:r>
              <a:rPr sz="1275">
                <a:solidFill>
                  <a:srgbClr val="5C6A73"/>
                </a:solidFill>
              </a:rPr>
              <a:t>Файл выполняется под отладчиком Windows, строится HTML-отчет.</a:t>
            </a:r>
          </a:p>
        </p:txBody>
      </p:sp>
    </p:spTree>
    <p:extLst>
      <p:ext uri="{BB962C8B-B14F-4D97-AF65-F5344CB8AC3E}">
        <p14:creationId xmlns:p14="http://schemas.microsoft.com/office/powerpoint/2010/main" val="5529307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7A120C-BC7E-40BF-A778-AF6EBBC2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F9EF1-4A05-4DA5-A45A-B5F23B5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Блок 1: парсинг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EBF9C-099D-43E3-BF4C-DCB8E5B5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062F3-E488-4683-9079-51321C5C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BDFEE-7DB7-401B-A65A-5B06D54F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65AA5-6A7C-472F-801A-380BC56B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Парсинг - это чтение бинарного файла как набора строго описанных структур. Здесь важно не только найти поля, но и проверить, что они не выходят за допустимые границы.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B17CF-765B-4EAF-A5F9-A6CC969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9A406-478D-4DCF-B68E-2D208AD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28C7E-F48C-41DE-AC98-3B9B791B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A9B3"/>
                </a:solidFill>
              </a:defRPr>
            </a:pPr>
            <a:r>
              <a:rPr sz="1800" b="1">
                <a:solidFill>
                  <a:srgbClr val="15A9B3"/>
                </a:solidFill>
              </a:rPr>
              <a:t>PE-структура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37B09-194D-4117-8407-FC59B05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28950"/>
            <a:ext cx="2819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проверяются заголовки, тип архитектуры, размеры образа и таблица секций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7A385-EF89-4344-A7F7-CCCCD2C8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A8ADA-304D-440C-9757-2542791A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25BA3-02B2-4A8B-9512-6DC5997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Таблица функций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F8A8F-EE22-4BEC-B1CD-79468816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28950"/>
            <a:ext cx="2819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из .pdata читаются записи RUNTIME_FUNCTION: начало, конец и ссылка на данные раскрутки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221D0-DA0E-4F27-9FA2-A917EF75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EDE2D-4328-4C34-8B8A-EC86686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8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A6009-B5D8-43F1-89B6-ED9464E8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Данные раскрутки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5C70B-B2EF-4C71-AAD3-7CFDD5B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2819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из UNWIND_INFO извлекаются операции восстановления стека, обработчики и цепочки записей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D5640-C9AD-40B3-86EB-F18C5F82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197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781"/>
                </a:solidFill>
              </a:defRPr>
            </a:pPr>
            <a:r>
              <a:rPr sz="1725" b="1">
                <a:solidFill>
                  <a:srgbClr val="087781"/>
                </a:solidFill>
              </a:rPr>
              <a:t>Результат блока - структурированная модель файла, на которой дальше работает статический анализ.</a:t>
            </a:r>
          </a:p>
        </p:txBody>
      </p:sp>
    </p:spTree>
    <p:extLst>
      <p:ext uri="{BB962C8B-B14F-4D97-AF65-F5344CB8AC3E}">
        <p14:creationId xmlns:p14="http://schemas.microsoft.com/office/powerpoint/2010/main" val="1067711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851769-FD66-4FE8-AFDF-5AA03E31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5BDBF-9649-4574-B189-238A716B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Блок 2: статический 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0043C-90F1-4E73-B7AA-D7417E3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50949-BF4E-4BAD-B6F7-E070002E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BB5DF-1641-4766-BB45-EE0B2114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33E4E-BDD3-4B40-A7D5-01DC8D58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Статический анализ ищет признаки, которые можно увидеть без запуска файла: поврежденные диапазоны, выходы за границы, нетипичные секции и подозрительное переиспользование метаданных.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000125" y="2238375"/>
          <a:ext xmlns:a="http://schemas.openxmlformats.org/drawingml/2006/main" cx="101917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02731"/>
                <a:gridCol w="3567113"/>
                <a:gridCol w="3821906"/>
              </a:tblGrid>
              <a:tr h="5143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Группа признаков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проверяется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Почему важно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Целостность таблицы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диапазоны функций, сортировка, пересечения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ошибка меняет карту функций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Целостность UNWIND_INFO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версия, флаги, операции, tail-часть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ошибка ломает восстановление стека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Размещение метаданных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исполняемые, writable или необычные секции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может указывать на защиту или модификацию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Повторное использование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один блок данных или обработчик на много функций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похоже на схему упаковщика или защиты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2CF86-6C5F-4554-A497-94F417F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07A24"/>
                </a:solidFill>
              </a:defRPr>
            </a:pPr>
            <a:r>
              <a:rPr sz="1800" b="1">
                <a:solidFill>
                  <a:srgbClr val="C07A24"/>
                </a:solidFill>
              </a:rPr>
              <a:t>Оценка подозрительности - это подсказка для первичного отбора, а не доказательство вредоносности.</a:t>
            </a:r>
          </a:p>
        </p:txBody>
      </p:sp>
    </p:spTree>
    <p:extLst>
      <p:ext uri="{BB962C8B-B14F-4D97-AF65-F5344CB8AC3E}">
        <p14:creationId xmlns:p14="http://schemas.microsoft.com/office/powerpoint/2010/main" val="1386846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AA859-6F6D-46A0-AC96-7651972E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D7659-85C0-49A3-8CB9-6B4A05F8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Блок 3: динамический 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E7DA0-8624-409E-9EB9-1D1655F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00B82-3957-4F9A-A9EB-1BCBFCA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0C7D7-F29F-4FE8-B7CD-F01956C5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D573-8AC8-4631-B27F-4EC32B6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Динамический режим нужен, чтобы увидеть, какие механизмы исключений действительно срабатывают при выполнении. Этот режим работает только на Windows x64.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B1967-E39B-43A9-8ACE-85A56B5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372-372F-4E1D-9A7F-426750CB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5333B-A384-4052-829D-300DB0D2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90775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A9B3"/>
                </a:solidFill>
              </a:defRPr>
            </a:pPr>
            <a:r>
              <a:rPr sz="1800" b="1">
                <a:solidFill>
                  <a:srgbClr val="15A9B3"/>
                </a:solidFill>
              </a:rPr>
              <a:t>Что наблюдается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48144-6967-4A64-A7FA-495DD4C7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81325"/>
            <a:ext cx="26765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исключения, обработчики, регистрация VEH/VCH/UEF, таблицы функций времени выполнения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BE81B-C0B6-4B22-A42E-B68BCF27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D928A-E445-4F8D-929E-3FE87AB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3837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25F80-93F5-4CC4-B315-7A26D3D5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90775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Как собирается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73993-99D6-4738-BDDC-662A5F04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81325"/>
            <a:ext cx="26765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цель запускается через отладочный API Windows, события записываются в хронологический журнал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3D2A5-144D-4E13-AA35-3038F52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38375"/>
            <a:ext cx="30003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3F2EA-A936-49AD-BF3E-5E58517E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3837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BAC76-5993-46A2-887C-BDD43D8C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90775"/>
            <a:ext cx="2676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7A24"/>
                </a:solidFill>
              </a:defRPr>
            </a:pPr>
            <a:r>
              <a:rPr sz="1800" b="1">
                <a:solidFill>
                  <a:srgbClr val="C07A24"/>
                </a:solidFill>
              </a:rPr>
              <a:t>Как не ошибиться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F1EF3-F5E4-451D-9688-CA51DE21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81325"/>
            <a:ext cx="26765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таймауты, неполные запуски и недоступные DLL фиксируются как отдельные состояния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446CC-0D45-4867-A689-24F87765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95875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781"/>
                </a:solidFill>
              </a:defRPr>
            </a:pPr>
            <a:r>
              <a:rPr sz="1650" b="1">
                <a:solidFill>
                  <a:srgbClr val="087781"/>
                </a:solidFill>
              </a:rPr>
              <a:t>Динамика не заменяет статический анализ, а дополняет его: если статический признак подтверждается поведением во время выполнения, вывод становится сильнее.</a:t>
            </a:r>
          </a:p>
        </p:txBody>
      </p:sp>
    </p:spTree>
    <p:extLst>
      <p:ext uri="{BB962C8B-B14F-4D97-AF65-F5344CB8AC3E}">
        <p14:creationId xmlns:p14="http://schemas.microsoft.com/office/powerpoint/2010/main" val="19925875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FDF0C-1286-4096-9CBA-FAFD5070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738EF-29F5-42C8-9DB6-D1C74E3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Блок 4: отчеты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2489C-B240-419C-8C93-9E85D448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7A961-7324-4C7D-8BBF-A5145587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1C680-E538-40F3-975C-51F7E53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C5110-62B6-4682-B5C7-BED3A4A8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Отчет нужен двум аудиториям: человеку, который читает вывод, и автоматической системе, которая хранит и сравнивает результаты.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000125" y="2143125"/>
          <a:ext xmlns:a="http://schemas.openxmlformats.org/drawingml/2006/main" cx="10144125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2428"/>
                <a:gridCol w="4311253"/>
                <a:gridCol w="3550444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Формат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Для чего нужен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Кто использует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HTML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открыть отчет как понятную страницу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аналитик на защите или в лаборатории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хранить полный результат по схеме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автоматизация, CI, серверная обработка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быстро сравнивать функции в таблице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аналитик, скрипты обработки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Ghidra 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перенести диапазоны и комментарии в Ghidra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специалист по обратной разработке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4FE00-624E-47EB-9C46-4507478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Главная идея: отчет должен объяснять, где найден признак, почему он важен и что проверить вручную.</a:t>
            </a:r>
          </a:p>
        </p:txBody>
      </p:sp>
    </p:spTree>
    <p:extLst>
      <p:ext uri="{BB962C8B-B14F-4D97-AF65-F5344CB8AC3E}">
        <p14:creationId xmlns:p14="http://schemas.microsoft.com/office/powerpoint/2010/main" val="1278685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AD0677-A2A1-49D5-8032-7BE0EABD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A0559-DFF8-4CB3-AEDC-E5C04F3D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Как устроен проект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6BD0-F275-4155-9D76-5A24DF2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D0CD9-679B-43A1-B0B1-FE5A3190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80BA4-2627-4C22-882F-BB3EE2B3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0F82E-1CBC-4C07-8D7C-A243D9F1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Внутри это последовательный конвейер. Каждый модуль получает результат предыдущего шага и добавляет свой слой информации.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0C2D7-2C02-4776-856A-7212F010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8826E-64B6-412D-A896-4417226F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27746-E969-4AB5-ACA7-2E8FD289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62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231"/>
                </a:solidFill>
              </a:defRPr>
            </a:pPr>
            <a:r>
              <a:rPr sz="1800" b="1">
                <a:solidFill>
                  <a:srgbClr val="172231"/>
                </a:solidFill>
              </a:rPr>
              <a:t>PE-парсер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1026E-3C50-4529-B844-5AA4D1C6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A73"/>
                </a:solidFill>
              </a:defRPr>
            </a:pPr>
            <a:r>
              <a:rPr sz="1500">
                <a:solidFill>
                  <a:srgbClr val="5C6A73"/>
                </a:solidFill>
              </a:rPr>
              <a:t>читает файл и строит карту секций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40D28-0F1E-4A00-8ACA-04613263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A4B14-7026-4E3F-9B8E-6B4C318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52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F6343-7936-456C-8C08-3B8CF9AA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76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231"/>
                </a:solidFill>
              </a:defRPr>
            </a:pPr>
            <a:r>
              <a:rPr sz="1800" b="1">
                <a:solidFill>
                  <a:srgbClr val="172231"/>
                </a:solidFill>
              </a:rPr>
              <a:t>Unwind-декодер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C567B-C08D-403D-958A-25DC63E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A73"/>
                </a:solidFill>
              </a:defRPr>
            </a:pPr>
            <a:r>
              <a:rPr sz="1500">
                <a:solidFill>
                  <a:srgbClr val="5C6A73"/>
                </a:solidFill>
              </a:rPr>
              <a:t>извлекает функции, операции раскрутки и обработчики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B5A90-382E-4688-96B1-5433A4B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C5880E-E20C-4252-AFAE-77D8A84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C9847-8831-42E9-802C-BC72EFB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90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231"/>
                </a:solidFill>
              </a:defRPr>
            </a:pPr>
            <a:r>
              <a:rPr sz="1800" b="1">
                <a:solidFill>
                  <a:srgbClr val="172231"/>
                </a:solidFill>
              </a:rPr>
              <a:t>Статическая оценка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C5D63-7228-4855-B19B-6F0365CC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A73"/>
                </a:solidFill>
              </a:defRPr>
            </a:pPr>
            <a:r>
              <a:rPr sz="1500">
                <a:solidFill>
                  <a:srgbClr val="5C6A73"/>
                </a:solidFill>
              </a:rPr>
              <a:t>формирует признаки, серьезность и пояснения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461EA-BD8A-4BAC-A525-F6A7CB8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3C9A5-647D-41E9-9A54-F492D33B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10089-FEAA-4D44-918E-B5BE2F3F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05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231"/>
                </a:solidFill>
              </a:defRPr>
            </a:pPr>
            <a:r>
              <a:rPr sz="1800" b="1">
                <a:solidFill>
                  <a:srgbClr val="172231"/>
                </a:solidFill>
              </a:rPr>
              <a:t>Динамический сбор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3DC5D-6728-4AB6-B40F-0C9042D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A73"/>
                </a:solidFill>
              </a:defRPr>
            </a:pPr>
            <a:r>
              <a:rPr sz="1500">
                <a:solidFill>
                  <a:srgbClr val="5C6A73"/>
                </a:solidFill>
              </a:rPr>
              <a:t>при необходимости наблюдает выполнение в Windows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3B0BC-E6A8-44C1-BEB1-CF177A8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552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70E62-9F71-4600-896E-AB206413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C80EBB-AD47-497F-8B07-580DC16B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19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231"/>
                </a:solidFill>
              </a:defRPr>
            </a:pPr>
            <a:r>
              <a:rPr sz="1800" b="1">
                <a:solidFill>
                  <a:srgbClr val="172231"/>
                </a:solidFill>
              </a:rPr>
              <a:t>Генератор отчетов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B22FF-F6E0-400D-9C49-FCEDE1F1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482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C6A73"/>
                </a:solidFill>
              </a:defRPr>
            </a:pPr>
            <a:r>
              <a:rPr sz="1500">
                <a:solidFill>
                  <a:srgbClr val="5C6A73"/>
                </a:solidFill>
              </a:rPr>
              <a:t>выводит HTML, JSON, CSV и Ghidra 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4A5F62-C7E6-4180-8CD7-089DFC2A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781"/>
                </a:solidFill>
              </a:defRPr>
            </a:pPr>
            <a:r>
              <a:rPr sz="1575" b="1">
                <a:solidFill>
                  <a:srgbClr val="087781"/>
                </a:solidFill>
              </a:rPr>
              <a:t>Такую схему легко расширять: новый признак добавляется в блок анализа, а новый формат вывода - в блок отчетов.</a:t>
            </a:r>
          </a:p>
        </p:txBody>
      </p:sp>
    </p:spTree>
    <p:extLst>
      <p:ext uri="{BB962C8B-B14F-4D97-AF65-F5344CB8AC3E}">
        <p14:creationId xmlns:p14="http://schemas.microsoft.com/office/powerpoint/2010/main" val="2392620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357CE-9F2A-4B74-9FC9-ECD0C20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1568B-97E2-4B55-930E-4122156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  <a:latin typeface="Aptos"/>
              </a:rPr>
              <a:t>Конкурентный анализ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AD6F4-1D7A-48E6-94CE-7ECD1E84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93CE-C320-4513-9306-B455E8B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160D6-F81A-47A4-B820-32E5184B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05518-FB4A-47F1-AF09-B8FDF906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231"/>
                </a:solidFill>
              </a:defRPr>
            </a:pPr>
            <a:r>
              <a:rPr sz="1650" b="0">
                <a:solidFill>
                  <a:srgbClr val="172231"/>
                </a:solidFill>
                <a:latin typeface="Aptos"/>
              </a:rPr>
              <a:t>Сравнение проведено по роли инструмента: что он реально делает, где силен и почему не закрывает узкую задачу автоматического анализа EH/Unwind-метаданных.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2839E-3143-4B2E-B94B-42A5609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781"/>
                </a:solidFill>
              </a:defRPr>
            </a:pPr>
            <a:r>
              <a:rPr sz="1530" b="1">
                <a:solidFill>
                  <a:srgbClr val="087781"/>
                </a:solidFill>
                <a:latin typeface="Aptos"/>
              </a:rPr>
              <a:t>Вывод: проект не заменяет универсальные платформы реверса; он подготавливает воспроизводимые факты по .pdata/.xdata, которые затем можно проверять в Ghidra, IDA, Binary Ninja или отладчике.</a:t>
            </a:r>
          </a:p>
        </p:txBody>
      </p:sp>
      <p:graphicFrame xmlns:a="http://schemas.openxmlformats.org/drawingml/2006/main"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847088"/>
          <a:ext cx="108356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788920"/>
                <a:gridCol w="3063240"/>
                <a:gridCol w="2560320"/>
              </a:tblGrid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Инструменты</a:t>
                      </a:r>
                    </a:p>
                  </a:txBody>
                  <a:tcPr anchor="ctr" marL="73152" marR="54864" marT="36576" marB="36576">
                    <a:solidFill>
                      <a:srgbClr val="0877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Сильная сторона</a:t>
                      </a:r>
                    </a:p>
                  </a:txBody>
                  <a:tcPr anchor="ctr" marL="73152" marR="54864" marT="36576" marB="36576">
                    <a:solidFill>
                      <a:srgbClr val="0877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Чего не хватает</a:t>
                      </a:r>
                    </a:p>
                  </a:txBody>
                  <a:tcPr anchor="ctr" marL="73152" marR="54864" marT="36576" marB="36576">
                    <a:solidFill>
                      <a:srgbClr val="0877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Роль проекта</a:t>
                      </a:r>
                    </a:p>
                  </a:txBody>
                  <a:tcPr anchor="ctr" marL="73152" marR="54864" marT="36576" marB="36576">
                    <a:solidFill>
                      <a:srgbClr val="08778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2231"/>
                          </a:solidFill>
                          <a:latin typeface="Aptos"/>
                        </a:rPr>
                        <a:t>IDA / Ghidra / Binary Ninja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ручной реверс, декомпиляция, графы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нет готового EH/Unwind-отчета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готовит факты и CSV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2231"/>
                          </a:solidFill>
                          <a:latin typeface="Aptos"/>
                        </a:rPr>
                        <a:t>radare2 / RetDec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скрипты, декомпиляция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проверку .pdata/.xdata надо писать отдельно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дает готовый конвейер PE32+ AMD64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2231"/>
                          </a:solidFill>
                          <a:latin typeface="Aptos"/>
                        </a:rPr>
                        <a:t>capa / PE-просмотрщики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triage и просмотр полей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не связывают функции, UNWIND_INFO и секции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дает адрес, секцию и причину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2231"/>
                          </a:solidFill>
                          <a:latin typeface="Aptos"/>
                        </a:rPr>
                        <a:t>x64dbg / WinDbg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исключения во время выполнения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динамика зависит от сценария запуска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сочетает статику и отдельную динамику</a:t>
                      </a:r>
                    </a:p>
                  </a:txBody>
                  <a:tcPr anchor="ctr" marL="73152" marR="54864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019" b="1">
                          <a:solidFill>
                            <a:srgbClr val="172231"/>
                          </a:solidFill>
                          <a:latin typeface="Aptos"/>
                        </a:rPr>
                        <a:t>EH/Unwind Analyzer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узкая проверяемая специализация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не заменяет универсальные среды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19" b="0">
                          <a:solidFill>
                            <a:srgbClr val="172231"/>
                          </a:solidFill>
                          <a:latin typeface="Aptos"/>
                        </a:rPr>
                        <a:t>закрывает парсинг, статику, динамику и отчеты</a:t>
                      </a:r>
                    </a:p>
                  </a:txBody>
                  <a:tcPr anchor="ctr" marL="73152" marR="54864" marT="36576" marB="36576">
                    <a:solidFill>
                      <a:srgbClr val="E9F7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873141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493776"/>
            <a:ext cx="137160" cy="420624"/>
          </a:xfrm>
          <a:prstGeom prst="rect">
            <a:avLst/>
          </a:prstGeom>
          <a:solidFill>
            <a:srgbClr val="15A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38912"/>
            <a:ext cx="982980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700" b="1">
                <a:solidFill>
                  <a:srgbClr val="172231"/>
                </a:solidFill>
                <a:latin typeface="Aptos"/>
              </a:rPr>
              <a:t>Почему нейросети не заменяют проект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060704"/>
            <a:ext cx="9902952" cy="18288"/>
          </a:xfrm>
          <a:prstGeom prst="rect">
            <a:avLst/>
          </a:prstGeom>
          <a:solidFill>
            <a:srgbClr val="9C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272784"/>
            <a:ext cx="246888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6A6AD"/>
                </a:solidFill>
                <a:latin typeface="Aptos"/>
              </a:rPr>
              <a:t>EH/Unwind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117336"/>
            <a:ext cx="429768" cy="32918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900" b="1">
                <a:solidFill>
                  <a:srgbClr val="087781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234440"/>
            <a:ext cx="10378440" cy="530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20" b="0">
                <a:solidFill>
                  <a:srgbClr val="172231"/>
                </a:solidFill>
                <a:latin typeface="Aptos"/>
              </a:rPr>
              <a:t>ReCopilot и другие LLM-инструменты полезны как помощники аналитика, но для защиты и инженерной проверки первичный результат должен быть детерминированным и повторяемым.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993392"/>
            <a:ext cx="3063240" cy="2148840"/>
          </a:xfrm>
          <a:prstGeom prst="roundRect">
            <a:avLst/>
          </a:prstGeom>
          <a:solidFill>
            <a:srgbClr val="E9F7F8"/>
          </a:solidFill>
          <a:ln w="12700">
            <a:solidFill>
              <a:srgbClr val="9C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76272"/>
            <a:ext cx="27432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50" b="1">
                <a:solidFill>
                  <a:srgbClr val="087781"/>
                </a:solidFill>
                <a:latin typeface="Aptos"/>
              </a:rPr>
              <a:t>Что умеет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679192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30" b="0">
                <a:solidFill>
                  <a:srgbClr val="172231"/>
                </a:solidFill>
                <a:latin typeface="Aptos"/>
              </a:rPr>
              <a:t>объясняет псевдокод; предлагает имена функций и типов; ускоряет чтение сложных фрагментов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993392"/>
            <a:ext cx="3063240" cy="2148840"/>
          </a:xfrm>
          <a:prstGeom prst="roundRect">
            <a:avLst/>
          </a:prstGeom>
          <a:solidFill>
            <a:srgbClr val="E9F7F8"/>
          </a:solidFill>
          <a:ln w="12700">
            <a:solidFill>
              <a:srgbClr val="9C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176272"/>
            <a:ext cx="27432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50" b="1">
                <a:solidFill>
                  <a:srgbClr val="087781"/>
                </a:solidFill>
                <a:latin typeface="Aptos"/>
              </a:rPr>
              <a:t>Почему этого мало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679192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30" b="0">
                <a:solidFill>
                  <a:srgbClr val="172231"/>
                </a:solidFill>
                <a:latin typeface="Aptos"/>
              </a:rPr>
              <a:t>вывод вероятностный; качество зависит от исходного представления и полноты контекста; нужен контроль ошибок и ручная проверка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7536" y="1993392"/>
            <a:ext cx="3063240" cy="2148840"/>
          </a:xfrm>
          <a:prstGeom prst="roundRect">
            <a:avLst/>
          </a:prstGeom>
          <a:solidFill>
            <a:srgbClr val="E6F5F0"/>
          </a:solidFill>
          <a:ln w="12700">
            <a:solidFill>
              <a:srgbClr val="9C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8" y="2176272"/>
            <a:ext cx="2743200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50" b="1">
                <a:solidFill>
                  <a:srgbClr val="087781"/>
                </a:solidFill>
                <a:latin typeface="Aptos"/>
              </a:rPr>
              <a:t>Что дает проект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679192"/>
            <a:ext cx="274320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30" b="0">
                <a:solidFill>
                  <a:srgbClr val="172231"/>
                </a:solidFill>
                <a:latin typeface="Aptos"/>
              </a:rPr>
              <a:t>читает байты PE; указывает RVA, секции и структуры; формирует JSON/HTML/CSV с причинами срабатываний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663440"/>
            <a:ext cx="10378440" cy="658368"/>
          </a:xfrm>
          <a:prstGeom prst="rect">
            <a:avLst/>
          </a:prstGeom>
          <a:solidFill>
            <a:srgbClr val="F3F7F8"/>
          </a:solidFill>
          <a:ln w="12700">
            <a:solidFill>
              <a:srgbClr val="9C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100126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530" b="1">
                <a:solidFill>
                  <a:srgbClr val="087781"/>
                </a:solidFill>
                <a:latin typeface="Aptos"/>
              </a:rPr>
              <a:t>Правильная связка: анализатор формирует факты -&gt; LLM помогает объяснить отчет -&gt; специалист принимает итоговое решение.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FED6E6-4050-4228-879A-AAE200DD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84D3A-A8F9-4E49-B431-4A01B41F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Проверка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1BC4F-07FD-4789-942F-D4563809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9215E-365D-4BF1-809C-5ABA17A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60BCD-3207-405A-A135-0B8CA64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46E69-AEA3-4AC2-BD3F-D5A28F7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Проверка построена на нескольких уровнях: модульные тесты, учебные PE-файлы с известными аномалиями, реальные обычные PE-файлы и динамические сценарии Windows.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238250" y="2190750"/>
          <a:ext xmlns:a="http://schemas.openxmlformats.org/drawingml/2006/main" cx="9715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82264"/>
                <a:gridCol w="2231939"/>
                <a:gridCol w="4201297"/>
              </a:tblGrid>
              <a:tr h="4762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проверялось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Что это подтверждает</a:t>
                      </a:r>
                    </a:p>
                  </a:txBody>
                  <a:tcPr marL="91440" marR="91440" marT="45720" marB="45720">
                    <a:solidFill>
                      <a:srgbClr val="15A9B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Сборка MinGW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16 из 16 тестов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код собирается и проходит тесты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Сборка MSVC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16 из 16 тестов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нет зависимости от одного компилятора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Учебные PE-файлы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14 из 14 отчетов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известные аномалии находятся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Обычные безопасные PE-файлы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106 из 106 отчетов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эвристики не шумят на проверенном наборе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Динамические сценарии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124 из 124 отчетов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231"/>
                          </a:solidFill>
                        </a:rPr>
                        <a:t>события выполнения записываются корректно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E27E9-02AB-4C45-947C-9071DCE4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866A"/>
                </a:solidFill>
              </a:defRPr>
            </a:pPr>
            <a:r>
              <a:rPr sz="1725" b="1">
                <a:solidFill>
                  <a:srgbClr val="27866A"/>
                </a:solidFill>
              </a:rPr>
              <a:t>Важный результат: неожиданных динамических сбоев и потерянных событий в проверочном наборе не зафиксировано.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5732170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DDAC1-9395-4C7D-8F7F-513B3564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9A9A-14B0-413A-88E8-F101FD0B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Полученные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0C7A4-F172-48B6-AB16-9913066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255FE-C320-4767-B77B-DB60589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2DDE-C84C-4755-9C66-773B9BDD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D9E72-7A6F-42C0-A2A6-BC8654F7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В результате получено программное средство, которое можно запустить из командной строки и использовать как часть лабораторного или учебного процесса анализа PE-файлов.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54E84-B716-465F-AED9-F6B7840B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96E6-801E-4D5D-B28F-9B9C4C5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00E6E-0C8F-46BB-B933-8DA8A96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A9B3"/>
                </a:solidFill>
              </a:defRPr>
            </a:pPr>
            <a:r>
              <a:rPr sz="1800" b="1">
                <a:solidFill>
                  <a:srgbClr val="15A9B3"/>
                </a:solidFill>
              </a:rPr>
              <a:t>Что реализовано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4C635-72DF-4701-B23D-A209E7BD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289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парсер PE и unwind-структур, статическая оценка, динамический сбор, отчеты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FF46B-4AA4-4B72-9D0F-113302C7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A8076-5580-4BD8-9A54-0E3FD7B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A06F2-8FE2-4C34-9241-D65967E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Что подтверждено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D424C-84EE-4E39-85C2-139B9303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289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работа на тестах, учебных примерах, реальных файлах и динамических сценариях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F31F0-0286-4266-92CB-3D04B6C0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9AFE3-0F35-40D0-ADA6-8E0E2F7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8600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78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0926F-D029-444F-B8A8-D5DD39E8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384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Что можно показать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6D075-F787-44B8-A216-AC0FB034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28950"/>
            <a:ext cx="2819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командный запуск, HTML-отчет, JSON-структуру, импорт данных в Ghidra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9F3B7-20E8-4602-89CB-4D3DA0A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Главный итог: проект дает не просто список ошибок, а объяснимую цепочку фактов для дальнейшей проверки специалистом.</a:t>
            </a:r>
          </a:p>
        </p:txBody>
      </p:sp>
    </p:spTree>
    <p:extLst>
      <p:ext uri="{BB962C8B-B14F-4D97-AF65-F5344CB8AC3E}">
        <p14:creationId xmlns:p14="http://schemas.microsoft.com/office/powerpoint/2010/main" val="15577052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5B7DBA-F284-4C80-B1B8-361CCF6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133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21EB5-53F9-4132-9FB1-B45DD9C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231"/>
                </a:solidFill>
              </a:defRPr>
            </a:pPr>
            <a:r>
              <a:rPr sz="2700" b="1">
                <a:solidFill>
                  <a:srgbClr val="172231"/>
                </a:solidFill>
              </a:rPr>
              <a:t>Ограничения и развитие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40596-5936-4989-92FA-CD27696C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57275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4EF4B5-EE5D-49D9-B3A5-386CE3B6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6A6AD"/>
                </a:solidFill>
              </a:defRPr>
            </a:pPr>
            <a:r>
              <a:rPr sz="900">
                <a:solidFill>
                  <a:srgbClr val="96A6AD"/>
                </a:solidFill>
              </a:rPr>
              <a:t>EH/Unwind Analyzer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2F1C0-7A0C-496B-9934-FAB2CCAA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1505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5720" rIns="45720" tIns="27432" bIns="27432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781"/>
                </a:solidFill>
              </a:defRPr>
            </a:pPr>
            <a:r>
              <a:rPr sz="1900" b="1">
                <a:solidFill>
                  <a:srgbClr val="087781"/>
                </a:solidFill>
                <a:latin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8C2A4-9802-406C-9855-FFEBACDF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231"/>
                </a:solidFill>
              </a:defRPr>
            </a:pPr>
            <a:r>
              <a:rPr sz="1650">
                <a:solidFill>
                  <a:srgbClr val="172231"/>
                </a:solidFill>
              </a:rPr>
              <a:t>Ограничения важно назвать честно: это показывает, что область применения проекта определена инженерно, а не обещана слишком широко.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6C086-D060-4475-82CD-33B01C36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476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A48B9-AF68-4FF6-B621-57B7F282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0F9C0-AF5B-4FB8-8532-B29A2D9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4315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7A24"/>
                </a:solidFill>
              </a:defRPr>
            </a:pPr>
            <a:r>
              <a:rPr sz="1800" b="1">
                <a:solidFill>
                  <a:srgbClr val="C07A24"/>
                </a:solidFill>
              </a:rPr>
              <a:t>Текущие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CE989-032E-4CC8-B2DF-7075B1C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933700"/>
            <a:ext cx="44386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поддерживается PE32+ AMD64; динамический режим работает только на Windows x64; неизвестные файлы нужно запускать в изоляции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E82E1-7CAB-4970-9D9F-02366DD5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76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CD7DC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244E6-A10B-4173-B008-ECEDB4DE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66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CC5DA-2475-45B9-BE7C-39F9A9A6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343150"/>
            <a:ext cx="443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866A"/>
                </a:solidFill>
              </a:defRPr>
            </a:pPr>
            <a:r>
              <a:rPr sz="1800" b="1">
                <a:solidFill>
                  <a:srgbClr val="27866A"/>
                </a:solidFill>
              </a:rPr>
              <a:t>Дальнейшее развитие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B24B9-364E-4833-A5DA-80473C01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933700"/>
            <a:ext cx="44386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231"/>
                </a:solidFill>
              </a:defRPr>
            </a:pPr>
            <a:r>
              <a:rPr sz="1500">
                <a:solidFill>
                  <a:srgbClr val="172231"/>
                </a:solidFill>
              </a:rPr>
              <a:t>сопоставление с дизассемблированным кодом, поддержка новых архитектур, графическая оболочка и интеграции с песочницами и EDR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4FA93-B053-47C9-90E8-5361DB7C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7781"/>
                </a:solidFill>
              </a:defRPr>
            </a:pPr>
            <a:r>
              <a:rPr sz="1800" b="1">
                <a:solidFill>
                  <a:srgbClr val="087781"/>
                </a:solidFill>
              </a:rPr>
              <a:t>Следующий этап - не переписывать проект, а расширять его вокруг уже работающего ядра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20658571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B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DE13C-FC8B-4280-AA95-B1356CA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9B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2D6D6-7BF0-4604-8AEA-EC367D7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0C524-CE88-4223-B590-08515D0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72231"/>
                </a:solidFill>
              </a:defRPr>
            </a:pPr>
            <a:r>
              <a:rPr sz="3750" b="1">
                <a:solidFill>
                  <a:srgbClr val="172231"/>
                </a:solidFill>
              </a:rPr>
              <a:t>Спасибо за внимание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A8D81-49A3-46AC-A6C0-0D58909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7D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56527-BD03-4578-954C-BE6CFFE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67125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087781"/>
                </a:solidFill>
              </a:defRPr>
            </a:pPr>
            <a:r>
              <a:rPr sz="1875">
                <a:solidFill>
                  <a:srgbClr val="087781"/>
                </a:solidFill>
              </a:rPr>
              <a:t>Готов ответить на вопросы по архитектуре, анализу, динамической проверке и отчетам</a:t>
            </a:r>
          </a:p>
        </p:txBody>
      </p:sp>
    </p:spTree>
    <p:extLst>
      <p:ext uri="{BB962C8B-B14F-4D97-AF65-F5344CB8AC3E}">
        <p14:creationId xmlns:p14="http://schemas.microsoft.com/office/powerpoint/2010/main" val="928295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2026-06-20T06:43:54.1130000Z</dcterms:created>
  <dcterms:modified xsi:type="dcterms:W3CDTF">2026-06-20T06:43:54.1130000Z</dcterms:modified>
</coreProperties>
</file>