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d858a1930b41d3" /><Relationship Type="http://schemas.openxmlformats.org/officeDocument/2006/relationships/extended-properties" Target="/docProps/app.xml" Id="R3db785097883458e" /><Relationship Type="http://schemas.openxmlformats.org/officeDocument/2006/relationships/officeDocument" Target="/ppt/presentation.xml" Id="R43267fbb4ae7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d7d6abeae14fa4"/>
  </p:sldMasterIdLst>
  <p:notesMasterIdLst>
    <p:notesMasterId xmlns:r="http://schemas.openxmlformats.org/officeDocument/2006/relationships" r:id="R9851f488d63d4b6c"/>
  </p:notesMasterIdLst>
  <p:sldIdLst>
    <p:sldId xmlns:r="http://schemas.openxmlformats.org/officeDocument/2006/relationships" id="256" r:id="R861083946e834606"/>
    <p:sldId xmlns:r="http://schemas.openxmlformats.org/officeDocument/2006/relationships" id="257" r:id="Ra6ec2e3b444b426a"/>
    <p:sldId xmlns:r="http://schemas.openxmlformats.org/officeDocument/2006/relationships" id="258" r:id="R15f1ff353c834897"/>
    <p:sldId xmlns:r="http://schemas.openxmlformats.org/officeDocument/2006/relationships" id="259" r:id="R881378d5224743c9"/>
    <p:sldId xmlns:r="http://schemas.openxmlformats.org/officeDocument/2006/relationships" id="260" r:id="Rdab7d2c32c70443a"/>
    <p:sldId xmlns:r="http://schemas.openxmlformats.org/officeDocument/2006/relationships" id="261" r:id="R6e302426e071432e"/>
    <p:sldId xmlns:r="http://schemas.openxmlformats.org/officeDocument/2006/relationships" id="262" r:id="Rd7e900f99fae44b5"/>
    <p:sldId xmlns:r="http://schemas.openxmlformats.org/officeDocument/2006/relationships" id="263" r:id="Re81adaba5ce244f7"/>
    <p:sldId xmlns:r="http://schemas.openxmlformats.org/officeDocument/2006/relationships" id="264" r:id="R8a2da95bfeda4e50"/>
    <p:sldId xmlns:r="http://schemas.openxmlformats.org/officeDocument/2006/relationships" id="265" r:id="R760d517979b94f60"/>
    <p:sldId xmlns:r="http://schemas.openxmlformats.org/officeDocument/2006/relationships" id="266" r:id="R7881f0051833468d"/>
    <p:sldId xmlns:r="http://schemas.openxmlformats.org/officeDocument/2006/relationships" id="267" r:id="Rd0977e3a7b00476d"/>
    <p:sldId xmlns:r="http://schemas.openxmlformats.org/officeDocument/2006/relationships" id="268" r:id="R9b4a9417f45d411d"/>
    <p:sldId xmlns:r="http://schemas.openxmlformats.org/officeDocument/2006/relationships" id="269" r:id="Rf3ab623c4a9e4d3f"/>
    <p:sldId xmlns:r="http://schemas.openxmlformats.org/officeDocument/2006/relationships" id="270" r:id="R6877d24f533240d4"/>
    <p:sldId xmlns:r="http://schemas.openxmlformats.org/officeDocument/2006/relationships" id="271" r:id="R2489c86953554569"/>
    <p:sldId xmlns:r="http://schemas.openxmlformats.org/officeDocument/2006/relationships" id="272" r:id="R683f4033b28746f4"/>
    <p:sldId xmlns:r="http://schemas.openxmlformats.org/officeDocument/2006/relationships" id="273" r:id="R45752dc2d37c49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6e0587c7314a36" /><Relationship Type="http://schemas.openxmlformats.org/officeDocument/2006/relationships/slideMaster" Target="/ppt/slideMasters/slideMaster1.xml" Id="Rc0d7d6abeae14fa4" /><Relationship Type="http://schemas.openxmlformats.org/officeDocument/2006/relationships/notesMaster" Target="/ppt/notesMasters/notesMaster1.xml" Id="R9851f488d63d4b6c" /><Relationship Type="http://schemas.openxmlformats.org/officeDocument/2006/relationships/presProps" Target="/ppt/presProps.xml" Id="Re1869c3503714217" /><Relationship Type="http://schemas.openxmlformats.org/officeDocument/2006/relationships/tableStyles" Target="/ppt/tableStyles.xml" Id="Rd1ae57d0512f44de" /><Relationship Type="http://schemas.openxmlformats.org/officeDocument/2006/relationships/slide" Target="/ppt/slides/slide1.xml" Id="R861083946e834606" /><Relationship Type="http://schemas.openxmlformats.org/officeDocument/2006/relationships/slide" Target="/ppt/slides/slide2.xml" Id="Ra6ec2e3b444b426a" /><Relationship Type="http://schemas.openxmlformats.org/officeDocument/2006/relationships/slide" Target="/ppt/slides/slide3.xml" Id="R15f1ff353c834897" /><Relationship Type="http://schemas.openxmlformats.org/officeDocument/2006/relationships/slide" Target="/ppt/slides/slide4.xml" Id="R881378d5224743c9" /><Relationship Type="http://schemas.openxmlformats.org/officeDocument/2006/relationships/slide" Target="/ppt/slides/slide5.xml" Id="Rdab7d2c32c70443a" /><Relationship Type="http://schemas.openxmlformats.org/officeDocument/2006/relationships/slide" Target="/ppt/slides/slide6.xml" Id="R6e302426e071432e" /><Relationship Type="http://schemas.openxmlformats.org/officeDocument/2006/relationships/slide" Target="/ppt/slides/slide7.xml" Id="Rd7e900f99fae44b5" /><Relationship Type="http://schemas.openxmlformats.org/officeDocument/2006/relationships/slide" Target="/ppt/slides/slide8.xml" Id="Re81adaba5ce244f7" /><Relationship Type="http://schemas.openxmlformats.org/officeDocument/2006/relationships/slide" Target="/ppt/slides/slide9.xml" Id="R8a2da95bfeda4e50" /><Relationship Type="http://schemas.openxmlformats.org/officeDocument/2006/relationships/slide" Target="/ppt/slides/slide10.xml" Id="R760d517979b94f60" /><Relationship Type="http://schemas.openxmlformats.org/officeDocument/2006/relationships/slide" Target="/ppt/slides/slide11.xml" Id="R7881f0051833468d" /><Relationship Type="http://schemas.openxmlformats.org/officeDocument/2006/relationships/slide" Target="/ppt/slides/slide12.xml" Id="Rd0977e3a7b00476d" /><Relationship Type="http://schemas.openxmlformats.org/officeDocument/2006/relationships/slide" Target="/ppt/slides/slide13.xml" Id="R9b4a9417f45d411d" /><Relationship Type="http://schemas.openxmlformats.org/officeDocument/2006/relationships/slide" Target="/ppt/slides/slide14.xml" Id="Rf3ab623c4a9e4d3f" /><Relationship Type="http://schemas.openxmlformats.org/officeDocument/2006/relationships/slide" Target="/ppt/slides/slide15.xml" Id="R6877d24f533240d4" /><Relationship Type="http://schemas.openxmlformats.org/officeDocument/2006/relationships/slide" Target="/ppt/slides/slide16.xml" Id="R2489c86953554569" /><Relationship Type="http://schemas.openxmlformats.org/officeDocument/2006/relationships/slide" Target="/ppt/slides/slide17.xml" Id="R683f4033b28746f4" /><Relationship Type="http://schemas.openxmlformats.org/officeDocument/2006/relationships/slide" Target="/ppt/slides/slide18.xml" Id="R45752dc2d37c49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a5ee786f5545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55ad5794034c19" /><Relationship Type="http://schemas.openxmlformats.org/officeDocument/2006/relationships/notesMaster" Target="/ppt/notesMasters/notesMaster1.xml" Id="R98f1b35efac949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0dee518aee4408" /><Relationship Type="http://schemas.openxmlformats.org/officeDocument/2006/relationships/notesMaster" Target="/ppt/notesMasters/notesMaster1.xml" Id="R2422d9ed836143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a95b4ddfcb45e5" /><Relationship Type="http://schemas.openxmlformats.org/officeDocument/2006/relationships/notesMaster" Target="/ppt/notesMasters/notesMaster1.xml" Id="R3a45a0f5c0c346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1fd2444d2d43fe" /><Relationship Type="http://schemas.openxmlformats.org/officeDocument/2006/relationships/notesMaster" Target="/ppt/notesMasters/notesMaster1.xml" Id="R7fc736947a1a40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61e4c995294612" /><Relationship Type="http://schemas.openxmlformats.org/officeDocument/2006/relationships/notesMaster" Target="/ppt/notesMasters/notesMaster1.xml" Id="R0fb056e62d3a4c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d002d84e0f4cfd" /><Relationship Type="http://schemas.openxmlformats.org/officeDocument/2006/relationships/notesMaster" Target="/ppt/notesMasters/notesMaster1.xml" Id="R40744f2ddad649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2bebaa8f5b4abf" /><Relationship Type="http://schemas.openxmlformats.org/officeDocument/2006/relationships/notesMaster" Target="/ppt/notesMasters/notesMaster1.xml" Id="Rcd90e23131cf4e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e4e4cb408b4250" /><Relationship Type="http://schemas.openxmlformats.org/officeDocument/2006/relationships/notesMaster" Target="/ppt/notesMasters/notesMaster1.xml" Id="Ra0a1c89915f54b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d442dcbf6540c1" /><Relationship Type="http://schemas.openxmlformats.org/officeDocument/2006/relationships/notesMaster" Target="/ppt/notesMasters/notesMaster1.xml" Id="R7b5dd88c557a47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139f95d7694605" /><Relationship Type="http://schemas.openxmlformats.org/officeDocument/2006/relationships/notesMaster" Target="/ppt/notesMasters/notesMaster1.xml" Id="R68917c7fc63348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c35a66545c4a8f" /><Relationship Type="http://schemas.openxmlformats.org/officeDocument/2006/relationships/notesMaster" Target="/ppt/notesMasters/notesMaster1.xml" Id="Rd14bf1760fcd40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cd580242744026" /><Relationship Type="http://schemas.openxmlformats.org/officeDocument/2006/relationships/notesMaster" Target="/ppt/notesMasters/notesMaster1.xml" Id="R6f3cef433e9f4e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4c40af4a8049ce" /><Relationship Type="http://schemas.openxmlformats.org/officeDocument/2006/relationships/notesMaster" Target="/ppt/notesMasters/notesMaster1.xml" Id="R177debf2bd604d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f3e2e1802c4249" /><Relationship Type="http://schemas.openxmlformats.org/officeDocument/2006/relationships/notesMaster" Target="/ppt/notesMasters/notesMaster1.xml" Id="R3409c4d250f942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90dedf513440a0" /><Relationship Type="http://schemas.openxmlformats.org/officeDocument/2006/relationships/notesMaster" Target="/ppt/notesMasters/notesMaster1.xml" Id="Rb729fed3e0c648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90a391bb704b9f" /><Relationship Type="http://schemas.openxmlformats.org/officeDocument/2006/relationships/notesMaster" Target="/ppt/notesMasters/notesMaster1.xml" Id="Rd4b33a800a9648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80cf4770ac494a" /><Relationship Type="http://schemas.openxmlformats.org/officeDocument/2006/relationships/notesMaster" Target="/ppt/notesMasters/notesMaster1.xml" Id="Rec52161e280544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1eceb468494aa4" /><Relationship Type="http://schemas.openxmlformats.org/officeDocument/2006/relationships/notesMaster" Target="/ppt/notesMasters/notesMaster1.xml" Id="R9a00653e0ec64f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титульном слайде проект позиционируется строго как специализированный инструмент анализа EH/Unwind-метаданных Windows PE x64, без обещаний универсальной детекции вредоносного ПО.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ГОТОВО/ru/ОБОСНОВАНИЕ ПРОЕКТА.pdf</a:t>
            </a:r>
          </a:p>
          <a:p xmlns:a="http://schemas.openxmlformats.org/drawingml/2006/main">
            <a:r>
              <a:t>- /Users/alexander/Desktop/ВКР ГОТОВО/ru/КАК РАБОТАЕТ СТАТИКА И ДИНАМИКА.pdf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формулирует исходное техническое противоречие: Windows вынуждена доверять EH/Unwind-метаданным, а реверсер должен проверять, соответствует ли эта карта реальному PE-образу и runtime-поведению.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ГОТОВО/ru/вмешательство.pdf</a:t>
            </a:r>
          </a:p>
          <a:p xmlns:a="http://schemas.openxmlformats.org/drawingml/2006/main">
            <a:r>
              <a:t>- /Users/alexander/Desktop/ВКР ГОТОВО/ru/ОБОСНОВАНИЕ ПРОЕКТА.pdf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важно подчеркнуть, что атакуемая или ошибочная поверхность не ограничивается одним байтом в UNWIND_INFO. Есть файловый слой, таблица функций, unwind-описание, обработчики и runtime-регистрации.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ГОТОВО/ru/вмешательство.pdf</a:t>
            </a:r>
          </a:p>
          <a:p xmlns:a="http://schemas.openxmlformats.org/drawingml/2006/main">
            <a:r>
              <a:t>- /Users/alexander/Desktop/ВКР ГОТОВО/ru/ТИПИЧНЫЕ ОШИБКИ РЕВЕРСЕРА И КАК ПРОЕКТ ИХ НИВЕЛИРУЕТ.pdf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Формулировки намеренно отделяют исследовательский scope от задач антивирусной классификации. Это защищает проект от неверного ожидания: он не должен отвечать за persistence, C2, crypto или поведенческую классификацию malware.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ГОТОВО/ru/ОБОСНОВАНИЕ ПРОЕКТА.pdf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отвечает на типовой вопрос комиссии: является ли программа просто parser. Ответ: parser является нижним уровнем, но итоговая система строит связанную карту и evidence-based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ГОТОВО/ru/ОБОСНОВАНИЕ ПРОЕКТА.pdf</a:t>
            </a:r>
          </a:p>
          <a:p xmlns:a="http://schemas.openxmlformats.org/drawingml/2006/main">
            <a:r>
              <a:t>- /Users/alexander/Desktop/ВКР ГОТОВО/ru/ДЕЙСТВИЯ РЕВЕРСА.pdf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Маршрут описывает работу проекта шаг за шагом, но в научном языке: каждый уровень получает входные данные от предыдущего и предотвращает типичные ошибки ручного анализа.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ГОТОВО/ru/КАК РАБОТАЕТ СТАТИКА И ДИНАМИКА.pdf</a:t>
            </a:r>
          </a:p>
          <a:p xmlns:a="http://schemas.openxmlformats.org/drawingml/2006/main">
            <a:r>
              <a:t>- /Users/alexander/Desktop/ВКР ГОТОВО/ru/ТИПИЧНЫЕ ОШИБКИ РЕВЕРСЕРА И КАК ПРОЕКТ ИХ НИВЕЛИРУЕТ.pdf</a:t>
            </a:r>
          </a:p>
          <a:p xmlns:a="http://schemas.openxmlformats.org/drawingml/2006/main">
            <a:r>
              <a:t>- /Users/alexander/Desktop/ВКР ГОТОВО/ru/ДЕЙСТВИЯ РЕВЕРСА.pdf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честно разделяет реализованные уровни и ограничение текущей версии: prolog-vs-unwind semantic validation является важным развитием, но не входит в завершенный scope текущего ядра.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ГОТОВО/ru/КАК РАБОТАЕТ СТАТИКА И ДИНАМИКА.pdf</a:t>
            </a:r>
          </a:p>
          <a:p xmlns:a="http://schemas.openxmlformats.org/drawingml/2006/main">
            <a:r>
              <a:t>- /Users/alexander/Desktop/ВКР ГОТОВО/ru/ОБОСНОВАНИЕ ПРОЕКТА.pdf</a:t>
            </a:r>
          </a:p>
          <a:p xmlns:a="http://schemas.openxmlformats.org/drawingml/2006/main">
            <a:r>
              <a:t>- /Users/alexander/Desktop/ВКР ГОТОВО/ru/ТИПИЧНЫЕ ОШИБКИ РЕВЕРСЕРА И КАК ПРОЕКТ ИХ НИВЕЛИРУЕТ.pdf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отвечает на вопрос 'почему именно такие признаки'. Они соответствуют зонам ошибок: PE mapping, function table, unwind decoding, placement, reuse/dominance и runtime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ГОТОВО/ru/ТИПИЧНЫЕ ОШИБКИ РЕВЕРСЕРА И КАК ПРОЕКТ ИХ НИВЕЛИРУЕТ.pdf</a:t>
            </a:r>
          </a:p>
          <a:p xmlns:a="http://schemas.openxmlformats.org/drawingml/2006/main">
            <a:r>
              <a:t>- /Users/alexander/Desktop/ВКР ГОТОВО/ru/ЗАЩИТА КАЧЕСТВА ТОЧНОСТИ И ТЕСТИРОВАНИЯ.pdf</a:t>
            </a:r>
          </a:p>
          <a:p xmlns:a="http://schemas.openxmlformats.org/drawingml/2006/main">
            <a:r>
              <a:t>- /Users/alexander/Desktop/ВКР ГОТОВО/ru/ЧТО ТАКОЕ FINDING.pdf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Важно развести severity и confidence. Severity отвечает на вопрос о значимости, confidence — насколько надежно установлено наблюдение. Это снижает риск ложного драматизма в отчете.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ГОТОВО/ru/ЧТО ТАКОЕ FINDING.pdf</a:t>
            </a:r>
          </a:p>
          <a:p xmlns:a="http://schemas.openxmlformats.org/drawingml/2006/main">
            <a:r>
              <a:t>- /Users/alexander/Desktop/ВКР ГОТОВО/ru/КАК ЧИТАТЬ ОТЧЕТ_ПОЛНЫЙ.pdf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Динамическая часть Windows-only. Ее задача — наблюдать runtime-события: exceptions, handler hits, API function table registrations. Для untrusted malware запуск должен идти в изолированной Windows VM.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ГОТОВО/ru/КАК РАБОТАЕТ СТАТИКА И ДИНАМИКА.pdf</a:t>
            </a:r>
          </a:p>
          <a:p xmlns:a="http://schemas.openxmlformats.org/drawingml/2006/main">
            <a:r>
              <a:t>- /Users/alexander/Desktop/ВКР ГОТОВО/ru/ТИПИЧНЫЕ ОШИБКИ РЕВЕРСЕРА И КАК ПРОЕКТ ИХ НИВЕЛИРУЕТ.pdf</a:t>
            </a:r>
          </a:p>
          <a:p xmlns:a="http://schemas.openxmlformats.org/drawingml/2006/main">
            <a:r>
              <a:t>- /Users/alexander/Desktop/ВКР ГОТОВО/ru/ОБОСНОВАНИЕ ПРОЕКТА.pdf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защищает архитектурную идею static+dynamic: один слой строит карту обещаний файла, второй собирает runtime evidence. Их нельзя противопоставлять.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ГОТОВО/ru/КАК РАБОТАЕТ СТАТИКА И ДИНАМИКА.pdf</a:t>
            </a:r>
          </a:p>
          <a:p xmlns:a="http://schemas.openxmlformats.org/drawingml/2006/main">
            <a:r>
              <a:t>- /Users/alexander/Desktop/ВКР ГОТОВО/ru/ОБОСНОВАНИЕ ПРОЕКТА.pdf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защите важно объяснить: JSON нужен для интеграций и базы данных, HTML — для человека, CSV — для анализа и сравнения, Ghidra CSV — для переноса результата в рабочую среду реверсера.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ГОТОВО/ru/КАК ЧИТАТЬ ОТЧЕТ_ПОЛНЫЙ.pdf</a:t>
            </a:r>
          </a:p>
          <a:p xmlns:a="http://schemas.openxmlformats.org/drawingml/2006/main">
            <a:r>
              <a:t>- /Users/alexander/Desktop/ВКР ГОТОВО/ru/ДЕЙСТВИЯ РЕВЕРСА.pdf</a:t>
            </a:r>
          </a:p>
          <a:p xmlns:a="http://schemas.openxmlformats.org/drawingml/2006/main">
            <a:r>
              <a:t>- /Users/alexander/Desktop/ВКР ГОТОВО/ВКР ПРОЕКТ ОКОНЧЕННЫЙ/ip_full/src и include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защищает архитектурный выбор: модульный монолит проще тестировать, переносить и встраивать как ядро. Внешний backend может запускать CLI и читать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ГОТОВО/ru/ОБОСНОВАНИЕ ПРОЕКТА.pdf</a:t>
            </a:r>
          </a:p>
          <a:p xmlns:a="http://schemas.openxmlformats.org/drawingml/2006/main">
            <a:r>
              <a:t>- /Users/alexander/Desktop/ВКР ГОТОВО/ВКР ПРОЕКТ ОКОНЧЕННЫЙ/ip_full/src и include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Числа строк получены по текущим папкам src/include и tests. Строки тестовых генераторов отдельно показывают, что проект содержит не только ядро, но и инфраструктуру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ГОТОВО/ВКР ПРОЕКТ ОКОНЧЕННЫЙ/ip_full/src и include</a:t>
            </a:r>
          </a:p>
          <a:p xmlns:a="http://schemas.openxmlformats.org/drawingml/2006/main">
            <a:r>
              <a:t>- /Users/alexander/Desktop/ВКР ГОТОВО/ВКР ПРОЕКТ ОКОНЧЕННЫЙ/ip_full/release/RELEASE_STATUS_1.0.0_RU.md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специально закрывает вопрос комиссии: 16 tests — это не число признаков и не число бинарников. Это отдельный уровень автоматизированных CTest-проверок. Корпус PE-файлов используется для демонстрации покрытия признаков и режимов.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ГОТОВО/ru/ЗАЩИТА КАЧЕСТВА ТОЧНОСТИ И ТЕСТИРОВАНИЯ.pdf</a:t>
            </a:r>
          </a:p>
          <a:p xmlns:a="http://schemas.openxmlformats.org/drawingml/2006/main">
            <a:r>
              <a:t>- /Users/alexander/Desktop/ВКР ГОТОВО/ВКР ПРОЕКТ ОКОНЧЕННЫЙ/ip_full/release/RELEASE_STATUS_1.0.0_RU.md</a:t>
            </a:r>
          </a:p>
          <a:p xmlns:a="http://schemas.openxmlformats.org/drawingml/2006/main">
            <a:r>
              <a:t>- /Users/alexander/Desktop/ВКР ГОТОВО/ВКР ПРОЕКТ ОКОНЧЕННЫЙ/ip_full/бинарники на тестирование/manifest_extended.json</a:t>
            </a:r>
          </a:p>
          <a:p xmlns:a="http://schemas.openxmlformats.org/drawingml/2006/main">
            <a:r>
              <a:t>- /Users/alexander/Desktop/ВКР ГОТОВО/ВКР ПРОЕКТ ОКОНЧЕННЫЙ/ip_full/бинарники на тестирование/README_БИНАРНИКИ_НА_ТЕСТИРОВАНИЕ.md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Формулировка важна: нельзя заявлять 'точность модели' как у ML-классификатора. Можно заявлять результаты валидаторов, корпусов, CTest и controlled samples.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ГОТОВО/ru/ЗАЩИТА КАЧЕСТВА ТОЧНОСТИ И ТЕСТИРОВАНИЯ.pdf</a:t>
            </a:r>
          </a:p>
          <a:p xmlns:a="http://schemas.openxmlformats.org/drawingml/2006/main">
            <a:r>
              <a:t>- /Users/alexander/Desktop/ВКР ГОТОВО/ВКР ПРОЕКТ ОКОНЧЕННЫЙ/ip_full/release/RELEASE_STATUS_1.0.0_RU.md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заранее снимает агрессивные вопросы: честное ограничение не равно провалу проекта. Оно показывает границы версии и направления развития.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ГОТОВО/ru/ОБОСНОВАНИЕ ПРОЕКТА.pdf</a:t>
            </a:r>
          </a:p>
          <a:p xmlns:a="http://schemas.openxmlformats.org/drawingml/2006/main">
            <a:r>
              <a:t>- /Users/alexander/Desktop/ВКР ГОТОВО/ru/КАК РАБОТАЕТ СТАТИКА И ДИНАМИКА.pdf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слайд возвращает аудиторию к исходной проблеме: EH/Unwind-метаданные сложны, доверенны и потенциально искажаемы; проект делает их проверяемыми.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/Users/alexander/Desktop/ВКР ГОТОВО/ru/ОБОСНОВАНИЕ ПРОЕКТА.pdf</a:t>
            </a:r>
          </a:p>
          <a:p xmlns:a="http://schemas.openxmlformats.org/drawingml/2006/main">
            <a:r>
              <a:t>- /Users/alexander/Desktop/ВКР ГОТОВО/ru/ДЕЙСТВИЯ РЕВЕРСА.pdf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e79c3d21549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29c5c6080a42dd" /><Relationship Type="http://schemas.openxmlformats.org/officeDocument/2006/relationships/slideLayout" Target="/ppt/slideLayouts/slideLayout1.xml" Id="R608696926c0142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8696926c0142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c6bb468ea4791" /><Relationship Type="http://schemas.openxmlformats.org/officeDocument/2006/relationships/notesSlide" Target="/ppt/notesSlides/notesSlide1.xml" Id="R70b7f23372cd48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0b68b25bc46eb" /><Relationship Type="http://schemas.openxmlformats.org/officeDocument/2006/relationships/notesSlide" Target="/ppt/notesSlides/notesSlide2.xml" Id="Rd02bf4f83c2b45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50c36063b4178" /><Relationship Type="http://schemas.openxmlformats.org/officeDocument/2006/relationships/notesSlide" Target="/ppt/notesSlides/notesSlide3.xml" Id="Rb718fa10557345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b27ecb1074bf4" /><Relationship Type="http://schemas.openxmlformats.org/officeDocument/2006/relationships/notesSlide" Target="/ppt/notesSlides/notesSlide4.xml" Id="R6d2f61ccb47149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c041df0ad44f4" /><Relationship Type="http://schemas.openxmlformats.org/officeDocument/2006/relationships/notesSlide" Target="/ppt/notesSlides/notesSlide5.xml" Id="Rb64ea6d4e54a4c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a0c5a1e3d4069" /><Relationship Type="http://schemas.openxmlformats.org/officeDocument/2006/relationships/notesSlide" Target="/ppt/notesSlides/notesSlide6.xml" Id="Rb26c55f6dcbc44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8e390892341df" /><Relationship Type="http://schemas.openxmlformats.org/officeDocument/2006/relationships/notesSlide" Target="/ppt/notesSlides/notesSlide7.xml" Id="Rf567fb65b99e41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40d6d526c4716" /><Relationship Type="http://schemas.openxmlformats.org/officeDocument/2006/relationships/notesSlide" Target="/ppt/notesSlides/notesSlide8.xml" Id="Rf6c34c81a35046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8b1fb0dfd4660" /><Relationship Type="http://schemas.openxmlformats.org/officeDocument/2006/relationships/notesSlide" Target="/ppt/notesSlides/notesSlide9.xml" Id="R145847ba8d6b41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3b5f68d594ed3" /><Relationship Type="http://schemas.openxmlformats.org/officeDocument/2006/relationships/notesSlide" Target="/ppt/notesSlides/notesSlide10.xml" Id="Rc5d0c61968e647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d8a3d277a4612" /><Relationship Type="http://schemas.openxmlformats.org/officeDocument/2006/relationships/notesSlide" Target="/ppt/notesSlides/notesSlide11.xml" Id="Rd8d8fbf74fdb4e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ec854daee4811" /><Relationship Type="http://schemas.openxmlformats.org/officeDocument/2006/relationships/notesSlide" Target="/ppt/notesSlides/notesSlide12.xml" Id="R10fd0b33ab3848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059182c1a43f2" /><Relationship Type="http://schemas.openxmlformats.org/officeDocument/2006/relationships/notesSlide" Target="/ppt/notesSlides/notesSlide13.xml" Id="Ref757d41e7524a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54b8b89b9459e" /><Relationship Type="http://schemas.openxmlformats.org/officeDocument/2006/relationships/notesSlide" Target="/ppt/notesSlides/notesSlide14.xml" Id="Ra9fe4ae0ab8f47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de5ed79cf4325" /><Relationship Type="http://schemas.openxmlformats.org/officeDocument/2006/relationships/notesSlide" Target="/ppt/notesSlides/notesSlide15.xml" Id="R59bc5be5c9dd4f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f445a632f4bb2" /><Relationship Type="http://schemas.openxmlformats.org/officeDocument/2006/relationships/notesSlide" Target="/ppt/notesSlides/notesSlide16.xml" Id="R4f723286236d47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67873759f4d16" /><Relationship Type="http://schemas.openxmlformats.org/officeDocument/2006/relationships/notesSlide" Target="/ppt/notesSlides/notesSlide17.xml" Id="R8e27a7d5cd0744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da1b7b074483d" /><Relationship Type="http://schemas.openxmlformats.org/officeDocument/2006/relationships/notesSlide" Target="/ppt/notesSlides/notesSlide18.xml" Id="R03d4c5b06a4a4e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E967F-08E8-4D76-B4EB-E2289E77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9F5D8-3044-41D2-90AD-BD392C7A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7"/>
          </a:solidFill>
          <a:ln xmlns:a="http://schemas.openxmlformats.org/drawingml/2006/main" w="0">
            <a:solidFill>
              <a:srgbClr val="DDF5F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ED3FE-5724-4A12-A779-383201C7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14400"/>
            <a:ext cx="666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53AD0-1CAC-4059-A68C-CB27CBF2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1239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Выпускная квалификационная работа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CD6D5-EED0-4FCC-82D4-89B1B92F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7620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5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Инструмент анализа EH/Unwind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75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метаданных Windows PE x64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C4EDE-D759-4C09-A998-BD9BDAF7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004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Структурная проверка, эвристическая оценка и динамическая валидация low-level метаданных обработки исключений и раскрутки стека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2BF9B-B1BF-477B-9FCF-AE476CAB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530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EH/Unwind Analyzer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4D452-D106-4AE0-A67E-A1032535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Windows PE x64 · static analysis · dynamic validation</a:t>
            </a:r>
          </a:p>
        </p:txBody>
      </p:sp>
    </p:spTree>
    <p:extLst>
      <p:ext uri="{BB962C8B-B14F-4D97-AF65-F5344CB8AC3E}">
        <p14:creationId xmlns:p14="http://schemas.microsoft.com/office/powerpoint/2010/main" val="14911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5B77A-DD55-40F2-9680-00541345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20B60-0B35-4161-9401-FEA6DF43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АКТУАЛЬНОСТЬ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CE52E-406A-4871-93A4-241D2F47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Проблема: механизм раскрутки стека доверяет изменяемым данным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91E3C-1A0C-4676-B125-9D4614DB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В Windows x64 восстановление контекста при исключениях, stack walking, отладке и crash analysis опирается не только на машинный код, но и на служебные таблицы PE-файла.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D1387-5C23-43A2-9D19-F92FA6B5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Объект доверия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0E536-988B-4027-BD39-805ED3E8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Роль в системе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88114-4268-4AA9-8E79-69BDF75C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Риск для анализа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481B6-FD10-49EF-8712-D0F8B76F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RUNTIME_FUNCTION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961D7-CBDC-47B4-A165-FF366F35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задает диапазон функции и ссылку на описание unwind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18B1A-1D4C-4BB3-ABC9-20D8E51E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ошибка диапазона меняет карту функций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43396-6019-49C8-8FFF-93424D81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UNWIND_INFO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871F2-8AA0-4812-95D9-234625B3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432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описывает восстановление RSP, регистров и caller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F84A1-1D5F-4A5F-AD0F-D1380279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432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повреждение дает неверный stack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13AEA-89FC-4BF6-8C43-2DDC58ED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Handler RVA / flags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11D8F-33E4-4806-AB74-28AF0679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100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связывает функцию с обработчиком исключений или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227CA-0898-4BB7-A3B8-15D97DF3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100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может скрыть handler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5BEF8-FCDC-472C-8BE9-BF848C88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Dynamic function tables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0FDD9-54AC-47AC-85D2-EDC7FBB7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767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добавляет unwind-карту во время исполнения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DD93A-ED53-4B5A-B1EA-F21867C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767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static без dynamic видит не всю картину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6319F5-84B2-4391-BF07-B74BD805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293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Следовательно, реверсеру нужна не только дизассемблированная программа, но и проверяемая карта EH/Unwind-метаданных с указанием нарушений, контекста и степени уверенности.</a:t>
            </a:r>
          </a:p>
        </p:txBody>
      </p:sp>
    </p:spTree>
    <p:extLst>
      <p:ext uri="{BB962C8B-B14F-4D97-AF65-F5344CB8AC3E}">
        <p14:creationId xmlns:p14="http://schemas.microsoft.com/office/powerpoint/2010/main" val="189066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869D6A-A3C9-4E82-A436-C1F1A0A8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C5E38-AD43-40D2-B99E-76DEF18D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ПРОБЛЕМАТИКА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00D4A-89C3-4AE0-A17E-DF26551F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Поверхность вмешательства шире, чем один поврежденный адрес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85923-8406-41DB-A301-FCC660EE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Вмешательство может происходить на разных уровнях. Поэтому проект рассматривает EH/Unwind как систему связанных объектов, а не как отдельную таблицу .pdata.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F3842-5498-4075-8E70-A31DEB60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FE8E3-A3D0-4C72-AA2A-0B4762F2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6C8EE-0745-4116-A621-14B1FCC6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81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 layout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C645A-4051-4867-8D88-715EF0AD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headers, sections, RVA → file offset, Exception Directory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E7441-C389-4856-9895-11C96AF4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38425"/>
            <a:ext cx="514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F5F7"/>
          </a:solidFill>
          <a:ln xmlns:a="http://schemas.openxmlformats.org/drawingml/2006/main" w="0">
            <a:solidFill>
              <a:srgbClr val="DDF5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8AC57-D3DD-4B31-A823-73E6A556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336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29DFB-F88D-4112-8559-AF90B2C8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33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F1E48-5501-4058-8A01-B2B7342F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81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.pdata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EB143-D007-409B-A155-C409ADE7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2890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диапазоны RUNTIME_FUNCTION, сортировка, overlaps, duplicates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E5278-C25A-4F4B-84AD-52DEE455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38425"/>
            <a:ext cx="514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F5F7"/>
          </a:solidFill>
          <a:ln xmlns:a="http://schemas.openxmlformats.org/drawingml/2006/main" w="0">
            <a:solidFill>
              <a:srgbClr val="DDF5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64146-8809-4B06-91AA-B9565B4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336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9334E-C6DD-4145-88FC-14C5F5BC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33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04EE6-BCA7-4014-AD7B-F1E8E1B6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81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.xdata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75858-4B19-4F48-A11B-3AD066B0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2890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UNWIND_INFO, CountOfCodes, multi-slot UWOP, padding, handler/chain tail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59E06-8114-4C1A-AEDD-5A0DDFC7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38425"/>
            <a:ext cx="514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F5F7"/>
          </a:solidFill>
          <a:ln xmlns:a="http://schemas.openxmlformats.org/drawingml/2006/main" w="0">
            <a:solidFill>
              <a:srgbClr val="DDF5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70C-C29D-4E6C-B134-5B2CF699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49393F-19B0-4700-AE4D-2A246842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2A37E-035B-4C1E-8318-61543CD3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81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C60978-053D-4239-A802-2D8D1DB1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2890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VEH/VCH/UEF, handler hits, RtlAddFunctionTable, dynamic tables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01F37D-16CD-4D23-8A7C-182211FC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430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Почему это важно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4D12F7-1207-40EE-B30B-7712822D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33850"/>
            <a:ext cx="516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автоматизируется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D8A7E3-9C82-4F66-9466-D2DB6411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4305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ошибка адресной модели искажает все дальнейшие выводы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0C2CC0-7220-4D0E-81B2-7745513B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95800"/>
            <a:ext cx="516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безопасное сопоставление RVA, секций и файловых смещений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A0B87-D067-4014-8431-593734AA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4305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формально читаемая структура может быть подозрительной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F2BD40-DF96-4947-957D-25B45505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29200"/>
            <a:ext cx="516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эвристическая оценка размещения, reuse, dominance и повреждений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ED11A2-C503-4016-B929-F18DAC39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62600"/>
            <a:ext cx="4305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часть unwind-карты появляется только при запуске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435967-74D9-466B-87AA-48875F58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62600"/>
            <a:ext cx="516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динамическая фиксация exception-related событий Windows</a:t>
            </a:r>
          </a:p>
        </p:txBody>
      </p:sp>
    </p:spTree>
    <p:extLst>
      <p:ext uri="{BB962C8B-B14F-4D97-AF65-F5344CB8AC3E}">
        <p14:creationId xmlns:p14="http://schemas.microsoft.com/office/powerpoint/2010/main" val="1762231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BEB31-5A01-44E4-BFF6-A9258260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3DD75-7EBA-412B-B493-ECC32AF5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ПОСТАНОВКА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9FFA4-3D7F-4E2E-A5EF-86FEA22B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Исследование имеет четкий объект, предмет и границы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EF84C-D58B-4A59-8968-0ED1FB21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Элемент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45D1D-8C0D-4720-8ACA-67317960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200150"/>
            <a:ext cx="8420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Формулировка для защиты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2F8D1-CB58-4D1A-A4E1-57DD4111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Объект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F78CC-0045-435B-AD6B-8260B500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00200"/>
            <a:ext cx="8420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PE x64-файлы Windows и их EH/Unwind-инфраструктура: Exception Directory, .pdata, .xdata, handlers, dynamic tables.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7F703-30DC-4180-B0B1-AFEDB373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Предмет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BF0EE-6A52-4043-98CC-6119FF0A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38400"/>
            <a:ext cx="8420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Методы безопасного чтения, структурной валидации, эвристической оценки и runtime-проверки этих метаданных.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36424-E328-43FA-80BB-19CCE8F4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81F93-0DFE-4F9F-A252-2F5C9184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76600"/>
            <a:ext cx="8420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Разработать инструмент, который строит проверяемую карту EH/Unwind-метаданных и выделяет аномальные участки для экспертной проверки.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28268-8036-4888-8B42-4DFB3387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Задачи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18984-7C76-4E3E-9585-1DE65AC3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14800"/>
            <a:ext cx="8420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реализовать PE mapping; разобрать RUNTIME_FUNCTION и UNWIND_INFO; сформировать 27 признаков; добавить отчеты; проверить на корпусе.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15745-1BF3-4075-8514-7C52DFF2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Граница работы: проект не классифицирует вредоносность файла, а оценивает корректность и подозрительность конкретного EH/Unwind-слоя.</a:t>
            </a:r>
          </a:p>
        </p:txBody>
      </p:sp>
    </p:spTree>
    <p:extLst>
      <p:ext uri="{BB962C8B-B14F-4D97-AF65-F5344CB8AC3E}">
        <p14:creationId xmlns:p14="http://schemas.microsoft.com/office/powerpoint/2010/main" val="1684073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18FA91-E9D3-406C-B546-6DA056FB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3F312-EE07-4B8C-AEE1-140A4676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МЕТОД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55452-E291-4B5F-BFA5-0BD46622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Проект строит карту, а не просто печатает поля 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28449-63BC-4C86-B3F3-3AC16377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Под картой понимается связанная модель переходов: PE header → sections → Exception Directory → RUNTIME_FUNCTION → UNWIND_INFO → handler/chain → finding → report.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853D6-D49C-468E-8234-21CC2530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866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81131-C455-4313-8482-BA124398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191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5B8B0-54E6-4DF7-9E77-A96C4F65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0275C-8C46-4CB2-82F9-2D97C64B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7F69F-9DF6-474F-99BB-C789A7B6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121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образ, секции, права R/W/X, RVA и raw ranges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96494-C5E3-4269-BC6F-000B2493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66950"/>
            <a:ext cx="1866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4B4E7-452F-4419-8466-AC8C886F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66950"/>
            <a:ext cx="4191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6EBC8-8333-4F50-B28F-060BE82A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38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E2CE4-92E9-4817-92CE-0A2074C1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44AB6-4748-4378-A0D0-F9113529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121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диапазоны функций, сортировка, пересечения, duplicate BeginAddress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C2675-ABCB-4A9D-9DFC-9B7C37E2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1866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39E23-B795-4BEA-9CBA-63D34E07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4191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9B506-2D4F-4F61-A437-018B5D76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38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86543-9250-43E2-A365-7EA45F0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622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Unwind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FDB24-3490-4D9E-BC58-DF26B693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47950"/>
            <a:ext cx="121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версия, flags, prolog size, CountOfCodes, UWOP slots, padding, tail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BE676-08B1-4BAC-BFA5-E2DE6AA3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1866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2D675-6D98-41A4-83FB-C2823134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4191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346FC-6FCB-4C73-A46D-F1D046CF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38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55C64-B3F6-4109-9785-CB6E9D73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622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97190-6EC4-468F-B969-7297D995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121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findings, affected count, representative RVA, severity, 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7A170D-E96E-46F7-95A0-99F6C4AC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18669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8D407D-B6B6-4B14-AC63-CE6EB0AA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4191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2389A3-824A-4FA9-9DA0-D0EBB1C8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38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B6B621-41C2-4362-B635-CC0A7AFF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622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C5F271-2EBC-4981-9A04-2059ACF3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21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исключения, handler hits, VEH/VCH/UEF, dynamic function table APIs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9A4AB9-B177-48D0-B8B5-E20110CA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Именно связность карты отличает анализатор от дампера: результат можно проверить, передать в Ghidra/JSON/HTML и использовать как маршрут ручной экспертизы.</a:t>
            </a:r>
          </a:p>
        </p:txBody>
      </p:sp>
    </p:spTree>
    <p:extLst>
      <p:ext uri="{BB962C8B-B14F-4D97-AF65-F5344CB8AC3E}">
        <p14:creationId xmlns:p14="http://schemas.microsoft.com/office/powerpoint/2010/main" val="1221483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2F4E7F-B08E-4858-AB1E-312A12A2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8D3B7-65EA-4C32-B37C-0B7FF08F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8E3E7-C0F0-4C3B-BD27-31503E6A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Статический слой проверяет файл как формальный контракт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2D3D6-324B-4251-9A91-8A909BFA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38250"/>
            <a:ext cx="29146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F1F79-5A7F-4F4A-B522-56ED3715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09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2A8D2-D99A-4DE5-AC52-5D37B0EC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954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09AD6-C713-4945-83C7-B144A82F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4097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A4258-B6C4-4640-A96C-72E3CDBD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335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чтение заголовков, Machine, PE32+, ImageBase, SizeOfImage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A4297-5159-4F2D-903A-9F45FA61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29146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76063-DBE4-4E94-B563-5B4558D9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09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D2A15-F0F5-4171-B3C9-36C42078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954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D02D5-2FAB-47CB-ACA2-5E9C565E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097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Sections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AA17D-8DCE-4726-93FC-4120E8B6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335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построение section map, проверка raw/virtual границ и прав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4822D-EFD3-46CE-A738-2D65FDEB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238250"/>
            <a:ext cx="29146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57D79-BF0B-4AE1-A721-9501EE91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09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B551E-CD81-4CBE-9AE1-E542277A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954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AA78A-277E-476C-91DF-89E5FA66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097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Exception Directory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A4063-C35E-4134-A53E-253C65A4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RVA/Size, кратность 12 байтам, отображение в file offset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40516-A6CD-4348-BF25-A5E338DD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9146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A4F8A-335B-45EC-A61F-8F4184C5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6E1EF-0E86-48CE-BFD4-0B59C14D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37307-6A99-4D4B-9F72-88C6313E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671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RUNTIME_FUNCTION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0A1B18-68C6-4B79-ACBF-085E4AA9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9100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Begin/End/UnwindData, сортировка, overlaps, duplicate begins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66122-8CE2-4D09-B136-B6A2A1FE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95700"/>
            <a:ext cx="29146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057D5-E17E-443C-8F9F-50519983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67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00B91A-5EFC-4C81-92DF-08BC2E62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528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42FF8F-B778-4C2D-9F61-695F3309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671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UNWIND_INFO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913908-11E4-4003-B948-F31F3AB3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9100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Version/Flags, CountOfCodes, UWOP operands, padding, handler/chain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5AF1FB-A66C-4426-B000-51669C3A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95700"/>
            <a:ext cx="29146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A10C8F-5742-4EDE-9CD4-F938A344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0">
            <a:solidFill>
              <a:srgbClr val="0D7F8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81ECB7-11A9-4D02-B1C0-B9C53A51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528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633848-6C42-4429-AD11-0649EC79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671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Findings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C0CE60-862E-4FD1-9E30-62853E50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9100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группировка нарушений, severity, confidence, manual validation steps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DAB1D5-95EC-4869-A14A-3254CAB8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24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Статический анализ отвечает на вопрос: какую EH/Unwind-карту заявляет файл на диске и где эта карта нарушает ожидаемые инварианты Windows x64.</a:t>
            </a:r>
          </a:p>
        </p:txBody>
      </p:sp>
    </p:spTree>
    <p:extLst>
      <p:ext uri="{BB962C8B-B14F-4D97-AF65-F5344CB8AC3E}">
        <p14:creationId xmlns:p14="http://schemas.microsoft.com/office/powerpoint/2010/main" val="3765105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9734C-EEA5-417D-9C5F-623A6925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BC22F-20FA-4763-B234-FB366DEA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60972-A11B-418C-AFD5-1ECD3FCF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Статика закрывает структурный, синтаксический и контекстный уровни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4E9B6-C70B-4B60-A3FD-F3FF5D5C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Уровень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14DB9-D47C-4F48-B5CE-A05BBFD8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38250"/>
            <a:ext cx="430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проверяется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9D484-3B29-4EF7-A737-418B3615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3825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Зачем это реверсеру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D1138-7FB9-49F5-AA13-F2031557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Структурный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1792B-7030-42DF-B9CA-C465C525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38300"/>
            <a:ext cx="4305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PE headers, sections, RVA/file offset, Exception Directory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60C76-4358-4C29-A886-1B75EA14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38300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исключает ошибки адресации до разбора .pdata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C3E92-5D12-4CB6-8929-C356AD43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Синтаксический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D195F-C5F1-42F3-8B88-751BCA53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193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RUNTIME_FUNCTION, UNWIND_INFO, CountOfCodes, UWOP slots, padding, tail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30315-A1F7-4A72-80D7-B15528E7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19350"/>
            <a:ext cx="419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не позволяет читать handler или chain из смещенного мусора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F4499-ABDE-4220-97C9-738115CD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Контекстный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82117-98EA-4AA9-9D21-9957C733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956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section permissions, writable/executable metadata, reuse, dominance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BDA8C-5C03-4421-95AD-B7F0ABB5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95650"/>
            <a:ext cx="419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отделяет обычную metadata от нетипичного размещения и концентрации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7FA45-33C8-4B8E-B5E2-063DAF88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Отчетный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4BB01-A005-4578-B4D8-1B1C0410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71950"/>
            <a:ext cx="4305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finding, affected_count, evidence family, representative_rva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08DA6-C248-4B61-AC85-B3B9364E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71950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дает точку входа для Ghidra, hex viewer и debugger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54335-AF98-4EC2-8AA4-B64F53E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3880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DDF5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34E67-9473-4BAE-9643-8C37A6B7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0"/>
            <a:ext cx="979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C4A0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C4A0F"/>
                </a:solidFill>
                <a:latin typeface="Arial"/>
                <a:ea typeface="Arial"/>
                <a:cs typeface="Arial"/>
              </a:rPr>
              <a:t>Что не заявляется: текущая версия не выполняет автоматическое дизассемблирование пролога и не доказывает соответствие каждой UWOP-операции реальным инструкциям .text.</a:t>
            </a:r>
          </a:p>
        </p:txBody>
      </p:sp>
    </p:spTree>
    <p:extLst>
      <p:ext uri="{BB962C8B-B14F-4D97-AF65-F5344CB8AC3E}">
        <p14:creationId xmlns:p14="http://schemas.microsoft.com/office/powerpoint/2010/main" val="1022356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FA32D4-28F9-4380-AF2A-EB0C76AD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73D70-BDF9-4829-9055-5053E0DC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ЭВРИСТИКИ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96572-5DCA-4AF1-92A7-C0CB982F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27 признаков сгруппированы по источнику доказательства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CFAB2-D95A-4B80-9EF4-5C36C7BA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Число признаков выбрано не произвольно: они покрывают основные зоны, где ручной анализ EH/Unwind обычно ошибается или теряет контекст.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F4C56-180A-499C-81B0-1E95D05B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Семейство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9ACD0-3713-41DC-B8F5-5F2C16D1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19300"/>
            <a:ext cx="3943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Смысл семейства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21B90-F1F0-4574-B050-1D464078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Примеры сигналов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DC868-28D7-460B-8B3B-FB8FFA9E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PE / table integrity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45796-8CCE-4ACB-9182-5BB0D60C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0300"/>
            <a:ext cx="3943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корректность контейнера и таблицы функций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E3BF2-062B-4496-BC02-CCE4BC92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03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raw/virtual OOB, invalid ranges, unsorted, overlaps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4AE15-B469-4F12-8544-EAE28782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Unwind integrity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A6B07-7F80-4596-BACC-3ADC8B6C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3943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безопасность декодирования .xdata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7CC4E-7EF3-495B-A6F9-431B1C19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861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bad version, truncated codes, bad UWOP, chain conflict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C83E0-4D2D-4329-90F4-59545117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Metadata placement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27028-AEB5-4BED-92B6-C38AF289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71900"/>
            <a:ext cx="3943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где лежат metadata и handler targets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BF6B5-9958-46C1-A342-73B4D9F9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719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writable metadata, executable xdata, non-exec handler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61EBE-2305-4A6C-985F-BD556EB4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Reuse / dominance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620DD-603C-453D-8C82-E511ED8B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57700"/>
            <a:ext cx="3943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массовая концентрация одного unwind/handler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48E45-B0A6-482D-9770-1632E5B6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unwind reuse, handler dominance, combo 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83FDF-FAC0-4393-A953-8DC7B25B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Dynamic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156FD-54E5-4CA3-A103-95C5A3EA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43500"/>
            <a:ext cx="3943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runtime-события, недоступные чистой статике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BE31B-1394-42C8-8B1F-3995EDFF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VEH/VCH/UEF hits, Rtl*FunctionTable events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60A0E-0372-4553-AD1C-55885C81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53125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Score и confidence не являются вероятностью вредоносности. Это инженерная оценка силы и надежности наблюдений внутри узкого EH/Unwind-scope.</a:t>
            </a:r>
          </a:p>
        </p:txBody>
      </p:sp>
    </p:spTree>
    <p:extLst>
      <p:ext uri="{BB962C8B-B14F-4D97-AF65-F5344CB8AC3E}">
        <p14:creationId xmlns:p14="http://schemas.microsoft.com/office/powerpoint/2010/main" val="1063909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6B045-A5AC-449D-9224-74263B2A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80C65-8AC8-4DD8-9B26-436B6BE4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ОТЧЕТНОСТЬ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A1C7F-39C1-4C44-9C41-611F4B1B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Finding оформляет не мнение, а доказательную запись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C016C-159C-4F50-B5CD-6E5A9650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62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Профессиональный отчет должен показывать путь вывода: где обнаружен факт, почему он важен, насколько он надежен и что нужно проверить вручную.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F8D44-7EBC-46BB-A352-A64E269D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Поле 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37AFF-A51F-4A05-9F2B-4DCB2232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57400"/>
            <a:ext cx="3733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Назначение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2F571-617F-4F00-A24F-3A41EB1E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68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Защитная формулировка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40228-5522-4F63-B0E8-BE28310D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61FB8-0729-4C2D-BB77-11005109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38400"/>
            <a:ext cx="3733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адреса, секции, поля, counts, representative RVA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DC1F0-7F6E-414A-B35C-50B018EE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686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показывает, на чем основан вывод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C635C-8DBC-49DD-9302-D7EBAED4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Consequence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D7E68-2478-4478-B049-F3132A12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86100"/>
            <a:ext cx="3733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техническое последствие нарушения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02620-24C5-4C3D-932A-84FAE474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4686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объясняет, что может сломаться в unwinding/analysis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2C557-31CB-4577-B12F-E4BAAAD4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Severity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BC3CE-CE48-4837-84D6-1DACE9B0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33800"/>
            <a:ext cx="3733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существенность проблемы при истинности факта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EB967-ADBE-40FD-A675-740D238A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33800"/>
            <a:ext cx="4686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не равна уверенности и не равна вредоносности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69D74-B701-4BCC-A9AC-2C702C44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60F55-6A82-40E6-8B2D-15FE0C33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81500"/>
            <a:ext cx="3733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надежность установленного наблюдения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A7D98-12BA-484D-BFDA-77EA0F5E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4686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может быть высокой даже при низкой severity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EBC6B6-8D91-42CA-AC06-EE80DD35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Manual steps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0E559-7E4C-444C-BC70-E326D15D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29200"/>
            <a:ext cx="3733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дальнейшая экспертная проверка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1D8C9-B796-4131-B11D-4CB6F8A5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4686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переводит finding в действие реверсера</a:t>
            </a:r>
          </a:p>
        </p:txBody>
      </p:sp>
    </p:spTree>
    <p:extLst>
      <p:ext uri="{BB962C8B-B14F-4D97-AF65-F5344CB8AC3E}">
        <p14:creationId xmlns:p14="http://schemas.microsoft.com/office/powerpoint/2010/main" val="7736023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368F3-657E-49F5-89EF-8A502F24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1C627-9B94-480C-8E97-68BBA96C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DYNAMIC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CEB7A-8858-4E37-A343-BB6A19B3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Динамический слой проверяет только то, что проявилось при запуске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70994-A6A0-43FE-A419-0E73B35D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Static видит файл на диске. Dynamic видит процесс во время исполнения. Поэтому динамика нужна не для замены статического анализа, а для фиксации runtime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296EC-1208-47B3-9C26-97705256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Наблюдение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614BF-D5F2-40B6-8694-B3D63CBD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76450"/>
            <a:ext cx="737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фиксируется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9FF39-85BD-4257-A81C-A4D21975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Exception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28BEF-2357-4E71-944D-A3C13123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57450"/>
            <a:ext cx="737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first/second chance exceptions и статус обработки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3F369-2A0B-48EB-A388-904EACD4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Handler hits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4EB10-5A0A-4826-8DE3-3D155D4D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737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попадания в VEH/VCH/UEF или unwind handler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755E8-0A4F-4B05-BA01-7B1A6348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Dynamic tables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1B1D9-82DB-4808-BD5B-586D8E49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38550"/>
            <a:ext cx="737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RtlAddFunctionTable, RtlInstallFunctionTableCallback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6B399-6991-42C9-A7DC-90649EA1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Trace/context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8A18D-93F8-4349-B850-F8461A77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29100"/>
            <a:ext cx="737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ограниченная привязка runtime-адресов к модулю и RVA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54F64-65C3-4342-B462-73F46888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Completeness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ED035-5BE6-416A-944A-94630447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7372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timeout, dropped events, target exited, unsupported launch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842B7-5CEA-424D-92CC-66173AEC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0550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8C4A0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C4A0F"/>
                </a:solidFill>
                <a:latin typeface="Arial"/>
                <a:ea typeface="Arial"/>
                <a:cs typeface="Arial"/>
              </a:rPr>
              <a:t>Ограничение: отсутствие события в одном запуске не доказывает отсутствие route в программе; оно означает только отсутствие наблюдения в данном сценарии выполнения.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13821978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87F56-8721-4B25-AF98-C2AB2EDF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54AE2-CC19-4937-8345-6CE4BB72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STATIC + DYNAMIC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7CECE-A7CD-4147-B2FB-1CE4578D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Статика и динамика образуют единую доказательную систему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74032-27CB-4CE4-891B-67AE29DA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4300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Корреляция нужна, чтобы не смешивать два вопроса: что обещает файл и что реально произошло в конкретном запуске.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B9EA3-3D5B-4ADB-8A93-310A3737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209E0-B3C1-43B3-8849-9202CDA5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002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Основной вопрос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6BD3B-1173-42D0-8A4D-3F0955B9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432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Тип результата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D8D39-4F2A-4949-95B2-F114EB91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506ED-CDFD-4053-840A-BBDDE13A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1935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какую карту EH/Unwind заявляет PE-файл?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09BA1-1D28-4A4C-8947-BC71600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19350"/>
            <a:ext cx="4324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структурные нарушения, placement, reuse, handler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CE0CF-E6B4-4CAE-9ACF-7E12999D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Dynamic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3CB2A-7377-49E8-AC19-01EFC059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9565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какие exception-related события возникли в процессе?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1BB72-6975-4D9F-A169-803E79DA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95650"/>
            <a:ext cx="4324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exceptions, handler hits, dynamic function table registrations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B8325-B2D4-46DE-ADFE-59A5183C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CE6ED-1E6B-4D20-994A-CF2B5679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7195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усиливают ли runtime-наблюдения статическую гипотезу?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0E8FE-8A98-435D-911E-5653E79F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71950"/>
            <a:ext cx="4324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case_strength, evidence_level, final confidence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2D982-5621-4B11-B8B9-7CDBABF4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91150"/>
            <a:ext cx="962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0D0D9-2108-4E09-8632-1FF354A1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864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Пример логики: static обнаруживает writable/executable metadata и handler context; dynamic дополнительно фиксирует handler hit или RtlAddFunctionTable; итоговая оценка становится сильнее, но не превращается в автоматический verdict о malware.</a:t>
            </a:r>
          </a:p>
        </p:txBody>
      </p:sp>
    </p:spTree>
    <p:extLst>
      <p:ext uri="{BB962C8B-B14F-4D97-AF65-F5344CB8AC3E}">
        <p14:creationId xmlns:p14="http://schemas.microsoft.com/office/powerpoint/2010/main" val="17805908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FC246-DA18-4755-8431-355AC1D6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58BD6-047D-4272-A989-C247A90F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АРТЕФАКТЫ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FF4B8-2475-40E4-8D23-5630AFAB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Отчет и Ghidra-интеграция переводят анализ в работу реверсера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F1FBD-58CF-430D-A7BF-E10EFD3E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Результат проекта рассчитан не на конечного пользователя, а на специалиста: отчет должен сохранять факты, адреса, выводы и точки ручной проверки.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92E49-3AA4-448A-82F5-22B6877B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Формат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0E2BC-346F-46C5-8FE8-E7281198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193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Кому нужен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E1BDF-BD8A-4FDD-9BB5-61427B2E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508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дает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33F5D-4392-487A-B387-40F0CE99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JSON schema 1.2.0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B4BC4-3EE6-4579-8813-F435A616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193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backend, тесты, БД, автоматизация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5D1AF-C025-42C1-9CCE-66897299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19350"/>
            <a:ext cx="508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полная машинно-читаемая модель анализа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F20FA-CF23-435B-A316-38A22543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HTML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F31DA-A449-41E9-977F-A02530A5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реверсер, комиссия, заказчик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A90CB-791B-485A-9AF5-E56915BA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508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читаемое представление findings, секций, функций и dynamic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BF9F9-604D-4C0A-9005-2ABCA7E4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7456C-BABE-4FF2-ADBE-F47449BC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671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табличная проверка и сравнение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1226A-041B-4A0D-80C8-5CC6AC4A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67150"/>
            <a:ext cx="508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сводные данные по функциям, ranges и аномалиям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3A99B-DF9F-4A44-81EE-3DB780A4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Ghidra 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43B04-6AD0-4EC3-8126-CFC8E240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910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ручной reverse engineering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5A66C-E1AE-4816-B1F3-D1A88621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91050"/>
            <a:ext cx="508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перенос ranges, comments, bookmarks и representative RVAs в среду анализа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6DB69-E144-49EC-AC79-1BE99CBC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10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Ghidra-слой не заменяет эксперта: он сокращает путь от отчета к конкретной функции, handler target или подозрительному RVA.</a:t>
            </a:r>
          </a:p>
        </p:txBody>
      </p:sp>
    </p:spTree>
    <p:extLst>
      <p:ext uri="{BB962C8B-B14F-4D97-AF65-F5344CB8AC3E}">
        <p14:creationId xmlns:p14="http://schemas.microsoft.com/office/powerpoint/2010/main" val="5085696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FCF41-2237-4BC3-AF4D-778F5AB0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5FC43-109E-4B1C-8F52-828F8B4D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5AE4D-463C-44F4-9625-657B03A0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Архитектура выбрана как модульный монолит на C17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D06A7-F24E-4DF3-9618-C2344248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Ядро выполняется как CLI-инструмент: один процесс, четко разделенные модули, общий data flow и формализованный отчетный контракт.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A9C0C-7317-42E7-8D6A-C64EFBFA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Модуль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3C7F4-E0AC-479E-BD9B-4EA3C72A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62150"/>
            <a:ext cx="7467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Ответственность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2FB23-1BC3-4C2E-9D62-B549A04A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main.c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66D3C-FB78-42E4-A3AE-AA72C089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24100"/>
            <a:ext cx="746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CLI, параметры запуска, orchestration анализа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23D9E-0FEC-42D0-A0D1-CBC2D56A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pe.c / pe.h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30B46-F7BB-4ECE-8071-0B860769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38450"/>
            <a:ext cx="746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безопасное чтение PE headers, sections, RVA 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BEF56-B116-430A-85B2-A2B0F6EC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unwind.c / unwind.h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D92DF-A7C7-4791-A880-61B5714E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52800"/>
            <a:ext cx="746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разбор RUNTIME_FUNCTION и UNWIND_INFO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3B8EB-291A-4713-B90E-D0974C21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heuristics.c / heuristics.h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B9A14-ACE0-4D3A-AADA-6EFB065E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67150"/>
            <a:ext cx="7467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27 признаков, score, severity, confidence, weakening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308CF-20FB-4E4F-9BAF-AF597218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dynamic_win.c / dynamic.h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8A49F-DCFB-4C63-9A35-5690DAA3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95800"/>
            <a:ext cx="746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Windows Debug API runtime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27398-E409-4DCE-91AA-7479D291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report.c / report.h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A6FBD-5596-4280-861D-465ED742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0150"/>
            <a:ext cx="746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JSON, HTML, CSV, Ghidra CSV, validation contract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F55B7-0879-4435-9A1F-C2E0C432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293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Почему не микросервисы: проект является вычислительным ядром, а не распределенной пользовательской платформой. API/backend/frontend можно строить поверх JSON-выхода, не ломая ядро.</a:t>
            </a:r>
          </a:p>
        </p:txBody>
      </p:sp>
    </p:spTree>
    <p:extLst>
      <p:ext uri="{BB962C8B-B14F-4D97-AF65-F5344CB8AC3E}">
        <p14:creationId xmlns:p14="http://schemas.microsoft.com/office/powerpoint/2010/main" val="6468893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3C6F0D-BC19-4944-8770-6543A86B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90875-8D41-4E1C-BE60-D6B4273B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ТЕХНОЛОГИИ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FAE63-5D3D-4921-AFA1-300D140D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Реализация проверялась на разных уровнях качества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79514-BC1A-4FF4-8F57-0BCEE4DE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144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74C81-63B5-4D97-8B4B-EBD582B0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097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C17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7A6AE-4956-4EF5-8944-7E9F5AE1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основной язык ядра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80ECE-79B6-402B-BBC7-9A2E3B96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3144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7E892-48DC-4750-9DCC-CC4BFBD5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097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7 771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2BFD7-B601-4DBE-9722-8CE9F6EE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097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строк src/include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09A0B-65C1-454E-BB6A-B7E2BEDB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144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63761-A21E-4F18-B827-532E56E8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097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26 340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098AB-6252-4944-96DC-D4FF7BFD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строк тестов и генераторов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F4DA8-C926-40D0-A482-EB98C6AC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3144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A2D55-E136-4487-BD6D-F0189F56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097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1.2.0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7408A-5732-4881-90C7-7DF32F8B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текущая версия JSON schema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E3FF5-744F-4FE0-A965-30825358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Компонент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DCB54-1F01-4C41-A13E-3CC03515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95600"/>
            <a:ext cx="746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Используемые технологии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424E2-7127-4410-8923-8A3A4107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Сборка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F2BD6-FA47-425B-AEEB-753C0A6A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5650"/>
            <a:ext cx="746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CMake, MinGW-w64, MSVC, GCC/Clang-compatible C17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7F2116-5A3B-41F1-B0D0-1415BAE5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Статический анализ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9CD8C-0894-4E63-85ED-38302E9D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43350"/>
            <a:ext cx="746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самостоятельный PE parser, EH/Unwind decoder, эвристический слой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4777CF-2AC3-4F02-92A2-2E6AC3F3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Динамика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4CE29-1AE9-41B2-8529-76B15B14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91050"/>
            <a:ext cx="746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Windows Debug API, VEH/VCH/UEF наблюдения, Rtl*FunctionTable instrumentation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96714-83FF-423B-9E00-CEFA5473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Отчеты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E2FAF-7935-491E-BEF2-02E20E4E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38750"/>
            <a:ext cx="746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JSON, HTML, CSV, Ghidra CSV; устойчивый schema/version contract</a:t>
            </a:r>
          </a:p>
        </p:txBody>
      </p:sp>
    </p:spTree>
    <p:extLst>
      <p:ext uri="{BB962C8B-B14F-4D97-AF65-F5344CB8AC3E}">
        <p14:creationId xmlns:p14="http://schemas.microsoft.com/office/powerpoint/2010/main" val="18969263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677FC1-A20C-4300-A2A2-090F1776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D9620-E6CC-486E-99AB-46A25172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ВАЛИДАЦИЯ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7AFDA-A32B-423A-8A82-61AEE807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Методика тестирования разделяет признаки, тесты и бинарники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66026-88DE-4045-AF6B-3F73F9C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На защите важно не смешивать три разных уровня проверки: эвристические признаки, unit/contract tests и PE-корпус с контролируемыми повреждениями.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93112-6C7D-4779-84C3-86F432E2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Уровень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D534A-9EB9-405D-896A-38F1EE2E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38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Количество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100B3-192B-42ED-90B3-2FFC6F75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603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подтверждает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0BFED-5A32-4DDB-9070-A887F3ED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Признаки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DBA92-6142-43C0-95A9-DB66E0FF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38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27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EAB54-5EEC-4DD3-9DE5-B53690BE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38400"/>
            <a:ext cx="603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модель аномалий и контекстных сигналов EH/Unwind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39D3A-060D-4479-B2CE-2E75D576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CTest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E7099-A85C-469D-B09F-04F59149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16/16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56E3D-9A9C-4203-B7C3-EF336F47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28950"/>
            <a:ext cx="603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корректность модулей, отчетного контракта и ключевых edge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2EC17-94E7-48EF-A8C3-8A0E1D2C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Учебный PE-корпус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A3CD0-C7F6-43A1-91A2-9F91A043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195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78 файлов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5191B-CC44-4858-BBBE-7AA8BFAA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19500"/>
            <a:ext cx="603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демонстрацию static, dynamic и mixed сценариев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A5AED-0846-44F1-B307-E1772A47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Реальный benign corpus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21EBD-B264-4697-B593-6A077033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100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106/106 valid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C74E1-1A01-4461-B9DB-1D14179F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10050"/>
            <a:ext cx="603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отсутствие non-zero heuristic scores на доброкачественных 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B188D-2777-4BBF-AA75-4450AAAE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Dynamic corpus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A382E-4FF3-4BD5-A8DD-4C231FAF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006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124/124 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27F19-3620-4444-8BA4-9BC0E7F5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00600"/>
            <a:ext cx="6038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валидность runtime-отчетов и отсутствие unexpected failures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6CA36-9C78-4CF0-BA4A-5543F6AE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674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По актуальному манифесту учебный корпус: 60 static, 9 dynamic и 9 mixed PE-файлов.</a:t>
            </a:r>
          </a:p>
        </p:txBody>
      </p:sp>
    </p:spTree>
    <p:extLst>
      <p:ext uri="{BB962C8B-B14F-4D97-AF65-F5344CB8AC3E}">
        <p14:creationId xmlns:p14="http://schemas.microsoft.com/office/powerpoint/2010/main" val="10441594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486A11-55F0-4633-B51D-1570F3D7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3ADF1-CA5E-4750-98FB-1ACBCF0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68953-33EE-4ECA-897A-5485A947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Результаты показывают воспроизводимость, но не заявляют ML-точность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CFF47-178B-4B95-91A9-106F07DA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954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3CD55-B544-4E88-96C5-7BC1C99B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906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26B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6B48"/>
                </a:solidFill>
                <a:latin typeface="Arial"/>
                <a:ea typeface="Arial"/>
                <a:cs typeface="Arial"/>
              </a:rPr>
              <a:t>16/16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07703-97FC-4855-8181-A61F0CC9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CTest PASS: MinGW/MSVC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F0263-E0B8-4717-9644-878617B7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2954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DCDA6-B875-4301-AA4F-A04D5FAB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3906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26B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6B48"/>
                </a:solidFill>
                <a:latin typeface="Arial"/>
                <a:ea typeface="Arial"/>
                <a:cs typeface="Arial"/>
              </a:rPr>
              <a:t>14/14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51822-2170-42BF-98C9-0E78DC56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labeled static corpus valid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C3139-BD82-4DA1-9535-766CFC45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2954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78764-E458-4ACC-97CA-1C962DF1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3906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26B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6B48"/>
                </a:solidFill>
                <a:latin typeface="Arial"/>
                <a:ea typeface="Arial"/>
                <a:cs typeface="Arial"/>
              </a:rPr>
              <a:t>106/106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E4FD0-49B0-49AA-9521-1E42A416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907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real benign reports valid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13F5F-72BC-485B-84D0-86767140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2954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CC863-2DAC-4A17-A409-D1FEB38F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906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26B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6B4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C8BF4-8121-4C26-BE19-AB947196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907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benign files with non-zero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640AA-BB23-4DE0-A07B-DB04030D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2954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3217C-871E-4AD3-88F1-7A5073A8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906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26B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6B48"/>
                </a:solidFill>
                <a:latin typeface="Arial"/>
                <a:ea typeface="Arial"/>
                <a:cs typeface="Arial"/>
              </a:rPr>
              <a:t>124/124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41D54-89B5-4BC1-9848-5B101ABC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907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266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6F"/>
                </a:solidFill>
                <a:latin typeface="Arial"/>
                <a:ea typeface="Arial"/>
                <a:cs typeface="Arial"/>
              </a:rPr>
              <a:t>dynamic reports valid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1EC9F-8ADE-4127-B8ED-3B9F94AC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Показатель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75B01-4690-4EBC-AA8D-2AF9C449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19400"/>
            <a:ext cx="737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Интерпретация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86870A-F56D-4798-9E59-566661E6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False positive / false negative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CFD49-ABB7-4247-9FF6-EED4B9AB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7372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применимы только при размеченном ground truth; проект не является ML-классификатором malware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4F235-651B-4B76-B205-E38A0A86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0B551-5766-4B4D-8252-F984B7E3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05250"/>
            <a:ext cx="7372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ограниченная инженерная шкала силы признаков, а не вероятность вредоносности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1636E9-F52A-44DA-8688-862AA506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41F1C0-3A1E-40E6-8C2E-CC78112D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10100"/>
            <a:ext cx="7372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уверенность в наблюдении, основанная на evidence и weakening rules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114F9F-0B7B-485C-AA73-4BC18058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BBDE8B-6FA9-4577-A8C7-D69643AE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14950"/>
            <a:ext cx="7372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проверяет корректность разбора, устойчивость отчетов и ожидаемые срабатывания на контролируемых образцах</a:t>
            </a:r>
          </a:p>
        </p:txBody>
      </p:sp>
    </p:spTree>
    <p:extLst>
      <p:ext uri="{BB962C8B-B14F-4D97-AF65-F5344CB8AC3E}">
        <p14:creationId xmlns:p14="http://schemas.microsoft.com/office/powerpoint/2010/main" val="159462033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8148F-E8B7-438F-A42F-B55AA7B4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61AA1-BCB4-4CCC-B9E8-7694844C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E73AD-CBEE-4512-886F-DDF76DCD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Ограничения сформулированы как границы научной честности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B32B9-1E38-4691-A01F-1AE53680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Ограничение текущей версии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4713C-66AA-4FA8-BCEC-46B39789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2001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Почему это не ломает цель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4FDAB-4E03-495E-853D-9EEC5410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00150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F89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Реалистичное развитие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331C7-B784-44EB-94BB-A26F61AC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2876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нет автоматического UWOP-vs-prolog disassembly 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F6A8E-9949-4B07-AEC9-816CA0B9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00200"/>
            <a:ext cx="382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проект проверяет structural/syntactic/context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54ECF-7522-4E64-BB10-445ED000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002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добавить Capstone/Zydis-модуль для сверки .text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81BD0-6A38-402F-BBCA-AFA8D182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876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нет универсального parser-а language-specific handler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3E124-C5D5-42AA-82D6-7B2D4075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382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формат зависит от runtime и handler-а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BF191-43E2-46D5-B317-5D2C1F74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добавить профили MSVC C SEH / C++ EH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20B5C-6D61-4D1D-9A07-7C83310C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876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dynamic работает только на Windows x64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85976-08A2-4CED-9941-0F997116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43300"/>
            <a:ext cx="382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runtime EH/Unwind-события являются Windows-specific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6ACE3-2CE4-4DF7-A534-6479F6DD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изолированная Windows VM и сценарии запуска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584BE-D600-4FB2-860E-D2CB3BF5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876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не является sandbox/antivirus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8477D-8F0C-40A9-95B8-5B45F32E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14850"/>
            <a:ext cx="382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цель — evidence map для реверсера, не malware verdict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B7EED-AFC7-43C8-897A-D0856645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B9E3E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интеграция с внешним backend/БД/triage 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86536-8C03-4B95-9E06-D37042D7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8B1E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1E2D"/>
                </a:solidFill>
                <a:latin typeface="Arial"/>
                <a:ea typeface="Arial"/>
                <a:cs typeface="Arial"/>
              </a:rPr>
              <a:t>Для анализа вредоносов динамический запуск допустим только в изолированной Windows-среде; сам проект не заменяет песочницу и политику безопасного исполнения.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8481352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F09AF-EF3A-4905-A488-40CCC7AF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AB7"/>
          </a:solidFill>
          <a:ln xmlns:a="http://schemas.openxmlformats.org/drawingml/2006/main" w="0">
            <a:solidFill>
              <a:srgbClr val="16AA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E15D4-9C73-4665-9DBE-5EC98F18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ЗАКЛЮЧЕНИЕ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17FE1-88B7-486B-B796-C7E26EA5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Итог: узкий слой превращен в проверяемый инженерный инструмент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F5DC1-94E5-47D8-B907-AFA5A27A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620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1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02A"/>
                </a:solidFill>
                <a:latin typeface="Arial"/>
                <a:ea typeface="Arial"/>
                <a:cs typeface="Arial"/>
              </a:rPr>
              <a:t>Основной результат работы — специализированное ядро, которое превращает низкоуровневые EH/Unwind-структуры PE x64 в воспроизводимую карту анализа.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04FC7-A053-46CF-8F34-6447C713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14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marL="24" indent="-14" algn="l">
              <a:lnSpc>
                <a:spcPct val="118000"/>
              </a:lnSpc>
              <a:spcAft>
                <a:spcPts val="8"/>
              </a:spcAft>
              <a:buNone/>
              <a:defRPr sz="15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Техническая ценность:</a:t>
            </a:r>
            <a:r>
              <a:rPr sz="15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 автоматизированы проверки, которые вручную требуют PE viewer, hex editor, Ghidra и debugger.</a:t>
            </a:r>
          </a:p>
          <a:p xmlns:a="http://schemas.openxmlformats.org/drawingml/2006/main">
            <a:pPr marL="24" indent="-14" algn="l">
              <a:lnSpc>
                <a:spcPct val="118000"/>
              </a:lnSpc>
              <a:spcAft>
                <a:spcPts val="8"/>
              </a:spcAft>
              <a:buNone/>
              <a:defRPr sz="15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Практическая ценность:</a:t>
            </a:r>
            <a:r>
              <a:rPr sz="15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 реверсер получает адреса, findings, severity/confidence и готовые артефакты для дальнейшей проверки.</a:t>
            </a:r>
          </a:p>
          <a:p xmlns:a="http://schemas.openxmlformats.org/drawingml/2006/main">
            <a:pPr marL="24" indent="-14" algn="l">
              <a:lnSpc>
                <a:spcPct val="118000"/>
              </a:lnSpc>
              <a:spcAft>
                <a:spcPts val="8"/>
              </a:spcAft>
              <a:buNone/>
              <a:defRPr sz="15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Научная ценность:</a:t>
            </a:r>
            <a:r>
              <a:rPr sz="15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 показано, как доверенная Windows x64 EH/Unwind-модель превращается в объект структурной валидации.</a:t>
            </a:r>
          </a:p>
          <a:p xmlns:a="http://schemas.openxmlformats.org/drawingml/2006/main">
            <a:pPr marL="24" indent="-14" algn="l">
              <a:lnSpc>
                <a:spcPct val="118000"/>
              </a:lnSpc>
              <a:spcAft>
                <a:spcPts val="8"/>
              </a:spcAft>
              <a:buNone/>
              <a:defRPr sz="1500" b="0">
                <a:solidFill>
                  <a:srgbClr val="10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Инженерная ценность:</a:t>
            </a:r>
            <a:r>
              <a:rPr sz="1500" b="0">
                <a:solidFill>
                  <a:srgbClr val="10202A"/>
                </a:solidFill>
                <a:latin typeface="Arial"/>
                <a:ea typeface="Arial"/>
                <a:cs typeface="Arial"/>
              </a:rPr>
              <a:t> ядро отделено от будущего backend/frontend: интеграция возможна через JSON/CSV/HTML без переписывания анализатора.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B9C98-EE89-4C90-BEE9-827B794A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38700"/>
            <a:ext cx="904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AFB"/>
          </a:solidFill>
          <a:ln xmlns:a="http://schemas.openxmlformats.org/drawingml/2006/main" w="9525">
            <a:solidFill>
              <a:srgbClr val="DDF5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96FC5-8FEA-4CFB-8ED4-88FEC566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7205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0D7F8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7F89"/>
                </a:solidFill>
                <a:latin typeface="Arial"/>
                <a:ea typeface="Arial"/>
                <a:cs typeface="Arial"/>
              </a:rPr>
              <a:t>Защитная формула: проект не обещает заменить реверсера; он уменьшает ручные ошибки, строит доказательную карту и ускоряет переход к экспертной проверке конкретных адресов.</a:t>
            </a:r>
          </a:p>
        </p:txBody>
      </p:sp>
    </p:spTree>
    <p:extLst>
      <p:ext uri="{BB962C8B-B14F-4D97-AF65-F5344CB8AC3E}">
        <p14:creationId xmlns:p14="http://schemas.microsoft.com/office/powerpoint/2010/main" val="1870500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2026-08-15T19:25:21.6800000Z</dcterms:created>
  <dcterms:modified xsi:type="dcterms:W3CDTF">2026-08-15T19:25:21.6800000Z</dcterms:modified>
</coreProperties>
</file>