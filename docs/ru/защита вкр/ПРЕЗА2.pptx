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e40f6ac6a04398" /><Relationship Type="http://schemas.openxmlformats.org/officeDocument/2006/relationships/extended-properties" Target="/docProps/app.xml" Id="R3cdfbbee024d43e5" /><Relationship Type="http://schemas.openxmlformats.org/officeDocument/2006/relationships/officeDocument" Target="/ppt/presentation.xml" Id="Ra951e75553f14e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2936acdcbf48a6"/>
  </p:sldMasterIdLst>
  <p:notesMasterIdLst>
    <p:notesMasterId xmlns:r="http://schemas.openxmlformats.org/officeDocument/2006/relationships" r:id="R81739fd2576b4e09"/>
  </p:notesMasterIdLst>
  <p:sldIdLst>
    <p:sldId xmlns:r="http://schemas.openxmlformats.org/officeDocument/2006/relationships" id="256" r:id="R68e80e8c11d34835"/>
    <p:sldId xmlns:r="http://schemas.openxmlformats.org/officeDocument/2006/relationships" id="257" r:id="R56fa8a92ea9f4872"/>
    <p:sldId xmlns:r="http://schemas.openxmlformats.org/officeDocument/2006/relationships" id="258" r:id="Re72eeb6fb3194cff"/>
    <p:sldId xmlns:r="http://schemas.openxmlformats.org/officeDocument/2006/relationships" id="259" r:id="Rd6393370f8c44511"/>
    <p:sldId xmlns:r="http://schemas.openxmlformats.org/officeDocument/2006/relationships" id="260" r:id="R41c21ea9d8e14e40"/>
    <p:sldId xmlns:r="http://schemas.openxmlformats.org/officeDocument/2006/relationships" id="261" r:id="R1219e75ca5bd42b3"/>
    <p:sldId xmlns:r="http://schemas.openxmlformats.org/officeDocument/2006/relationships" id="262" r:id="Ra336f9ae06a54b5e"/>
    <p:sldId xmlns:r="http://schemas.openxmlformats.org/officeDocument/2006/relationships" id="263" r:id="Rc94a8c50b46e4502"/>
    <p:sldId xmlns:r="http://schemas.openxmlformats.org/officeDocument/2006/relationships" id="264" r:id="R7b87888179d94976"/>
    <p:sldId xmlns:r="http://schemas.openxmlformats.org/officeDocument/2006/relationships" id="265" r:id="R913407af7acb482d"/>
    <p:sldId xmlns:r="http://schemas.openxmlformats.org/officeDocument/2006/relationships" id="266" r:id="Ra315ea4bcc014b11"/>
    <p:sldId xmlns:r="http://schemas.openxmlformats.org/officeDocument/2006/relationships" id="267" r:id="R8c401aad35f74019"/>
    <p:sldId xmlns:r="http://schemas.openxmlformats.org/officeDocument/2006/relationships" id="268" r:id="R7136572dd16a4237"/>
    <p:sldId xmlns:r="http://schemas.openxmlformats.org/officeDocument/2006/relationships" id="269" r:id="R7eb00bac61a74016"/>
    <p:sldId xmlns:r="http://schemas.openxmlformats.org/officeDocument/2006/relationships" id="270" r:id="R12b67f7570094d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d047e210584d33" /><Relationship Type="http://schemas.openxmlformats.org/officeDocument/2006/relationships/slideMaster" Target="/ppt/slideMasters/slideMaster1.xml" Id="R542936acdcbf48a6" /><Relationship Type="http://schemas.openxmlformats.org/officeDocument/2006/relationships/notesMaster" Target="/ppt/notesMasters/notesMaster1.xml" Id="R81739fd2576b4e09" /><Relationship Type="http://schemas.openxmlformats.org/officeDocument/2006/relationships/presProps" Target="/ppt/presProps.xml" Id="R1d8932a616d9473e" /><Relationship Type="http://schemas.openxmlformats.org/officeDocument/2006/relationships/tableStyles" Target="/ppt/tableStyles.xml" Id="Rb552e1ea4b5d4ae6" /><Relationship Type="http://schemas.openxmlformats.org/officeDocument/2006/relationships/slide" Target="/ppt/slides/slide1.xml" Id="R68e80e8c11d34835" /><Relationship Type="http://schemas.openxmlformats.org/officeDocument/2006/relationships/slide" Target="/ppt/slides/slide2.xml" Id="R56fa8a92ea9f4872" /><Relationship Type="http://schemas.openxmlformats.org/officeDocument/2006/relationships/slide" Target="/ppt/slides/slide3.xml" Id="Re72eeb6fb3194cff" /><Relationship Type="http://schemas.openxmlformats.org/officeDocument/2006/relationships/slide" Target="/ppt/slides/slide4.xml" Id="Rd6393370f8c44511" /><Relationship Type="http://schemas.openxmlformats.org/officeDocument/2006/relationships/slide" Target="/ppt/slides/slide5.xml" Id="R41c21ea9d8e14e40" /><Relationship Type="http://schemas.openxmlformats.org/officeDocument/2006/relationships/slide" Target="/ppt/slides/slide6.xml" Id="R1219e75ca5bd42b3" /><Relationship Type="http://schemas.openxmlformats.org/officeDocument/2006/relationships/slide" Target="/ppt/slides/slide7.xml" Id="Ra336f9ae06a54b5e" /><Relationship Type="http://schemas.openxmlformats.org/officeDocument/2006/relationships/slide" Target="/ppt/slides/slide8.xml" Id="Rc94a8c50b46e4502" /><Relationship Type="http://schemas.openxmlformats.org/officeDocument/2006/relationships/slide" Target="/ppt/slides/slide9.xml" Id="R7b87888179d94976" /><Relationship Type="http://schemas.openxmlformats.org/officeDocument/2006/relationships/slide" Target="/ppt/slides/slide10.xml" Id="R913407af7acb482d" /><Relationship Type="http://schemas.openxmlformats.org/officeDocument/2006/relationships/slide" Target="/ppt/slides/slide11.xml" Id="Ra315ea4bcc014b11" /><Relationship Type="http://schemas.openxmlformats.org/officeDocument/2006/relationships/slide" Target="/ppt/slides/slide12.xml" Id="R8c401aad35f74019" /><Relationship Type="http://schemas.openxmlformats.org/officeDocument/2006/relationships/slide" Target="/ppt/slides/slide13.xml" Id="R7136572dd16a4237" /><Relationship Type="http://schemas.openxmlformats.org/officeDocument/2006/relationships/slide" Target="/ppt/slides/slide14.xml" Id="R7eb00bac61a74016" /><Relationship Type="http://schemas.openxmlformats.org/officeDocument/2006/relationships/slide" Target="/ppt/slides/slide15.xml" Id="R12b67f7570094d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6985fe1ed84c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Defense Teal">
      <a:dk1>
        <a:srgbClr val="000000"/>
      </a:dk1>
      <a:lt1>
        <a:srgbClr val="FFFFFF"/>
      </a:lt1>
      <a:dk2>
        <a:srgbClr val="1F2937"/>
      </a:dk2>
      <a:lt2>
        <a:srgbClr val="D6F4F6"/>
      </a:lt2>
      <a:accent1>
        <a:srgbClr val="16AEB7"/>
      </a:accent1>
      <a:accent2>
        <a:srgbClr val="087982"/>
      </a:accent2>
      <a:accent3>
        <a:srgbClr val="C97A18"/>
      </a:accent3>
      <a:accent4>
        <a:srgbClr val="A62A2F"/>
      </a:accent4>
      <a:accent5>
        <a:srgbClr val="17835B"/>
      </a:accent5>
      <a:accent6>
        <a:srgbClr val="2563EB"/>
      </a:accent6>
      <a:hlink>
        <a:srgbClr val="0F766E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Defense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f7ee2bb2464dda" /><Relationship Type="http://schemas.openxmlformats.org/officeDocument/2006/relationships/notesMaster" Target="/ppt/notesMasters/notesMaster1.xml" Id="R2d806b5e794147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0aa763a58145f8" /><Relationship Type="http://schemas.openxmlformats.org/officeDocument/2006/relationships/notesMaster" Target="/ppt/notesMasters/notesMaster1.xml" Id="Re5e7c6f0aa604d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2b929ffa444fea" /><Relationship Type="http://schemas.openxmlformats.org/officeDocument/2006/relationships/notesMaster" Target="/ppt/notesMasters/notesMaster1.xml" Id="R1797109eae9645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4394c87bb540f2" /><Relationship Type="http://schemas.openxmlformats.org/officeDocument/2006/relationships/notesMaster" Target="/ppt/notesMasters/notesMaster1.xml" Id="R34fbb81fed9643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89e4c0b35c47e7" /><Relationship Type="http://schemas.openxmlformats.org/officeDocument/2006/relationships/notesMaster" Target="/ppt/notesMasters/notesMaster1.xml" Id="Rac62ae74ece649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22fead1e674342" /><Relationship Type="http://schemas.openxmlformats.org/officeDocument/2006/relationships/notesMaster" Target="/ppt/notesMasters/notesMaster1.xml" Id="R73a1ba3ee28a4a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b1830da73f460e" /><Relationship Type="http://schemas.openxmlformats.org/officeDocument/2006/relationships/notesMaster" Target="/ppt/notesMasters/notesMaster1.xml" Id="R01e0db8483d941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944bf3f7144d3c" /><Relationship Type="http://schemas.openxmlformats.org/officeDocument/2006/relationships/notesMaster" Target="/ppt/notesMasters/notesMaster1.xml" Id="R1ee39db5c2c54d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a6e114bf3144f3" /><Relationship Type="http://schemas.openxmlformats.org/officeDocument/2006/relationships/notesMaster" Target="/ppt/notesMasters/notesMaster1.xml" Id="R2dbee246665743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d69d2539184e4c" /><Relationship Type="http://schemas.openxmlformats.org/officeDocument/2006/relationships/notesMaster" Target="/ppt/notesMasters/notesMaster1.xml" Id="R45a6cf01d8f14a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ae05f2e8e24379" /><Relationship Type="http://schemas.openxmlformats.org/officeDocument/2006/relationships/notesMaster" Target="/ppt/notesMasters/notesMaster1.xml" Id="R3ceb5b73683440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2273cc412d40c9" /><Relationship Type="http://schemas.openxmlformats.org/officeDocument/2006/relationships/notesMaster" Target="/ppt/notesMasters/notesMaster1.xml" Id="R48cc517a3dac44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45c8b581684b68" /><Relationship Type="http://schemas.openxmlformats.org/officeDocument/2006/relationships/notesMaster" Target="/ppt/notesMasters/notesMaster1.xml" Id="Rabebd98ed5f047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cd8db05c2c47b4" /><Relationship Type="http://schemas.openxmlformats.org/officeDocument/2006/relationships/notesMaster" Target="/ppt/notesMasters/notesMaster1.xml" Id="R7d96e983058046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404f6409c74919" /><Relationship Type="http://schemas.openxmlformats.org/officeDocument/2006/relationships/notesMaster" Target="/ppt/notesMasters/notesMaster1.xml" Id="R989d494ced4644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dd7f6f1384e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e6daae66124490" /><Relationship Type="http://schemas.openxmlformats.org/officeDocument/2006/relationships/slideLayout" Target="/ppt/slideLayouts/slideLayout1.xml" Id="R8d762be7fec14a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762be7fec14a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Defense Teal">
      <a:dk1>
        <a:srgbClr val="000000"/>
      </a:dk1>
      <a:lt1>
        <a:srgbClr val="FFFFFF"/>
      </a:lt1>
      <a:dk2>
        <a:srgbClr val="1F2937"/>
      </a:dk2>
      <a:lt2>
        <a:srgbClr val="D6F4F6"/>
      </a:lt2>
      <a:accent1>
        <a:srgbClr val="16AEB7"/>
      </a:accent1>
      <a:accent2>
        <a:srgbClr val="087982"/>
      </a:accent2>
      <a:accent3>
        <a:srgbClr val="C97A18"/>
      </a:accent3>
      <a:accent4>
        <a:srgbClr val="A62A2F"/>
      </a:accent4>
      <a:accent5>
        <a:srgbClr val="17835B"/>
      </a:accent5>
      <a:accent6>
        <a:srgbClr val="2563EB"/>
      </a:accent6>
      <a:hlink>
        <a:srgbClr val="0F766E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Defense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73acf8b594864" /><Relationship Type="http://schemas.openxmlformats.org/officeDocument/2006/relationships/notesSlide" Target="/ppt/notesSlides/notesSlide1.xml" Id="Rc7e94070483645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80c31daf74c43" /><Relationship Type="http://schemas.openxmlformats.org/officeDocument/2006/relationships/notesSlide" Target="/ppt/notesSlides/notesSlide2.xml" Id="R1c71c115303145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71498025744d9" /><Relationship Type="http://schemas.openxmlformats.org/officeDocument/2006/relationships/notesSlide" Target="/ppt/notesSlides/notesSlide3.xml" Id="Rc15bb7d61bdf4f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2f8e643e84a48" /><Relationship Type="http://schemas.openxmlformats.org/officeDocument/2006/relationships/notesSlide" Target="/ppt/notesSlides/notesSlide4.xml" Id="R2b08a9667b7744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bf9af52bc402a" /><Relationship Type="http://schemas.openxmlformats.org/officeDocument/2006/relationships/notesSlide" Target="/ppt/notesSlides/notesSlide5.xml" Id="R011b9a2063b347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e3b9ab4014ac3" /><Relationship Type="http://schemas.openxmlformats.org/officeDocument/2006/relationships/notesSlide" Target="/ppt/notesSlides/notesSlide6.xml" Id="Ra9f7733aa9e546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dab092b21434c" /><Relationship Type="http://schemas.openxmlformats.org/officeDocument/2006/relationships/notesSlide" Target="/ppt/notesSlides/notesSlide7.xml" Id="R244460812ab444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1a6c611b44e85" /><Relationship Type="http://schemas.openxmlformats.org/officeDocument/2006/relationships/notesSlide" Target="/ppt/notesSlides/notesSlide8.xml" Id="R3734909d05d943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f218579384a01" /><Relationship Type="http://schemas.openxmlformats.org/officeDocument/2006/relationships/notesSlide" Target="/ppt/notesSlides/notesSlide9.xml" Id="R070d592e63cb43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e582916c54c4e" /><Relationship Type="http://schemas.openxmlformats.org/officeDocument/2006/relationships/notesSlide" Target="/ppt/notesSlides/notesSlide10.xml" Id="Rd34887126d9447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ae1f3a52a45d1" /><Relationship Type="http://schemas.openxmlformats.org/officeDocument/2006/relationships/notesSlide" Target="/ppt/notesSlides/notesSlide11.xml" Id="R2561b508dc9545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7ffc417a943e9" /><Relationship Type="http://schemas.openxmlformats.org/officeDocument/2006/relationships/notesSlide" Target="/ppt/notesSlides/notesSlide12.xml" Id="R51de6f37e83e48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caaf2a27242f1" /><Relationship Type="http://schemas.openxmlformats.org/officeDocument/2006/relationships/notesSlide" Target="/ppt/notesSlides/notesSlide13.xml" Id="R9994e0a1838445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21b33572b4ac1" /><Relationship Type="http://schemas.openxmlformats.org/officeDocument/2006/relationships/notesSlide" Target="/ppt/notesSlides/notesSlide14.xml" Id="R49d9b60a9ece4e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67a1a3acd48b9" /><Relationship Type="http://schemas.openxmlformats.org/officeDocument/2006/relationships/notesSlide" Target="/ppt/notesSlides/notesSlide15.xml" Id="R56be5dec6c7d43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A3A77A-FA7A-4895-80BC-CE4C1C3D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13335">
            <a:solidFill>
              <a:srgbClr val="16AE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64A39-0AB9-4FC6-9634-A98701FF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1333500" cy="6858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16AEB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CAF28-4336-4270-B333-D0FAB16D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906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Разработка программного средства анализа EH/Unwind-метаданных PE32+ AMD64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1DE6A-9B27-4B32-B80F-5E37BAD3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Руководитель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CEC91-46C8-4C52-B4C4-B3960CD1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43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D3806-97E4-45AF-AFAF-68C7567A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Обучающийся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36673-B9F1-4344-BD4C-89F03525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863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____________________________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группа __________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54582-1F58-4CDA-8C4D-C55131D9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981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Екатеринбург, 2026</a:t>
            </a:r>
          </a:p>
        </p:txBody>
      </p:sp>
    </p:spTree>
    <p:extLst>
      <p:ext uri="{BB962C8B-B14F-4D97-AF65-F5344CB8AC3E}">
        <p14:creationId xmlns:p14="http://schemas.microsoft.com/office/powerpoint/2010/main" val="423652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2B5499-77CE-47FF-86B5-F22A1FFA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E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32F15-1DB9-413A-9B78-060EEC96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62DA0-D71E-4292-B7CE-3750CCE5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382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6AE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1A958-AA4F-46DE-B65B-7929FE91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ФИО обучающегося. Разработка программного средства анализа EH/Unwind-метаданных PE32+ AMD64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5C173-D4ED-4115-AD07-577B981C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343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250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AC118-3D4F-4140-85CE-26900EE3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 PE-файлах Windows есть служебный слой, который описывает функции, обработчики исключений и правила восстановления стека. Если этот слой поврежден или намеренно изменен, ручной анализ становится медленным и рискованным.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A60D4-E125-4326-A065-3C8B7100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C05E8-A976-4719-B13B-B917A03B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57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13335">
            <a:solidFill>
              <a:srgbClr val="16AE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DDC38-DE75-4FDF-A2E4-FEEBD851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2575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665F2-FDC4-463F-A1CD-33E9A0F0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28975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Обычный вид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4475F-E799-4C99-8237-E05F34B1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24275"/>
            <a:ext cx="2266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заголовки,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секции,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импорт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20474-8171-4D69-8E81-8ED16A10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00375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49EC3-826B-4CEB-8CE9-6C8B7F41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00375"/>
            <a:ext cx="457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A18"/>
          </a:solidFill>
          <a:ln xmlns:a="http://schemas.openxmlformats.org/drawingml/2006/main" w="13335">
            <a:solidFill>
              <a:srgbClr val="C97A1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A7928-55F8-441A-88BE-019FA9B6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575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3D86E-D734-411C-8825-6D8881CD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228975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97A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7A18"/>
                </a:solidFill>
                <a:latin typeface="Arial"/>
                <a:ea typeface="Arial"/>
                <a:cs typeface="Arial"/>
              </a:rPr>
              <a:t>Скрытый слой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BE9EB-B3FE-4980-A2F5-15BA2D25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724275"/>
            <a:ext cx="2266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.pdata и .xdata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могут быть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искажены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4735ED-ECBB-44E6-BFDE-AF9BA7F6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3A743-7AC5-439F-93DA-BC72578D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457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2A2F"/>
          </a:solidFill>
          <a:ln xmlns:a="http://schemas.openxmlformats.org/drawingml/2006/main" w="13335">
            <a:solidFill>
              <a:srgbClr val="A62A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5F846-8C83-4EF1-9325-5D15DE76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2575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9E92D4-3141-40E7-8EA9-43526E5F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28975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A62A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62A2F"/>
                </a:solidFill>
                <a:latin typeface="Arial"/>
                <a:ea typeface="Arial"/>
                <a:cs typeface="Arial"/>
              </a:rPr>
              <a:t>Риск ошибки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E8164-A434-4560-BE7C-8F05BD18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24275"/>
            <a:ext cx="2266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границы функций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проверяются вручную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F5D75C-0E8D-417C-99EC-FBFBE448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14950"/>
            <a:ext cx="948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0879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982"/>
                </a:solidFill>
                <a:latin typeface="Arial"/>
                <a:ea typeface="Arial"/>
                <a:cs typeface="Arial"/>
              </a:rPr>
              <a:t>Задача проекта - превратить низкоуровневые метаданные в понятный проверяемый отчет.</a:t>
            </a:r>
          </a:p>
        </p:txBody>
      </p:sp>
    </p:spTree>
    <p:extLst>
      <p:ext uri="{BB962C8B-B14F-4D97-AF65-F5344CB8AC3E}">
        <p14:creationId xmlns:p14="http://schemas.microsoft.com/office/powerpoint/2010/main" val="15319813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998A25-5B45-4D81-AB7C-D4CF9D19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E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54A5E-97B2-4B31-9B4F-8D013040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Актуальность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7E371-DC36-4938-9EE4-8920F8EC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382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6AE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1AF0A-9D4E-4190-A331-163E6ED2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ФИО обучающегося. Разработка программного средства анализа EH/Unwind-метаданных PE32+ AMD64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84EB6-4B10-4A2D-8F89-47746BA0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343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250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297EE-21FC-4D93-8806-CA1D588A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Большинство средств показывает общую структуру файла или поведение процесса. Отдельная проверка EH/Unwind-метаданных обычно остается ручной работой специалиста.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903203CB-25B2-4B55-BCB6-FA4E7927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574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0">
            <a:solidFill>
              <a:srgbClr val="16AE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48E64-A70D-43A6-B0FD-500A800A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таблица .pdata задает диапазоны функций в 64-разрядном PE-файле;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51DD38F1-2336-4428-9173-B9444137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0">
            <a:solidFill>
              <a:srgbClr val="16AE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223D6-ADE3-416F-ADBC-38FF7346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структуры .xdata описывают правила восстановления стека;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F91C4224-6E1C-4BBC-8FBA-3D3EF501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147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0">
            <a:solidFill>
              <a:srgbClr val="16AE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51225-CD6D-4E60-8330-6ADB0026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поврежденные диапазоны и нетипичные секции требуют явной проверки;</a:t>
            </a:r>
          </a:p>
        </p:txBody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1DF7C147-2D61-4528-A6A5-95BF4125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0">
            <a:solidFill>
              <a:srgbClr val="16AE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2E3E8-778E-4E87-8A28-C03A2FB2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577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VEH, VCH, UEF и runtime function tables проявляются во время выполнения.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81380B-BD0D-4E3A-9859-ECB55CE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8798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982"/>
                </a:solidFill>
                <a:latin typeface="Arial"/>
                <a:ea typeface="Arial"/>
                <a:cs typeface="Arial"/>
              </a:rPr>
              <a:t>EH/Unwind Analyzer соединяет статическую структуру файла и динамические события Windows в одном воспроизводимом результате.</a:t>
            </a:r>
          </a:p>
        </p:txBody>
      </p:sp>
    </p:spTree>
    <p:extLst>
      <p:ext uri="{BB962C8B-B14F-4D97-AF65-F5344CB8AC3E}">
        <p14:creationId xmlns:p14="http://schemas.microsoft.com/office/powerpoint/2010/main" val="10429432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7B7FB9-3362-41FE-9B52-8F516887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E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AC2D0-A3C3-422B-939C-D2C76367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Цель и задачи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F2E83-8E5B-4B12-B0B5-CFB370AB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382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6AE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2112A-5C90-4AEE-BD1D-E5C02DF2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ФИО обучающегося. Разработка программного средства анализа EH/Unwind-метаданных PE32+ AMD64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F0275-FC66-48ED-BB50-EAD8F2B2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343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250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EFED4-32C9-4003-B24D-1194ACDE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Цель работы: разработать программное средство, которое автоматически извлекает EH/Unwind-метаданные, выявляет аномалии и формирует отчеты для дальнейшей ручной проверки.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450CC-258D-483B-A234-56D77E24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619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630AF-58A5-4563-B5BB-CE60D70A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590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13335">
            <a:solidFill>
              <a:srgbClr val="16AE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255D6-E029-481C-90BC-80D88942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765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05FF4-4E6F-4AB7-8F7F-4B877B9E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384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изучить PE32+ AMD64 и EH/Unwind-структуры;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32E02-862A-4E59-9CB6-E6310185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667000"/>
            <a:ext cx="4619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05BD6-AAC2-440F-8344-768F96CD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667000"/>
            <a:ext cx="590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13335">
            <a:solidFill>
              <a:srgbClr val="16AE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CF29C-04A5-4CB3-A141-99CB4CB6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765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C855-C4A5-42D2-86AD-0371FE6E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8384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спроектировать архитектуру и модель отчета;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DCED5-9FDB-46F1-9A7A-3BB03F6F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4619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8AC71-A2A2-43B7-BF1F-6F3ACC1E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590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13335">
            <a:solidFill>
              <a:srgbClr val="16AE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FD140-66FC-4E4A-AB72-6C11A060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3D047-EA23-4D83-B15A-3063BD97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862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реализовать парсер, эвристики и динамический сбор;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BECB95-8FC8-47C8-B43B-BC809274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714750"/>
            <a:ext cx="4619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1708CA-D252-485E-B515-CB32C0EA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714750"/>
            <a:ext cx="590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13335">
            <a:solidFill>
              <a:srgbClr val="16AEB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A0F47A-9AB3-41B6-B663-F3A8C367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92430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3986AA-606D-4DAF-B4CA-540D50A3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8862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подготовить JSON, HTML, CSV и Ghidra CSV;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55DB0C-CCAC-42A5-BCC8-EB034BBC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DFB86F-A04E-4DF0-A62D-790881D7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590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35B"/>
          </a:solidFill>
          <a:ln xmlns:a="http://schemas.openxmlformats.org/drawingml/2006/main" w="13335">
            <a:solidFill>
              <a:srgbClr val="1783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B0A52C-8FD1-4027-A998-6DAFFC6E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7E8A4F-9479-4FB9-B443-7B25A9BE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339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проверить работу на тестах, образцах и реальных PE.</a:t>
            </a:r>
          </a:p>
        </p:txBody>
      </p:sp>
    </p:spTree>
    <p:extLst>
      <p:ext uri="{BB962C8B-B14F-4D97-AF65-F5344CB8AC3E}">
        <p14:creationId xmlns:p14="http://schemas.microsoft.com/office/powerpoint/2010/main" val="9945965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B6A7D7-D3CF-4433-AACA-7533B034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E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04384-E946-4A4F-8D3C-637747D3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Требования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858E0-C3EC-4BD7-8C31-E66E055A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382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6AE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2858A-4CE8-4CAB-8F4F-B4ED9EB7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ФИО обучающегося. Разработка программного средства анализа EH/Unwind-метаданных PE32+ AMD64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1E4D2-BA2E-4BF2-A6E7-B42D2E32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343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250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C152D-B3C6-4DD0-82C2-558DAFC7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19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Основное требование - анализировать недоверенные PE-файлы так, чтобы вывод был воспроизводимым и пригодным для проверки вручную.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A56EB-FEA9-4759-8F23-3A220692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43200"/>
            <a:ext cx="3238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6DEFC-EC9D-4557-96DA-8129F2DF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43200"/>
            <a:ext cx="457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13335">
            <a:solidFill>
              <a:srgbClr val="16AE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62725-F08C-4FCF-816B-90F7B41B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03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A5EF5-EDFA-450C-BF11-1BF1473E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9718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D2635-F568-4213-9D74-ED96786A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4671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статический режим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без запуска файла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5F3D3-8255-447A-A557-1B7F091C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3238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2D95D-F090-4789-BA87-11F31491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457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35B"/>
          </a:solidFill>
          <a:ln xmlns:a="http://schemas.openxmlformats.org/drawingml/2006/main" w="13335">
            <a:solidFill>
              <a:srgbClr val="1783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15802-B6FB-4ABA-90FE-7D1AAE0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003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66FAFF-6197-44E5-A2BA-0036E623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718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83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835B"/>
                </a:solidFill>
                <a:latin typeface="Arial"/>
                <a:ea typeface="Arial"/>
                <a:cs typeface="Arial"/>
              </a:rPr>
              <a:t>Корректность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1DE80-1A39-4A00-8068-C196EB4C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671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причина ошибки,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RVA и контекст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B462F-5DD8-419F-B892-80143CEB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43200"/>
            <a:ext cx="3238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27EB02-C7AD-4D2D-8A79-5F7157CF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43200"/>
            <a:ext cx="457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2A2F"/>
          </a:solidFill>
          <a:ln xmlns:a="http://schemas.openxmlformats.org/drawingml/2006/main" w="13335">
            <a:solidFill>
              <a:srgbClr val="A62A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2CD14-55C1-4D13-BD73-E3FDB44B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03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67FDB4-8F9E-4178-8099-14AB2C75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718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A62A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62A2F"/>
                </a:solidFill>
                <a:latin typeface="Arial"/>
                <a:ea typeface="Arial"/>
                <a:cs typeface="Arial"/>
              </a:rPr>
              <a:t>Ограничения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C61648-C398-46BC-A8EF-A306774C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671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dynamic только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Windows x64 + VM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1DAD80-ECE2-441E-AA47-443241D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Нефункциональные требования: сборка разными компиляторами, проверяемые отчеты, сохранение исходных фактов без скрытой интерпретации.</a:t>
            </a:r>
          </a:p>
        </p:txBody>
      </p:sp>
    </p:spTree>
    <p:extLst>
      <p:ext uri="{BB962C8B-B14F-4D97-AF65-F5344CB8AC3E}">
        <p14:creationId xmlns:p14="http://schemas.microsoft.com/office/powerpoint/2010/main" val="15634111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4C60C1-5539-4DB4-A39F-6BC1A6F4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E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DE355-9842-4580-94D7-C62B1A34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Анализ средств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EE17E-BBA6-459F-A808-5B685FFD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382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6AE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2B883-1D4F-45F2-915B-00654FFD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ФИО обучающегося. Разработка программного средства анализа EH/Unwind-метаданных PE32+ AMD64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EA803-BBE9-44E6-8D40-C05CCA9D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343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250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26D30-C093-48A2-A8E3-3B00A853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Проект не заменяет универсальные платформы реверса. Он закрывает узкую задачу: автоматически подготовить факты по .pdata/.xdata для последующей проверки.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81F5D-EFCB-4794-A576-E142863D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0439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97F0C-FB12-4CD7-A75C-6F2C200C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81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8798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982"/>
                </a:solidFill>
                <a:latin typeface="Arial"/>
                <a:ea typeface="Arial"/>
                <a:cs typeface="Arial"/>
              </a:rPr>
              <a:t>IDA / Ghidra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17066-C2CE-4E9B-B96D-830D1E4E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81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сильны в интерактивном анализе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ED60A-4CC4-420E-AEFD-07B8228C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813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A62A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62A2F"/>
                </a:solidFill>
                <a:latin typeface="Arial"/>
                <a:ea typeface="Arial"/>
                <a:cs typeface="Arial"/>
              </a:rPr>
              <a:t>нет готового отчета по EH/Unwind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E95DB-6C80-4C26-8674-DA32D1ED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10439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E3AFE-5829-4C3B-A83D-AF8F7CC2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76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8798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982"/>
                </a:solidFill>
                <a:latin typeface="Arial"/>
                <a:ea typeface="Arial"/>
                <a:cs typeface="Arial"/>
              </a:rPr>
              <a:t>x64dbg / WinDbg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AC0CF-5D22-4CA9-A1B8-737BBFD0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766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показывают выполнение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8EAF2-B613-4BEB-96D6-4DA11EE1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76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A62A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62A2F"/>
                </a:solidFill>
                <a:latin typeface="Arial"/>
                <a:ea typeface="Arial"/>
                <a:cs typeface="Arial"/>
              </a:rPr>
              <a:t>сессия зависит от конкретного запуска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9CDB5-8336-42FB-AB37-318D585B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10439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FBA3A-98C7-4B52-BD9A-99C8E495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72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8798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982"/>
                </a:solidFill>
                <a:latin typeface="Arial"/>
                <a:ea typeface="Arial"/>
                <a:cs typeface="Arial"/>
              </a:rPr>
              <a:t>capa / RetDec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C3E40E-983F-445C-8F10-EA563C83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72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помогают понять код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9E77E-61B6-4EAB-84E2-38235DD3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A62A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62A2F"/>
                </a:solidFill>
                <a:latin typeface="Arial"/>
                <a:ea typeface="Arial"/>
                <a:cs typeface="Arial"/>
              </a:rPr>
              <a:t>не проверяют unwind-инварианты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E32425-7BF8-4418-AF81-C73108EB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67350"/>
            <a:ext cx="975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8798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982"/>
                </a:solidFill>
                <a:latin typeface="Arial"/>
                <a:ea typeface="Arial"/>
                <a:cs typeface="Arial"/>
              </a:rPr>
              <a:t>Вывод: анализатор формирует воспроизводимые данные, которые удобно открыть в Ghidra, IDA, Binary Ninja или отладчике.</a:t>
            </a:r>
          </a:p>
        </p:txBody>
      </p:sp>
    </p:spTree>
    <p:extLst>
      <p:ext uri="{BB962C8B-B14F-4D97-AF65-F5344CB8AC3E}">
        <p14:creationId xmlns:p14="http://schemas.microsoft.com/office/powerpoint/2010/main" val="508717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EDFA6D-7E46-4646-A9DA-F8B2B311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E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E3F0C-1353-4979-8ACD-22B7A951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Архитектура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E5546-17EF-47B3-AA56-1D225412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382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6AE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C8ADE-83E1-454A-B9D4-D4B600D3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ФИО обучающегося. Разработка программного средства анализа EH/Unwind-метаданных PE32+ AMD64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3B9DC-2875-4B7A-872B-4053367D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343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250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8A898-7E76-4905-ACC1-67B024C8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Внутри инструмент построен как последовательный конвейер. Каждый модуль добавляет свой слой фактов и не скрывает ошибки предыдущего этапа.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BB52D-2EED-464D-B7C3-5AFAE84D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924050" cy="781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0">
            <a:solidFill>
              <a:srgbClr val="16AEB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PE-парсер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94EEA-906B-4A1E-8408-40A5069E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00375"/>
            <a:ext cx="1924050" cy="781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0">
            <a:solidFill>
              <a:srgbClr val="16AEB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Unwind-декодер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FA8E9-BE26-46CA-883C-29D9177D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0375"/>
            <a:ext cx="1924050" cy="781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A18"/>
          </a:solidFill>
          <a:ln xmlns:a="http://schemas.openxmlformats.org/drawingml/2006/main" w="0">
            <a:solidFill>
              <a:srgbClr val="C97A1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Эвристики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126D5-5044-4B94-9368-7548EDDA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00375"/>
            <a:ext cx="1924050" cy="781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0">
            <a:solidFill>
              <a:srgbClr val="16AEB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Динамика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BF3FA-AFE8-43EA-ADF5-14EEC599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0375"/>
            <a:ext cx="1924050" cy="781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0">
            <a:solidFill>
              <a:srgbClr val="16AEB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Отчеты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87052-068D-421A-A280-DC1FBF32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998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src/pe.c -&gt; src/unwind.c -&gt; src/heuristics.c -&gt; src/dynamic_win.c -&gt; src/report.c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81E7C-C2EE-4CB8-8CEC-3084A2B4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967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8798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982"/>
                </a:solidFill>
                <a:latin typeface="Arial"/>
                <a:ea typeface="Arial"/>
                <a:cs typeface="Arial"/>
              </a:rPr>
              <a:t>Такое разделение упрощает защиту: можно показать путь от байтов PE-файла до JSON/HTML-отчета и ручной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5643968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9030A6-67ED-43FC-A16D-D9F80056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E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948C9-5EC2-4D8C-86E1-7472642E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Статический анализ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E9ABD-2E70-4FBA-AD8F-087747F2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382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6AE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F07C1-C6B3-4E26-BF43-F5B37027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ФИО обучающегося. Разработка программного средства анализа EH/Unwind-метаданных PE32+ AMD64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BF4EB-9B56-47CE-B818-967AFDDB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343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250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51F43-CEB0-4659-B0E7-8F862228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Статический режим читает PE-файл без запуска и строит модель EH/Unwind-слоя.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0D457-FA4D-41B6-85D4-CAB1464D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09875"/>
            <a:ext cx="2095500" cy="819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0">
            <a:solidFill>
              <a:srgbClr val="16AEB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.pdata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6C567-96F9-4DFE-A7C8-77A03C22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2714625" cy="819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835B"/>
          </a:solidFill>
          <a:ln xmlns:a="http://schemas.openxmlformats.org/drawingml/2006/main" w="0">
            <a:solidFill>
              <a:srgbClr val="1783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RUNTIME_FUNCTION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220CC-9EEA-46AD-96CA-029AD03B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09875"/>
            <a:ext cx="2381250" cy="819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A18"/>
          </a:solidFill>
          <a:ln xmlns:a="http://schemas.openxmlformats.org/drawingml/2006/main" w="0">
            <a:solidFill>
              <a:srgbClr val="C97A1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UNWIND_INFO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3BFBD-CD9A-49AA-BC80-6397BD34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09875"/>
            <a:ext cx="1524000" cy="819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62A2F"/>
          </a:solidFill>
          <a:ln xmlns:a="http://schemas.openxmlformats.org/drawingml/2006/main" w="0">
            <a:solidFill>
              <a:srgbClr val="A62A2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Finding</a:t>
            </a:r>
          </a:p>
        </p:txBody>
      </p:sp>
      <p:sp>
        <p:nvSpPr>
          <p:cNvPr id="11" name="bullet-1">
            <a:extLst xmlns:a="http://schemas.openxmlformats.org/drawingml/2006/main">
              <a:ext uri="{FF2B5EF4-FFF2-40B4-BE49-F238E27FC236}">
                <a16:creationId xmlns:a16="http://schemas.microsoft.com/office/drawing/2014/main" id="{44367871-371D-4226-9EEF-D5290534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481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0">
            <a:solidFill>
              <a:srgbClr val="16AE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C9198-5BBC-4D53-8C22-04453259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62450"/>
            <a:ext cx="971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проверка заголовков, секций, RVA и каталога исключений;</a:t>
            </a:r>
          </a:p>
        </p:txBody>
      </p:sp>
      <p:sp>
        <p:nvSpPr>
          <p:cNvPr id="13" name="bullet-2">
            <a:extLst xmlns:a="http://schemas.openxmlformats.org/drawingml/2006/main">
              <a:ext uri="{FF2B5EF4-FFF2-40B4-BE49-F238E27FC236}">
                <a16:creationId xmlns:a16="http://schemas.microsoft.com/office/drawing/2014/main" id="{CB029B80-005C-4C31-98E9-A2D70408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006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0">
            <a:solidFill>
              <a:srgbClr val="16AE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06CD8-CCA2-4F3F-B31F-75E11E22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14900"/>
            <a:ext cx="971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декодирование операций раскрутки, handler tail и chained records;</a:t>
            </a:r>
          </a:p>
        </p:txBody>
      </p:sp>
      <p:sp>
        <p:nvSpPr>
          <p:cNvPr id="15" name="bullet-3">
            <a:extLst xmlns:a="http://schemas.openxmlformats.org/drawingml/2006/main">
              <a:ext uri="{FF2B5EF4-FFF2-40B4-BE49-F238E27FC236}">
                <a16:creationId xmlns:a16="http://schemas.microsoft.com/office/drawing/2014/main" id="{B1222AA4-8775-4D86-8D6C-D6840D6B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530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0">
            <a:solidFill>
              <a:srgbClr val="16AE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54F0E-43D4-45ED-B1B6-759BA7EE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67350"/>
            <a:ext cx="971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точное сохранение причины parse failure для каждой функции.</a:t>
            </a:r>
          </a:p>
        </p:txBody>
      </p:sp>
    </p:spTree>
    <p:extLst>
      <p:ext uri="{BB962C8B-B14F-4D97-AF65-F5344CB8AC3E}">
        <p14:creationId xmlns:p14="http://schemas.microsoft.com/office/powerpoint/2010/main" val="3483767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D348A8-60A9-4239-AF9E-C909AC0B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E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B6C50-D97D-4CFD-9AE0-59E1FFA2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Эвристики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DE599-4E7F-4382-9C17-7C24BD66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382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6AE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892DA-F9BD-4FAF-A8B1-B80A3004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ФИО обучающегося. Разработка программного средства анализа EH/Unwind-метаданных PE32+ AMD64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4E44B-130B-4CEF-BB6C-AE8CD182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343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250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E632A-0573-4E84-B3ED-80BE2F7D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Оценка подозрительности - это triage-подсказка, а не автоматический вывод о вредоносности файла.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6DA9A-8793-45C6-9C60-17445B90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241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2AAD1-18F0-4929-8326-1D7C8DA9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8765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0..100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65C1D-5202-49F4-9187-E025786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448050"/>
            <a:ext cx="203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23FA6-215A-4F3E-9E20-0E69C70B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14103-5B80-4835-B7CD-5E8119B7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765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C97A1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C97A18"/>
                </a:solidFill>
                <a:latin typeface="Arial"/>
                <a:ea typeface="Arial"/>
                <a:cs typeface="Arial"/>
              </a:rPr>
              <a:t>families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3667B-23D3-4AFB-BEF3-3863E677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48050"/>
            <a:ext cx="203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семейства признаков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EC82F-828C-474B-BCD5-697E70AF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241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86B37-F435-4293-A350-D382925D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765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17835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835B"/>
                </a:solidFill>
                <a:latin typeface="Arial"/>
                <a:ea typeface="Arial"/>
                <a:cs typeface="Arial"/>
              </a:rPr>
              <a:t>manual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E18A0-B651-41BB-A20F-91161528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448050"/>
            <a:ext cx="203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шаги ручной проверки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2107E4-F466-493B-A7D6-F75C8403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93595-84F4-4553-9E6A-14463E24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765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A62A2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62A2F"/>
                </a:solidFill>
                <a:latin typeface="Arial"/>
                <a:ea typeface="Arial"/>
                <a:cs typeface="Arial"/>
              </a:rPr>
              <a:t>correlation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B5162-86A5-4B4D-B30A-9DE255CB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48050"/>
            <a:ext cx="203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связь static и dynamic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AA7F3-7913-4A09-A87B-4B78BA34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76850"/>
            <a:ext cx="967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8798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982"/>
                </a:solidFill>
                <a:latin typeface="Arial"/>
                <a:ea typeface="Arial"/>
                <a:cs typeface="Arial"/>
              </a:rPr>
              <a:t>Отчет объясняет, где найден признак, почему он важен и что нужно проверить в дизассемблере или отладчике.</a:t>
            </a:r>
          </a:p>
        </p:txBody>
      </p:sp>
    </p:spTree>
    <p:extLst>
      <p:ext uri="{BB962C8B-B14F-4D97-AF65-F5344CB8AC3E}">
        <p14:creationId xmlns:p14="http://schemas.microsoft.com/office/powerpoint/2010/main" val="4625634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E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179B8A-6407-454E-A800-BD5DD012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E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716C2-625B-42A8-B2C2-75F2C298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Динамика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05111-71C2-46E0-AD44-EE2FC058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382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6AE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5DFEF-000E-4118-BC59-22B80605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ФИО обучающегося. Разработка программного средства анализа EH/Unwind-метаданных PE32+ AMD64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5C331-8E8C-43A0-BF95-C4B3ABFB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343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250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5D88F-546D-4BA0-9B98-3500D422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Динамический режим запускает цель под Windows Debug API и собирает события, которые статически можно только предположить.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F2C82-55BA-4321-AB1E-11C9C038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3095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90E50-A686-4435-8C6B-E44B74FB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457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13335">
            <a:solidFill>
              <a:srgbClr val="16AE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A5BDD-A3BD-435E-9E4A-0630709E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0384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A0917-21B4-47C3-8F47-03893EA7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09900"/>
            <a:ext cx="2219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Что видно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F30A2-F7F1-4522-BE26-3A0D185D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22193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exceptions,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handler hits,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VEH/VCH/UEF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FE441-102C-4673-B1DF-D403B6C8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3095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D1502-5031-4CDF-8504-7227C8E1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457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35B"/>
          </a:solidFill>
          <a:ln xmlns:a="http://schemas.openxmlformats.org/drawingml/2006/main" w="13335">
            <a:solidFill>
              <a:srgbClr val="1783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844AD4-5498-489D-8016-D2A0AE9F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384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28EDE-462B-400D-A0A5-FCB20684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09900"/>
            <a:ext cx="2219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83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835B"/>
                </a:solidFill>
                <a:latin typeface="Arial"/>
                <a:ea typeface="Arial"/>
                <a:cs typeface="Arial"/>
              </a:rPr>
              <a:t>Как собирается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31870A-68FD-402E-803E-B1B47F99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05200"/>
            <a:ext cx="22193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debug loop,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breakpoints,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timeline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34AF7-4D14-44E0-9706-BFC6DBDF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095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B0CC9-75F4-47F5-8BE6-7BED8E66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457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A18"/>
          </a:solidFill>
          <a:ln xmlns:a="http://schemas.openxmlformats.org/drawingml/2006/main" w="13335">
            <a:solidFill>
              <a:srgbClr val="C97A1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6167E-83D0-4AB4-A661-13AB65A9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0384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9F66CE-5345-473B-816B-3E09800C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219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97A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7A18"/>
                </a:solidFill>
                <a:latin typeface="Arial"/>
                <a:ea typeface="Arial"/>
                <a:cs typeface="Arial"/>
              </a:rPr>
              <a:t>Как проверяется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0B21D9-4B2A-4C31-96B6-7BC15F95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05200"/>
            <a:ext cx="22193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timeouts,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dropped events,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статус запуска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57596B-0278-41C7-A7B5-2D44EF24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5780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A62A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62A2F"/>
                </a:solidFill>
                <a:latin typeface="Arial"/>
                <a:ea typeface="Arial"/>
                <a:cs typeface="Arial"/>
              </a:rPr>
              <a:t>Важно: неизвестные файлы запускаются только в изолированной Windows x64 VM.</a:t>
            </a:r>
          </a:p>
        </p:txBody>
      </p:sp>
    </p:spTree>
    <p:extLst>
      <p:ext uri="{BB962C8B-B14F-4D97-AF65-F5344CB8AC3E}">
        <p14:creationId xmlns:p14="http://schemas.microsoft.com/office/powerpoint/2010/main" val="16484622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E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EB2F4B-0630-40D5-9F88-EC50DD57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E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976E4-3106-44BB-A33D-6042244A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Отчеты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73D0D-142C-484D-BAE6-F50509FE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382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6AE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9BAAC-60FE-4D67-B6F7-284A338C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ФИО обучающегося. Разработка программного средства анализа EH/Unwind-метаданных PE32+ AMD64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65E60-7C05-49AD-B383-B9F6F893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343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250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3D310-5541-4B53-82DD-DED02F07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Один запуск может создать несколько форматов вывода: для чтения человеком, автоматической проверки и импорта в Ghidra.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8D4EA-7943-4D7C-A104-5C033063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1D31C-E958-4D47-B983-BAB956AB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45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13335">
            <a:solidFill>
              <a:srgbClr val="16AE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08CFF-F0A5-497D-B6D3-4A919510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87655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HTML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55F07-C0F8-4EBE-9A26-CE90192F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371850"/>
            <a:ext cx="36957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самодостаточная страница отчета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5C3EA-4B4E-4900-8788-0D1B12FF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47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355D7-A952-4485-B4FC-F5B07601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47950"/>
            <a:ext cx="45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13335">
            <a:solidFill>
              <a:srgbClr val="16AE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4338F-5A05-4AAF-8299-960D9133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87655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D4BAB-C9EF-420A-A198-EF249FEE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371850"/>
            <a:ext cx="36957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полная модель и 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3BFB7-9CFF-4917-AFFE-ACED1C55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8620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BA4FA9-EFDD-4296-B568-3CD928EC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86200"/>
            <a:ext cx="45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13335">
            <a:solidFill>
              <a:srgbClr val="16AE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95F82-1B33-422B-9F5E-FBCA5412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11480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CSV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12FB42-3E95-4A59-8C1C-F7D7D3B6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610100"/>
            <a:ext cx="36957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таблица функций и unwind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3E826B-186C-4047-BD5B-01B19796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8620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EE1C6-609F-4C49-AFC8-166F7DB1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86200"/>
            <a:ext cx="45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35B"/>
          </a:solidFill>
          <a:ln xmlns:a="http://schemas.openxmlformats.org/drawingml/2006/main" w="13335">
            <a:solidFill>
              <a:srgbClr val="1783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5E124D-A1BA-44BD-8DB9-FF525875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11480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83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835B"/>
                </a:solidFill>
                <a:latin typeface="Arial"/>
                <a:ea typeface="Arial"/>
                <a:cs typeface="Arial"/>
              </a:rPr>
              <a:t>Ghidra CSV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C2A887-38B1-4D13-8BCA-CE25149C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610100"/>
            <a:ext cx="36957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диапазоны, имена, комментарии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369101-FD7C-4CE6-9DAF-6D4AE9A3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67350"/>
            <a:ext cx="998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8798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982"/>
                </a:solidFill>
                <a:latin typeface="Arial"/>
                <a:ea typeface="Arial"/>
                <a:cs typeface="Arial"/>
              </a:rPr>
              <a:t>Ghidra workflow: создать CSV -&gt; добавить папку ghidra/ в Script Manager -&gt; запустить import_unwind_csv.py.</a:t>
            </a:r>
          </a:p>
        </p:txBody>
      </p:sp>
    </p:spTree>
    <p:extLst>
      <p:ext uri="{BB962C8B-B14F-4D97-AF65-F5344CB8AC3E}">
        <p14:creationId xmlns:p14="http://schemas.microsoft.com/office/powerpoint/2010/main" val="2372589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E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7D839B-7CAE-446E-82C4-9ED5CF3C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E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48481-8176-435C-982C-BEBFE753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Демонстрация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C18A0-8146-416B-BAB2-070EFCD8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382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6AE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084F9-6BC3-4563-87C9-5264C3C8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ФИО обучающегося. Разработка программного средства анализа EH/Unwind-метаданных PE32+ AMD64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0854D-7FF5-4F30-8EBF-CF201432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343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250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FDE0A-FF00-4EE3-A778-35AF863F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Минимальный сценарий защиты показывает сборку, обычный отчет, HTML и импорт данных в Ghidra.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49DC9-F8A9-41F5-8886-DC3B93F1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14A03-1300-4A29-AE96-5DA05FAC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52700"/>
            <a:ext cx="956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cmake --preset release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1573B-19B3-4EAE-B037-FA7BC217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B645C-E242-4D69-BD08-762A8E7D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956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cmake --build --preset 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92036-D1BF-44B1-B0AE-5270A38A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1009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37956-0E9F-408F-8DC5-0302F93E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14800"/>
            <a:ext cx="956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eh_unwind_analyzer.exe target.exe --heuristics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--json report.json --html report.html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67E76-0878-4962-AA08-8EFCDBE1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1009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87CE47-6B1E-4E2B-98BD-84CC5B1F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956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eh_unwind_analyzer.exe target.exe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--ghidra-csv ghidra_unwind.csv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2F03B-A78E-4B2B-9C38-D3B13267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95950"/>
            <a:ext cx="998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A62A2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62A2F"/>
                </a:solidFill>
                <a:latin typeface="Arial"/>
                <a:ea typeface="Arial"/>
                <a:cs typeface="Arial"/>
              </a:rPr>
              <a:t>Для динамики добавляется --dynamic --timeout-ms 15000 --trace-steps 64; запускать только в изоляции.</a:t>
            </a:r>
          </a:p>
        </p:txBody>
      </p:sp>
    </p:spTree>
    <p:extLst>
      <p:ext uri="{BB962C8B-B14F-4D97-AF65-F5344CB8AC3E}">
        <p14:creationId xmlns:p14="http://schemas.microsoft.com/office/powerpoint/2010/main" val="20219991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E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951043-A0DA-433D-BC97-622885E9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E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E5D67-2025-4974-BC43-63E470FD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Тестирование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CD08B-87C2-4BE9-8E00-2553A328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382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6AE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420EF-F503-4C5A-A9E5-AFDDBDAE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ФИО обучающегося. Разработка программного средства анализа EH/Unwind-метаданных PE32+ AMD64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B5FC4-71D5-400F-9273-27B69273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343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250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27690-D9D1-40FE-84CD-66C17074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Проверка построена на нескольких уровнях, чтобы подтвердить не только запуск программы, но и корректность отчетного контракта.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A8CEF-07CC-4086-AC10-8E129431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05100"/>
            <a:ext cx="2381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32ABD-0C12-48AE-99A0-83AF86A0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7AF63-9BB6-4811-B844-6EF44F99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0"/>
            <a:ext cx="203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CTest-проверок в обычном прогоне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282D5-F65F-43FF-9D66-9697803A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05100"/>
            <a:ext cx="2381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42B37-DD8B-45CF-991C-08F5A2B6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17835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835B"/>
                </a:solidFill>
                <a:latin typeface="Arial"/>
                <a:ea typeface="Arial"/>
                <a:cs typeface="Arial"/>
              </a:rPr>
              <a:t>106/106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9690C-5F3F-4A41-AA3D-69F1A3DC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29000"/>
            <a:ext cx="203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реальные benign PE без failed 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A6DEF-4991-4570-AC5B-2034EC8E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2381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30A6E-E36E-4CD0-A231-B7C93C44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C97A1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C97A18"/>
                </a:solidFill>
                <a:latin typeface="Arial"/>
                <a:ea typeface="Arial"/>
                <a:cs typeface="Arial"/>
              </a:rPr>
              <a:t>124/124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1864E-7AD2-493A-BD57-416965DB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29000"/>
            <a:ext cx="203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Windows dynamic reports valid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33F0E-AC10-4324-BFDB-692681D3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05100"/>
            <a:ext cx="2381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4225DA-6570-4377-A6E3-D3CBB575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575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A62A2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62A2F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DF3D6D-B104-4319-999E-5F4F1496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29000"/>
            <a:ext cx="203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мутаций парсера без падений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252A0-BF85-4385-ACCF-C52A4B53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149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8798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982"/>
                </a:solidFill>
                <a:latin typeface="Arial"/>
                <a:ea typeface="Arial"/>
                <a:cs typeface="Arial"/>
              </a:rPr>
              <a:t>Дополнительно проверяются JSON Schema, semantic invariants, release metadata и reproducible samples.</a:t>
            </a:r>
          </a:p>
        </p:txBody>
      </p:sp>
    </p:spTree>
    <p:extLst>
      <p:ext uri="{BB962C8B-B14F-4D97-AF65-F5344CB8AC3E}">
        <p14:creationId xmlns:p14="http://schemas.microsoft.com/office/powerpoint/2010/main" val="6043554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E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B54385-7AD9-475C-B460-4ACF7A21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AE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BE483-1269-4B92-A897-D7D0A55C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Результаты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D5FF5-9B93-4CC5-AEF8-C5DB01EB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8382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6AE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56962-03A1-408E-8377-3D7B4FA0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ФИО обучающегося. Разработка программного средства анализа EH/Unwind-метаданных PE32+ AMD64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D9C88-4777-4D88-ABB4-B28A9380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343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250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2C451-77FD-4A6F-A999-EC0BF4A9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Получено программное средство, которое можно запускать из командной строки и использовать в учебном или лабораторном процессе анализа PE-файлов.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F475B-9523-4BB3-A4DA-7BF8AC2C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30956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CC8E5-C26D-4077-A518-B8F48226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457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EB7"/>
          </a:solidFill>
          <a:ln xmlns:a="http://schemas.openxmlformats.org/drawingml/2006/main" w="13335">
            <a:solidFill>
              <a:srgbClr val="16AE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56B9A-3BC0-4BB7-9882-5E22B255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9432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E4C9F-CAE8-4D9E-B12F-FEBD67F2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14650"/>
            <a:ext cx="2219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Реализовано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7F161-E13F-4D43-AF5C-99EC7B84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09950"/>
            <a:ext cx="2219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parser,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decoder,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heuristics,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E977D-EC25-4AC7-802C-62C795A2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30956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013C7-4B89-43F5-9035-F44C4C39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457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35B"/>
          </a:solidFill>
          <a:ln xmlns:a="http://schemas.openxmlformats.org/drawingml/2006/main" w="13335">
            <a:solidFill>
              <a:srgbClr val="1783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49971-D2A5-4521-B36F-3A7D4CE0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9432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9EBDC-3206-43DB-AD7E-D8A41316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219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83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835B"/>
                </a:solidFill>
                <a:latin typeface="Arial"/>
                <a:ea typeface="Arial"/>
                <a:cs typeface="Arial"/>
              </a:rPr>
              <a:t>Подтверждено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CA026-925F-4E65-AE54-4B69FCC3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09950"/>
            <a:ext cx="2219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tests,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samples,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real corpus,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schema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A4543B-BEDC-4AA9-A91B-DFF18939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0956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DF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E4CEF5-AE8E-4386-B140-8C61B9DB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457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A18"/>
          </a:solidFill>
          <a:ln xmlns:a="http://schemas.openxmlformats.org/drawingml/2006/main" w="13335">
            <a:solidFill>
              <a:srgbClr val="C97A1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DD03D-36FB-4007-A3A4-CAC54160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432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A4C6B-E370-42BC-A691-391D1F45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14650"/>
            <a:ext cx="2219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97A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7A18"/>
                </a:solidFill>
                <a:latin typeface="Arial"/>
                <a:ea typeface="Arial"/>
                <a:cs typeface="Arial"/>
              </a:rPr>
              <a:t>Ограничения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F9AEAA-F399-4DC7-95C5-5A88D827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2219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PE32+ AMD64;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Windows x64;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только VM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974C79-6092-4D4C-B98F-1DF4EE4B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76850"/>
            <a:ext cx="982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08798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982"/>
                </a:solidFill>
                <a:latin typeface="Arial"/>
                <a:ea typeface="Arial"/>
                <a:cs typeface="Arial"/>
              </a:rPr>
              <a:t>Главный результат: не список догадок, а цепочка фактов от PE-структур до проверяемого отчета.</a:t>
            </a:r>
          </a:p>
        </p:txBody>
      </p:sp>
    </p:spTree>
    <p:extLst>
      <p:ext uri="{BB962C8B-B14F-4D97-AF65-F5344CB8AC3E}">
        <p14:creationId xmlns:p14="http://schemas.microsoft.com/office/powerpoint/2010/main" val="9422803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E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7CF7B5-4E4E-4B0A-9380-372A9D68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16AE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CACF1-CFD5-4B0D-8EDB-51474A41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350" b="1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50505"/>
                </a:solidFill>
                <a:latin typeface="Arial"/>
                <a:ea typeface="Arial"/>
                <a:cs typeface="Arial"/>
              </a:rPr>
              <a:t>Спасибо за внимание!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824C9-98A6-4FD0-BA2B-FEBE6846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242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0">
                <a:solidFill>
                  <a:srgbClr val="08798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7982"/>
                </a:solidFill>
                <a:latin typeface="Arial"/>
                <a:ea typeface="Arial"/>
                <a:cs typeface="Arial"/>
              </a:rPr>
              <a:t>Готов ответить на вопросы по архитектуре, анализу, динамической проверке и отчетам.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290CA-2193-413E-94BE-18CDFCA3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A3AF"/>
                </a:solidFill>
                <a:latin typeface="Arial"/>
                <a:ea typeface="Arial"/>
                <a:cs typeface="Arial"/>
              </a:rPr>
              <a:t>ФИО обучающегося. Разработка программного средства анализа EH/Unwind-метаданных PE32+ AMD64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E841A-DE26-45CC-B377-18A4D211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343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250" b="1">
                <a:solidFill>
                  <a:srgbClr val="16AE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EB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70927614"/>
      </p:ext>
    </p:extLst>
  </p:cSld>
</p:sld>
</file>

<file path=ppt/theme/theme1.xml><?xml version="1.0" encoding="utf-8"?>
<a:theme xmlns:a="http://schemas.openxmlformats.org/drawingml/2006/main" name="ChatGPT">
  <a:themeElements>
    <a:clrScheme name="Defense Teal">
      <a:dk1>
        <a:srgbClr val="000000"/>
      </a:dk1>
      <a:lt1>
        <a:srgbClr val="FFFFFF"/>
      </a:lt1>
      <a:dk2>
        <a:srgbClr val="1F2937"/>
      </a:dk2>
      <a:lt2>
        <a:srgbClr val="D6F4F6"/>
      </a:lt2>
      <a:accent1>
        <a:srgbClr val="16AEB7"/>
      </a:accent1>
      <a:accent2>
        <a:srgbClr val="087982"/>
      </a:accent2>
      <a:accent3>
        <a:srgbClr val="C97A18"/>
      </a:accent3>
      <a:accent4>
        <a:srgbClr val="A62A2F"/>
      </a:accent4>
      <a:accent5>
        <a:srgbClr val="17835B"/>
      </a:accent5>
      <a:accent6>
        <a:srgbClr val="2563EB"/>
      </a:accent6>
      <a:hlink>
        <a:srgbClr val="0F766E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Defense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2026-07-02T04:54:31.0840000Z</dcterms:created>
  <dcterms:modified xsi:type="dcterms:W3CDTF">2026-07-02T04:54:31.0840000Z</dcterms:modified>
</coreProperties>
</file>