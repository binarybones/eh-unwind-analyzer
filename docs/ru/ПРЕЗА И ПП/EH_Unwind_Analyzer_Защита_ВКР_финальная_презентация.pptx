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11cdaf7abb41da" /><Relationship Type="http://schemas.openxmlformats.org/officeDocument/2006/relationships/extended-properties" Target="/docProps/app.xml" Id="R16f8d7e0de6248e0" /><Relationship Type="http://schemas.openxmlformats.org/officeDocument/2006/relationships/officeDocument" Target="/ppt/presentation.xml" Id="R50f9ec014aa14d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5eb67d1e940b3"/>
  </p:sldMasterIdLst>
  <p:notesMasterIdLst>
    <p:notesMasterId xmlns:r="http://schemas.openxmlformats.org/officeDocument/2006/relationships" r:id="R5f9b4aded8284648"/>
  </p:notesMasterIdLst>
  <p:sldIdLst>
    <p:sldId xmlns:r="http://schemas.openxmlformats.org/officeDocument/2006/relationships" id="256" r:id="Rafb6a73706e9418d"/>
    <p:sldId xmlns:r="http://schemas.openxmlformats.org/officeDocument/2006/relationships" id="257" r:id="R7fef240d774f4d28"/>
    <p:sldId xmlns:r="http://schemas.openxmlformats.org/officeDocument/2006/relationships" id="258" r:id="Rc83e8f4005c64fba"/>
    <p:sldId xmlns:r="http://schemas.openxmlformats.org/officeDocument/2006/relationships" id="259" r:id="Rf130d89405a04ebc"/>
    <p:sldId xmlns:r="http://schemas.openxmlformats.org/officeDocument/2006/relationships" id="260" r:id="R3511793ba6c34530"/>
    <p:sldId xmlns:r="http://schemas.openxmlformats.org/officeDocument/2006/relationships" id="261" r:id="R96ba179c02aa402a"/>
    <p:sldId xmlns:r="http://schemas.openxmlformats.org/officeDocument/2006/relationships" id="262" r:id="R1dca5c0384454e65"/>
    <p:sldId xmlns:r="http://schemas.openxmlformats.org/officeDocument/2006/relationships" id="263" r:id="Rf177146540c54271"/>
    <p:sldId xmlns:r="http://schemas.openxmlformats.org/officeDocument/2006/relationships" id="264" r:id="R32815fab0816401d"/>
    <p:sldId xmlns:r="http://schemas.openxmlformats.org/officeDocument/2006/relationships" id="265" r:id="R61718f7d27704c91"/>
    <p:sldId xmlns:r="http://schemas.openxmlformats.org/officeDocument/2006/relationships" id="266" r:id="R7c84629824244a5c"/>
    <p:sldId xmlns:r="http://schemas.openxmlformats.org/officeDocument/2006/relationships" id="267" r:id="R50c2972042bf4c98"/>
    <p:sldId xmlns:r="http://schemas.openxmlformats.org/officeDocument/2006/relationships" id="268" r:id="Rd43a39b9c53d4df4"/>
    <p:sldId xmlns:r="http://schemas.openxmlformats.org/officeDocument/2006/relationships" id="269" r:id="R51713ec1f4da43fe"/>
    <p:sldId xmlns:r="http://schemas.openxmlformats.org/officeDocument/2006/relationships" id="270" r:id="R9552a731cdb24826"/>
    <p:sldId xmlns:r="http://schemas.openxmlformats.org/officeDocument/2006/relationships" id="271" r:id="R04d2a8258ea649de"/>
    <p:sldId xmlns:r="http://schemas.openxmlformats.org/officeDocument/2006/relationships" id="272" r:id="R978204632b80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2f236525214806" /><Relationship Type="http://schemas.openxmlformats.org/officeDocument/2006/relationships/slideMaster" Target="/ppt/slideMasters/slideMaster1.xml" Id="R7eb5eb67d1e940b3" /><Relationship Type="http://schemas.openxmlformats.org/officeDocument/2006/relationships/notesMaster" Target="/ppt/notesMasters/notesMaster1.xml" Id="R5f9b4aded8284648" /><Relationship Type="http://schemas.openxmlformats.org/officeDocument/2006/relationships/presProps" Target="/ppt/presProps.xml" Id="R30fc70121fba4c80" /><Relationship Type="http://schemas.openxmlformats.org/officeDocument/2006/relationships/tableStyles" Target="/ppt/tableStyles.xml" Id="Ra90c72e25c0f4d5d" /><Relationship Type="http://schemas.openxmlformats.org/officeDocument/2006/relationships/slide" Target="/ppt/slides/slide1.xml" Id="Rafb6a73706e9418d" /><Relationship Type="http://schemas.openxmlformats.org/officeDocument/2006/relationships/slide" Target="/ppt/slides/slide2.xml" Id="R7fef240d774f4d28" /><Relationship Type="http://schemas.openxmlformats.org/officeDocument/2006/relationships/slide" Target="/ppt/slides/slide3.xml" Id="Rc83e8f4005c64fba" /><Relationship Type="http://schemas.openxmlformats.org/officeDocument/2006/relationships/slide" Target="/ppt/slides/slide4.xml" Id="Rf130d89405a04ebc" /><Relationship Type="http://schemas.openxmlformats.org/officeDocument/2006/relationships/slide" Target="/ppt/slides/slide5.xml" Id="R3511793ba6c34530" /><Relationship Type="http://schemas.openxmlformats.org/officeDocument/2006/relationships/slide" Target="/ppt/slides/slide6.xml" Id="R96ba179c02aa402a" /><Relationship Type="http://schemas.openxmlformats.org/officeDocument/2006/relationships/slide" Target="/ppt/slides/slide7.xml" Id="R1dca5c0384454e65" /><Relationship Type="http://schemas.openxmlformats.org/officeDocument/2006/relationships/slide" Target="/ppt/slides/slide8.xml" Id="Rf177146540c54271" /><Relationship Type="http://schemas.openxmlformats.org/officeDocument/2006/relationships/slide" Target="/ppt/slides/slide9.xml" Id="R32815fab0816401d" /><Relationship Type="http://schemas.openxmlformats.org/officeDocument/2006/relationships/slide" Target="/ppt/slides/slide10.xml" Id="R61718f7d27704c91" /><Relationship Type="http://schemas.openxmlformats.org/officeDocument/2006/relationships/slide" Target="/ppt/slides/slide11.xml" Id="R7c84629824244a5c" /><Relationship Type="http://schemas.openxmlformats.org/officeDocument/2006/relationships/slide" Target="/ppt/slides/slide12.xml" Id="R50c2972042bf4c98" /><Relationship Type="http://schemas.openxmlformats.org/officeDocument/2006/relationships/slide" Target="/ppt/slides/slide13.xml" Id="Rd43a39b9c53d4df4" /><Relationship Type="http://schemas.openxmlformats.org/officeDocument/2006/relationships/slide" Target="/ppt/slides/slide14.xml" Id="R51713ec1f4da43fe" /><Relationship Type="http://schemas.openxmlformats.org/officeDocument/2006/relationships/slide" Target="/ppt/slides/slide15.xml" Id="R9552a731cdb24826" /><Relationship Type="http://schemas.openxmlformats.org/officeDocument/2006/relationships/slide" Target="/ppt/slides/slide16.xml" Id="R04d2a8258ea649de" /><Relationship Type="http://schemas.openxmlformats.org/officeDocument/2006/relationships/slide" Target="/ppt/slides/slide17.xml" Id="R978204632b80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d7e29f23a94d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ce958fc3d4919" /><Relationship Type="http://schemas.openxmlformats.org/officeDocument/2006/relationships/notesMaster" Target="/ppt/notesMasters/notesMaster1.xml" Id="R3900658980b640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0ccd00f0064119" /><Relationship Type="http://schemas.openxmlformats.org/officeDocument/2006/relationships/notesMaster" Target="/ppt/notesMasters/notesMaster1.xml" Id="Rdeaa10a75ba6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c39b20f05345b5" /><Relationship Type="http://schemas.openxmlformats.org/officeDocument/2006/relationships/notesMaster" Target="/ppt/notesMasters/notesMaster1.xml" Id="R236338c8661c4d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cd390043248bb" /><Relationship Type="http://schemas.openxmlformats.org/officeDocument/2006/relationships/notesMaster" Target="/ppt/notesMasters/notesMaster1.xml" Id="R50db83b8456a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b73c70a0a4612" /><Relationship Type="http://schemas.openxmlformats.org/officeDocument/2006/relationships/notesMaster" Target="/ppt/notesMasters/notesMaster1.xml" Id="R1a27a6fa3233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a59838ab5b49b3" /><Relationship Type="http://schemas.openxmlformats.org/officeDocument/2006/relationships/notesMaster" Target="/ppt/notesMasters/notesMaster1.xml" Id="R72686421b10e44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48363e856439f" /><Relationship Type="http://schemas.openxmlformats.org/officeDocument/2006/relationships/notesMaster" Target="/ppt/notesMasters/notesMaster1.xml" Id="Rfe26c6b7a82e49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6bc0b6343f4e8a" /><Relationship Type="http://schemas.openxmlformats.org/officeDocument/2006/relationships/notesMaster" Target="/ppt/notesMasters/notesMaster1.xml" Id="R14cffe3d0d8e44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a8d52bc064be1" /><Relationship Type="http://schemas.openxmlformats.org/officeDocument/2006/relationships/notesMaster" Target="/ppt/notesMasters/notesMaster1.xml" Id="R0eaeebcda6fc40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191c1aabe84f03" /><Relationship Type="http://schemas.openxmlformats.org/officeDocument/2006/relationships/notesMaster" Target="/ppt/notesMasters/notesMaster1.xml" Id="R97ef8e89893040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2128b407174960" /><Relationship Type="http://schemas.openxmlformats.org/officeDocument/2006/relationships/notesMaster" Target="/ppt/notesMasters/notesMaster1.xml" Id="Rcb7869a2e29442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8b575a1b184aea" /><Relationship Type="http://schemas.openxmlformats.org/officeDocument/2006/relationships/notesMaster" Target="/ppt/notesMasters/notesMaster1.xml" Id="R05304c4a62684c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ab5457eaaa45d9" /><Relationship Type="http://schemas.openxmlformats.org/officeDocument/2006/relationships/notesMaster" Target="/ppt/notesMasters/notesMaster1.xml" Id="R9a9cd02f3f0f48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c6b359ce464745" /><Relationship Type="http://schemas.openxmlformats.org/officeDocument/2006/relationships/notesMaster" Target="/ppt/notesMasters/notesMaster1.xml" Id="R4b44861e6b0d48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8ac0ce7cf94c6e" /><Relationship Type="http://schemas.openxmlformats.org/officeDocument/2006/relationships/notesMaster" Target="/ppt/notesMasters/notesMaster1.xml" Id="R6d0e370a90fa4d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6ccd27f5594b9f" /><Relationship Type="http://schemas.openxmlformats.org/officeDocument/2006/relationships/notesMaster" Target="/ppt/notesMasters/notesMaster1.xml" Id="R42011f242fc247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4fc941f8b24023" /><Relationship Type="http://schemas.openxmlformats.org/officeDocument/2006/relationships/notesMaster" Target="/ppt/notesMasters/notesMaster1.xml" Id="R9818f476334e4c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вводит тему и фиксирует корректное название: это не общий антивирус и не универсальный дизассемблер, а специализированный инструмент анализа EH/Unwind-метаданных Windows PE32+ AMD64.</a:t>
            </a:r>
          </a:p>
          <a:p xmlns:a="http://schemas.openxmlformats.org/drawingml/2006/main">
            <a:r>
              <a:t>EH означает Exception Handling, обработку исключений. Unwind означает восстановление вызывающего контекста при выходе из функции или обработке исключения. PE32+ AMD64 - 64-битный формат исполняемых файлов Windows.</a:t>
            </a:r>
          </a:p>
          <a:p xmlns:a="http://schemas.openxmlformats.org/drawingml/2006/main">
            <a:r>
              <a:t>[Sources] README.md; docs/ARCHITECTURE.md; include/app_info.h; docs/report.schema.json; 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важно объяснить комиссии, почему тема узкая, но практическая. EH/Unwind-метаданные участвуют в восстановлении стека и маршрутизации исключений. Если карта нарушена, человек может неправильно понять границы функции или путь управления.</a:t>
            </a:r>
          </a:p>
          <a:p xmlns:a="http://schemas.openxmlformats.org/drawingml/2006/main">
            <a:r>
              <a:t>Проект автоматизирует не всю работу реверс-инженера, а конкретный трудоемкий фрагмент: построение проверяемой карты .pdata/.xdata и первичную диагностику аномалий.</a:t>
            </a:r>
          </a:p>
          <a:p xmlns:a="http://schemas.openxmlformats.org/drawingml/2006/main">
            <a:r>
              <a:t>[Sources] ru/ДЕЙСТВИЯ РЕВЕРСА.pdf; ru/ПОЛНОЕ ОПИСАНИЕ СТАТИЧЕСКОГО ДИНАМИЧЕСКОГО СЛОЯ И GHIDRA.pdf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Актуальность нужно защищать через инженерную необходимость: не через массовый рынок, а через нишу reverse engineering, malware triage, отладку crash dump и анализ защищенных бинарников.</a:t>
            </a:r>
          </a:p>
          <a:p xmlns:a="http://schemas.openxmlformats.org/drawingml/2006/main">
            <a:r>
              <a:t>Проект не заменяет IDA, Ghidra или WinDbg. Он закрывает узкую задачу: системно проверить EH/Unwind-слой и представить результат как карту, пригодную для дальнейшей ручной работы.</a:t>
            </a:r>
          </a:p>
          <a:p xmlns:a="http://schemas.openxmlformats.org/drawingml/2006/main">
            <a:r>
              <a:t>[Sources] ru/ОБОСНОВАНИЕ ПРОЕКТА.pdf; ru/ЗАЩИТА КАЧЕСТВА ТОЧНОСТИ И ТЕСТИРОВАНИЯ.pdf; бинарники на тестирование/README_БИНАРНИКИ_НА_ТЕСТИРОВАНИЕ.md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формулируется не как 'найти вирус', а как 'построить доказательную карту EH/Unwind-метаданных'. Это важная защитная позиция.</a:t>
            </a:r>
          </a:p>
          <a:p xmlns:a="http://schemas.openxmlformats.org/drawingml/2006/main">
            <a:r>
              <a:t>Задачи идут от теории к реализации: сначала формат и адресация, затем парсинг, затем эвристики, затем динамическая проверка и отчеты.</a:t>
            </a:r>
          </a:p>
          <a:p xmlns:a="http://schemas.openxmlformats.org/drawingml/2006/main">
            <a:r>
              <a:t>[Sources] EH_Unwind_Analyzer_Пояснительная_записка_ВКР.pdf; docs/ARCHITECTURE.md; docs/report.schema.json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защите важно проговорить границы до того, как комиссия начнет требовать невозможное. Static mode анализирует файл на диске. Dynamic mode запускает target и поэтому применим только в контролируемой среде.</a:t>
            </a:r>
          </a:p>
          <a:p xmlns:a="http://schemas.openxmlformats.org/drawingml/2006/main">
            <a:r>
              <a:t>Severity - насколько серьезно наблюдение. Confidence - насколько надежно оно установлено. Эти понятия нельзя смешивать.</a:t>
            </a:r>
          </a:p>
          <a:p xmlns:a="http://schemas.openxmlformats.org/drawingml/2006/main">
            <a:r>
              <a:t>[Sources] ru/ЧТО ТАКОЕ FINDING.pdf; ru/КАК РАБОТАЕТ СТАТИКА И ДИНАМИКА.pdf; docs/report.schema.json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Комиссия может спросить: зачем отдельный проект, если есть Ghidra или WinDbg. Ответ: они решают более широкие задачи, а наш проект автоматизирует специализированную проверку EH/Unwind-метаданных и формирует воспроизводимый отчет.</a:t>
            </a:r>
          </a:p>
          <a:p xmlns:a="http://schemas.openxmlformats.org/drawingml/2006/main">
            <a:r>
              <a:t>Нейросеть здесь не обязательна: признаки основаны на спецификации формата и инженерных инвариантах. Для таких проверок важнее объяснимость и воспроизводимость.</a:t>
            </a:r>
          </a:p>
          <a:p xmlns:a="http://schemas.openxmlformats.org/drawingml/2006/main">
            <a:r>
              <a:t>[Sources] ru/КОНКУРЕНТЫ.pdf; ru/ОБОСНОВАНИЕ ПРОЕКТА.pdf; ru/ПОЧЕМУ ИМЕННО ЭТИ ПРИЗНАКИ.pdf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не является микросервисной. Это модульный CLI-монолит: один бинарник, но внутри есть разделение ответственности по файлам.</a:t>
            </a:r>
          </a:p>
          <a:p xmlns:a="http://schemas.openxmlformats.org/drawingml/2006/main">
            <a:r>
              <a:t>Такой выбор правильный для ядра: меньше внешних зависимостей, проще воспроизводить анализ, удобно отдавать JSON в будущий backend или frontend без вмешательства в ядро.</a:t>
            </a:r>
          </a:p>
          <a:p xmlns:a="http://schemas.openxmlformats.org/drawingml/2006/main">
            <a:r>
              <a:t>[Sources] docs/ARCHITECTURE.md; README.md; include/app_info.h; CMakeLists.txt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 layer отвечает на вопрос: какую карту обещает сам файл. Он не запускает target и не знает runtime-only таблицы, но он хорошо видит структуру PE на диске.</a:t>
            </a:r>
          </a:p>
          <a:p xmlns:a="http://schemas.openxmlformats.org/drawingml/2006/main">
            <a:r>
              <a:t>Главная инженерная сложность - не просто прочитать поля, а не ошибиться в адресных преобразованиях и не строить выводы из мусора, если структура повреждена.</a:t>
            </a:r>
          </a:p>
          <a:p xmlns:a="http://schemas.openxmlformats.org/drawingml/2006/main">
            <a:r>
              <a:t>[Sources] ru/КАК РАБОТАЕТ СТАТИКА И ДИНАМИКА.pdf; ru/КАК ЧИТАТЬ ОТЧЕТ_ПОЛНЫЙ.pdf; src/pe.c; src/unwind.c; src/heuristics.c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CountOfCodes - количество двухбайтовых slots, а не количество логических операций. Одна операция может занимать больше одного slot. Padding нужен, чтобы 32-битный хвост читался с правильного выравнивания.</a:t>
            </a:r>
          </a:p>
          <a:p xmlns:a="http://schemas.openxmlformats.org/drawingml/2006/main">
            <a:r>
              <a:t>Language-specific handler data зависит от handler-а. Поэтому проект осторожен: он показывает evidence по handler RVA и размещению, но не притворяется универсальным парсером всех runtime-таблиц C/C++ exception handling.</a:t>
            </a:r>
          </a:p>
          <a:p xmlns:a="http://schemas.openxmlformats.org/drawingml/2006/main">
            <a:r>
              <a:t>[Sources] ru/НЮАНСЫ ПРОЕКТА.pdf; Microsoft PE/COFF и x64 exception handling model; src/unwind.c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Нужно подчеркнуть: 27 признаков не являются обученной ML-моделью. Это объяснимые инженерные проверки, основанные на структуре формата и типовых ошибках ручного анализа.</a:t>
            </a:r>
          </a:p>
          <a:p xmlns:a="http://schemas.openxmlformats.org/drawingml/2006/main">
            <a:r>
              <a:t>Score помогает triage, то есть сортировке по подозрительности. Он не означает вероятность вредоносности. Confidence означает уверенность в самом наблюдении.</a:t>
            </a:r>
          </a:p>
          <a:p xmlns:a="http://schemas.openxmlformats.org/drawingml/2006/main">
            <a:r>
              <a:t>[Sources] ru/ПОЧЕМУ ИМЕННО ЭТИ ПРИЗНАКИ.pdf; ru/КРИТЕРИИ ОЦЕНКИ ПРИЗНАКОВ - С ПОЯСНЕНИЕМ ЧИСЕЛ.pdf; docs/ru/учебник по признакам/Список_27_признаков.csv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Dynamic validation отвечает на вопрос: какой маршрут реально произошел во время выполнения. Например, возникло ли исключение, дошло ли управление до handler-а, была ли зарегистрирована dynamic function table.</a:t>
            </a:r>
          </a:p>
          <a:p xmlns:a="http://schemas.openxmlformats.org/drawingml/2006/main">
            <a:r>
              <a:t>Это особенно важно для JIT или runtime-generated code: .pdata в файле не вся вселенная unwind-информации. Процесс может зарегистрировать таблицы во время выполнения.</a:t>
            </a:r>
          </a:p>
          <a:p xmlns:a="http://schemas.openxmlformats.org/drawingml/2006/main">
            <a:r>
              <a:t>[Sources] docs/windows_dynamic_validation.md; ru/КАК РАБОТАЕТ СТАТИКА И ДИНАМИКА.pdf; src/dynamic_win.c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 не сказать, что отчет полностью объясняет все на уровне дизассемблирования. В текущей версии он информативно показывает данные и findings, но не автоматически сверяет UWOP с прологом .text.</a:t>
            </a:r>
          </a:p>
          <a:p xmlns:a="http://schemas.openxmlformats.org/drawingml/2006/main">
            <a:r>
              <a:t>JSON особенно важен для будущего backend: коллега может вызывать CLI, сохранять JSON в БД и строить frontend без переписывания ядра.</a:t>
            </a:r>
          </a:p>
          <a:p xmlns:a="http://schemas.openxmlformats.org/drawingml/2006/main">
            <a:r>
              <a:t>[Sources] docs/report.schema.json; ru/КАК ЧИТАТЬ ОТЧЕТ_ПОЛНЫЙ.pdf; ru/EH_Unwind_Analyzer_Ghidra_Памятка_RU.pdf; ghidra/import_unwind_csv.py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Если спросят, почему тестов 16, а признаков 27, ответ простой: CTest-сценарий может покрывать несколько признаков, а PE-бинарники являются демонстрационными входными данными. Это разные уровни проверки.</a:t>
            </a:r>
          </a:p>
          <a:p xmlns:a="http://schemas.openxmlformats.org/drawingml/2006/main">
            <a:r>
              <a:t>Синтетические бинарники нужны, чтобы контролируемо нарушить конкретное поле и доказать, что анализатор его ловит. Реальные benign файлы нужны, чтобы показать, что проект не ругается на обычную metadata без причины.</a:t>
            </a:r>
          </a:p>
          <a:p xmlns:a="http://schemas.openxmlformats.org/drawingml/2006/main">
            <a:r>
              <a:t>[Sources] ru/КАК ТЕСТЫ ОБЪЯСНИТЬ.pdf; docs/PRODUCT_READINESS.md; бинарники на тестирование/README_БИНАРНИКИ_НА_ТЕСТИРОВАНИЕ.md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Нужно быть осторожным со словом точность. Это не ML-модель с вероятностью вредоносности. Качество оценивается через воспроизводимость отчетов, отсутствие ложных срабатываний на benign corpus и покрытие диагностических сценариев.</a:t>
            </a:r>
          </a:p>
          <a:p xmlns:a="http://schemas.openxmlformats.org/drawingml/2006/main">
            <a:r>
              <a:t>Controlled timeout не является ошибкой проекта, если target ожидаемо не завершился в лимит. Это классифицированный runtime outcome.</a:t>
            </a:r>
          </a:p>
          <a:p xmlns:a="http://schemas.openxmlformats.org/drawingml/2006/main">
            <a:r>
              <a:t>[Sources] docs/PRODUCT_READINESS.md; docs/release_status.md; docs/windows_dynamic_validation.md; ru/ЗАЩИТА КАЧЕСТВА ТОЧНОСТИ И ТЕСТИРОВАНИЯ.pdf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Можно объяснить так: реверсер все равно принимает итоговое решение, но проект сокращает ручной путь и показывает, где именно есть техническая странность.</a:t>
            </a:r>
          </a:p>
          <a:p xmlns:a="http://schemas.openxmlformats.org/drawingml/2006/main">
            <a:r>
              <a:t>Проект нивелирует типичные ошибки: перепутать VA/RVA/file offset, неправильно посчитать CountOfCodes, проигнорировать padding, принять writable handler за нормальный, не заметить overlaps или reuse.</a:t>
            </a:r>
          </a:p>
          <a:p xmlns:a="http://schemas.openxmlformats.org/drawingml/2006/main">
            <a:r>
              <a:t>[Sources] ru/ДЕЙСТВИЯ РЕВЕРСА.pdf; ru/НЮАНСЫ ПРОЕКТА.pdf; ru/КАК ЧИТАТЬ ОТЧЕТ_ПОЛНЫЙ.pdf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нужен, чтобы честно отбить вопросы комиссии. Ограничение не разрушает проект, если оно явно названо и соответствует выбранной предметной области.</a:t>
            </a:r>
          </a:p>
          <a:p xmlns:a="http://schemas.openxmlformats.org/drawingml/2006/main">
            <a:r>
              <a:t>Отсутствие UWOP-vs-prolog matching не критично для текущей цели структурного анализа .pdata/.xdata, но это сильное направление развития, потому что оно добавит семантическую сверку metadata с машинным кодом.</a:t>
            </a:r>
          </a:p>
          <a:p xmlns:a="http://schemas.openxmlformats.org/drawingml/2006/main">
            <a:r>
              <a:t>[Sources] ru/УЛУЧШЕНИЕ ПРОЕКТА.pdf; ru/НЮАНСЫ ПРОЕКТА.pdf;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финале не нужно обещать невозможное. Сказать: ядро готово для своей области, а frontend/backend/DB могут подключаться поверх JSON contract без изменения ядра.</a:t>
            </a:r>
          </a:p>
          <a:p xmlns:a="http://schemas.openxmlformats.org/drawingml/2006/main">
            <a:r>
              <a:t>Развитие проекта должно идти постепенно: сначала улучшить evidence в отчетах и добавить дизассемблирование пролога, затем углублять dynamic correlation и интеграцию с БД.</a:t>
            </a:r>
          </a:p>
          <a:p xmlns:a="http://schemas.openxmlformats.org/drawingml/2006/main">
            <a:r>
              <a:t>[Sources] docs/PRODUCT_READINESS.md; ru/УЛУЧШЕНИЕ ПРОЕКТА.pdf; docs/report.schema.json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11b1f3769c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1ee22711040e7" /><Relationship Type="http://schemas.openxmlformats.org/officeDocument/2006/relationships/slideLayout" Target="/ppt/slideLayouts/slideLayout1.xml" Id="R176610892e5445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610892e5445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d6d58474f4b10" /><Relationship Type="http://schemas.openxmlformats.org/officeDocument/2006/relationships/notesSlide" Target="/ppt/notesSlides/notesSlide1.xml" Id="R7dd94e81118d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6da91fe3b4e3c" /><Relationship Type="http://schemas.openxmlformats.org/officeDocument/2006/relationships/notesSlide" Target="/ppt/notesSlides/notesSlide2.xml" Id="R49a5b44e8f81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59f4f87564a88" /><Relationship Type="http://schemas.openxmlformats.org/officeDocument/2006/relationships/notesSlide" Target="/ppt/notesSlides/notesSlide3.xml" Id="Ra1edc5383d2649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ce91f7f614f83" /><Relationship Type="http://schemas.openxmlformats.org/officeDocument/2006/relationships/notesSlide" Target="/ppt/notesSlides/notesSlide4.xml" Id="Rfc1932ae7064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317a7fb54b64" /><Relationship Type="http://schemas.openxmlformats.org/officeDocument/2006/relationships/notesSlide" Target="/ppt/notesSlides/notesSlide5.xml" Id="Rd6e0f4c14a48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f824bea31423d" /><Relationship Type="http://schemas.openxmlformats.org/officeDocument/2006/relationships/notesSlide" Target="/ppt/notesSlides/notesSlide6.xml" Id="Re215d3a51412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6750fdf14069" /><Relationship Type="http://schemas.openxmlformats.org/officeDocument/2006/relationships/notesSlide" Target="/ppt/notesSlides/notesSlide7.xml" Id="R0f82c52aa4fd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2a714ab7c464e" /><Relationship Type="http://schemas.openxmlformats.org/officeDocument/2006/relationships/notesSlide" Target="/ppt/notesSlides/notesSlide8.xml" Id="R75e021f65a214a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73f0970e843c7" /><Relationship Type="http://schemas.openxmlformats.org/officeDocument/2006/relationships/notesSlide" Target="/ppt/notesSlides/notesSlide9.xml" Id="R3ad540cf6f494d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6ceb63ac745df" /><Relationship Type="http://schemas.openxmlformats.org/officeDocument/2006/relationships/notesSlide" Target="/ppt/notesSlides/notesSlide10.xml" Id="R5b761e80c3bb4c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38328d128458e" /><Relationship Type="http://schemas.openxmlformats.org/officeDocument/2006/relationships/notesSlide" Target="/ppt/notesSlides/notesSlide11.xml" Id="R81083fa849c543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a044c4ae4f15" /><Relationship Type="http://schemas.openxmlformats.org/officeDocument/2006/relationships/notesSlide" Target="/ppt/notesSlides/notesSlide12.xml" Id="R3d2cabd6029d4e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a81343c3d4f3f" /><Relationship Type="http://schemas.openxmlformats.org/officeDocument/2006/relationships/notesSlide" Target="/ppt/notesSlides/notesSlide13.xml" Id="Ra2e6a436365c46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8af451ac44e07" /><Relationship Type="http://schemas.openxmlformats.org/officeDocument/2006/relationships/notesSlide" Target="/ppt/notesSlides/notesSlide14.xml" Id="R78ad3ee131164d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e0a098d2441db" /><Relationship Type="http://schemas.openxmlformats.org/officeDocument/2006/relationships/notesSlide" Target="/ppt/notesSlides/notesSlide15.xml" Id="R52c238485f0b44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c00bca164ca1" /><Relationship Type="http://schemas.openxmlformats.org/officeDocument/2006/relationships/notesSlide" Target="/ppt/notesSlides/notesSlide16.xml" Id="R186e93e7345c4d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7e501a73e47ab" /><Relationship Type="http://schemas.openxmlformats.org/officeDocument/2006/relationships/notesSlide" Target="/ppt/notesSlides/notesSlide17.xml" Id="Rd183654253104a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A26E5-087E-4A0B-BE75-ABF3CED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0F97B-2045-4FAC-9579-D8E0BB2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34F1B-EEC5-4E7D-B82F-CC7750E4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7DD3FC"/>
                </a:solidFill>
              </a:defRPr>
            </a:pPr>
            <a:r>
              <a:rPr sz="1050" b="1" i="0">
                <a:solidFill>
                  <a:srgbClr val="7DD3FC"/>
                </a:solidFill>
              </a:rPr>
              <a:t>ВЫПУСКНАЯ КВАЛИФИКАЦИОННАЯ РАБОТА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D13EF-0B22-4879-8E0D-AD223F9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Проектирование и разработка инструмента статико-динамического анализа EH/Unwind-метаданных Windows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6B43D-4CDC-4045-AB11-7C22134E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BD5E1"/>
                </a:solidFill>
              </a:defRPr>
            </a:pPr>
            <a:r>
              <a:rPr sz="1575" b="0" i="0">
                <a:solidFill>
                  <a:srgbClr val="CBD5E1"/>
                </a:solidFill>
              </a:rPr>
              <a:t>EH_Unwind Analyzer 1.0.0 | JSON Schema 1.2.0 | C17, Windows PE32+ AMD64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927E0-0F0D-437E-9A20-7757DEF5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90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E0DEC-2BDB-4707-B566-9E7AE59E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FBC68-56D1-4B47-B77D-0C510A5E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Предмет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9EDC5-B802-4943-AF04-7CD6AC03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.pdata/.xdata, EH/Unwind metadata, 27 диагностических признаков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18E05-C870-414F-B674-45E0176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190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CE24A-3B7B-443E-B9DE-9F4D0E8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5EFB7-39FE-4904-AF77-8E5F62D6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49580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1AF51-6FBE-4A03-B006-F3484095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76800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CLI, JSON/HTML/CSV, Ghidra import и тестовый корпус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E2B3-DA19-4996-88A7-1ABBB578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3190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A5A99-9CF2-4759-B0EA-D10C86D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9037D-8467-4510-87F4-1EE0AA6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Защита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D0286B-3275-4683-A350-4091301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воспроизводимые проверки, ограничения и план развития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26E49-4082-4C0B-A104-CA6586E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94A3B8"/>
                </a:solidFill>
              </a:defRPr>
            </a:pPr>
            <a:r>
              <a:rPr sz="1200" b="0" i="0">
                <a:solidFill>
                  <a:srgbClr val="94A3B8"/>
                </a:solidFill>
              </a:rPr>
              <a:t>Екатеринбург,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A2C63-DBDB-451B-AA92-2E100B8B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8A9E9-985A-4C6F-A36B-67336D1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543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5F493-E5E6-433B-8904-F13A1F5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ПОСТАНОВКА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EC26C-C16B-46BF-BD87-3A9A6AF2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Предметная область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29998-CF02-4DCC-9BED-465271E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A06C3-1CDF-4BF7-971C-D3118E6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292D8-9B32-48B8-9BD3-8588CBA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F1866-118F-471F-B1B3-53738782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Скрытый уровень PE-файла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1C700-75E9-4B09-9C92-3E2133E3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В Windows x64 служебные таблицы .pdata и .xdata описывают диапазоны функций, правила unwind-а и связи с exception handler-ами. Эти данные используются системой, но обычно хуже видны человеку, чем машинный код.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9C9D5-3FA8-40FE-9256-3261D354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628F6-E18C-4B7C-B739-F27C3F81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76823-E533-4E0C-99CC-4CFA4C5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669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Ручной анализ дорогой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E4FCA-8384-4DF5-9ACA-A5A8CE52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4790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Реверсеру нужно переводить VA/RVA/file offset, проверять секции, читать RUNTIME_FUNCTION, декодировать UNWIND_INFO, учитывать slots, padding, flags и handler tail. Ошибка на одном уровне искажает дальнейший вывод.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8C8CE-FA2A-4C0B-9490-79A70C06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743E8-64F2-4A13-A6F1-7834E2E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20528-9803-4BFE-B486-A2032DD6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669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Риск неверного вывода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E5AE3-9D9A-4559-9B61-9BB8EC50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Поврежденная или нестандартная EH/Unwind-карта может мешать stack walking, усложнять анализ protected code и скрывать exception-based control flow. Нужен инструмент, который показывает evidence, а не только итоговый ярлык.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F6B9B-653A-403D-98FF-872F7820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rPr sz="1725" b="1" i="0">
                <a:solidFill>
                  <a:srgbClr val="0F172A"/>
                </a:solidFill>
              </a:rPr>
              <a:t>Проблема проекта: вручную построить надежную карту EH/Unwind-слоя трудно, а существующие инструменты часто показывают отдельные поля без целостной диагностической модели.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21ABE-E0BD-4807-BC62-88439BC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0C448-028D-43B0-BE06-6B07613D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9893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0C249-4F39-4196-810A-10D5308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ПОЧЕМУ ЭТО НУЖНО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75A42-C4DD-4C46-9F1C-A7E4651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Актуальность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89D48-5DA7-49AD-84EE-DCBCF0FC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F9294-6C08-44F7-9395-07FAACA1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685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Windows x64 доверяет EH/Unwind-метаданным при stack walking и обработке исключений.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Реверс-инженеру важно быстро отличать обычную compiler-generated metadata от поврежденной, нестандартной или подозрительной.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Антиотладочные и защитные техники могут использовать исключения как часть маршрута управления.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Формат содержит много технических деталей: RVA, секции, permissions, CountOfCodes, дополнительные slots, padding, flags, chained info.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Нужен воспроизводимый отчет, который можно открыть отдельно, передать коллеге и импортировать в Ghidra.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0B77E-7A28-4D64-BD89-A1FFF470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C1F2F-C8EA-4D20-A124-D63CFD73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3A91-10B1-4904-9962-724D5E86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diagnostic findings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AEADB-2E91-40DE-8212-A9FF99D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954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A241B-9B14-4BB2-9833-3EC55F8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78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9FA3-D45B-414B-B8F0-5DD7257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66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PE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D01B7-FD81-412C-A246-A9B4F93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1F20B-FCB0-415B-91FF-7D13B307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47719-E02C-4118-931D-ED14FD1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benign 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B283D-5885-40E6-8875-EEDCDAA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1524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83340-07D9-4909-8885-D1009A8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766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25D41-EA72-41F3-A00A-A95C436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147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dynamic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1791E-3F53-403F-9B82-D9A4FB5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14F4F-EBA9-4DA5-976A-1B0018C3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815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4AF16-E344-49F2-9D00-734C7B06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Главная ценность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6C881-CBFF-4DE8-BE05-A1E8C7D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2876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проект строит карту evidence: PE → Exception Directory → .pdata → .xdata → finding → отчет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D1997-D1AA-4860-ABEA-F18DF8D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2F0C4-1879-41AD-AB5B-14187CA0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004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E5151-C6C3-4D99-810D-1E0036C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ЛОГИКА ВКР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960D5-44CC-4A1F-8DA7-2321C192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Цель и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5BCF9-5E03-458E-A63B-43193E6C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F9BAB-9631-45E4-8CE6-E7E8EF79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66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13509-3636-41F2-85F5-D90D7527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6F92-C2C1-4C60-A96F-8E767D3E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032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Цель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4825F-A0CC-4789-A3B2-7121544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030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разработать инструмент, который безопасно анализирует EH/Unwind-метаданные Windows PE32+ AMD64, выявляет структурные и контекстные аномалии и формирует доказательный отчет для реверс-инженера.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265BA-DB38-4583-BA04-386CD770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9715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изучить PE32+ AMD64, Exception Directory, .pdata, .xdata и UNWIND_INFO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реализовать безопасный PE/RVA/file-offset mapping и парсинг RUNTIME_FUNCTION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реализовать декодирование UNWIND_INFO с учетом slots, padding, flags и chained info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сформировать 27 диагностических признаков и scoring-модель для triage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добавить Windows-only dynamic validation для exception-related событий</a:t>
            </a:r>
          </a:p>
          <a:p xmlns:a="http://schemas.openxmlformats.org/drawingml/2006/main">
            <a:pPr>
              <a:defRPr sz="1650" b="0" i="0">
                <a:solidFill>
                  <a:srgbClr val="0F172A"/>
                </a:solidFill>
              </a:defRPr>
            </a:pPr>
            <a:r>
              <a:rPr sz="1650" b="0" i="0">
                <a:solidFill>
                  <a:srgbClr val="0F172A"/>
                </a:solidFill>
              </a:rPr>
              <a:t>• создать JSON/HTML/CSV/Ghidra-выгрузки и воспроизводимый тестовый корпус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3BE41-16AA-4476-9D25-98D608C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59BE3-224B-4BE6-946E-4D4B00EF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80200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62BA1-0FC6-4462-9DC4-C84BF0D5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ТРЕБОВАНИЯ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744BC-1C5A-40C7-8375-ED662E5E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Требования к итоговому инструменту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A5559-E55D-43E5-8987-28E32943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6B477-8D2F-42C5-941C-2D28986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52BC9-FAE8-4B0B-9302-C072B599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EEBFD-DAF4-42B5-BACE-2695DDC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Функциональные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5E949-B6AD-4445-A633-4999C2D4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971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принимать PE-файл через CLI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читать headers и sections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находить Exception Directory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строить список RuntimeFunction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декодировать UNWIND_INFO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выдавать JSON/HTML/CSV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экспортировать Ghidra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0C49-6FAF-407F-A482-FE3B0A0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85791-FFF1-4CFC-AA82-95FCB91A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1937A-6C0B-4024-92D7-84D2EBE1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907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Качество и надежность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84776-FFB3-41DB-9875-B6F24F6B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71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безопасно работать с границами файла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не читать за пределами секций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различать severity и confidence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сохранять report schema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иметь CTest и корпус PE-бинарников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отдельно проверять benign corpus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BFC1C-D8E7-47CD-8509-21964567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03D29-1E71-4B93-9B67-BD080F76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21F7-BC74-4DAA-9DC7-8CA05DBF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Честные границы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3546A-F53D-4AD9-85FB-D081A93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971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static не исполняет target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dynamic работает только на Windows x64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непроверенные samples запускать только в VM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проект не является sandbox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проект не является ML-антивирусом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UWOP-vs-prolog пока развитие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C1503-E1D3-4689-99E6-D075E21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rPr sz="1725" b="1" i="0">
                <a:solidFill>
                  <a:srgbClr val="0F172A"/>
                </a:solidFill>
              </a:rPr>
              <a:t>Такая постановка защищает проект от неверного ожидания: это система анализа и построения карты, а не универсальный детектор вредоносности.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A5D0A-2FDD-44D0-B1F8-44880FC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9DF7D-CDB7-46C6-9AD0-D11804EE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66809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DA53A-8B28-41C9-BE17-4DBBCF05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АНАЛИЗ СУЩЕСТВУЮЩИХ РЕШЕНИЙ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C8737-E98F-4D8B-B74C-09AE427F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Аналоги и выбранная ниша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03358-4461-40E3-8D60-328D76C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BC1BA-628D-40A6-9216-A2BE11A0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81250" cy="3143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F5209-89FC-4150-B285-52D01AB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2B117-744D-4B2E-AA5C-282A0B2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IDA / Ghidra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7D393-A606-430A-87D1-8326A248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0193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Сильны в интерактивном reverse engineering. Показывают дизассемблирование, функции, символы и скрипты. Но специализированный доказательный отчет по 27 EH/Unwind-признакам не является их центральной задачей.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FCD43-D047-4A67-A62E-F94A566D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2381250" cy="3143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8AAAD-0F71-40EC-97D5-0672878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E1E31-3D10-495D-935B-A5065736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52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WinDbg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C9DB3-BAA4-4EAA-A50A-A93B9B8D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20193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Силен при отладке живого процесса и crash dump. Но требует контекста запуска и не заменяет пакетную проверку PE-файлов на диске.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FBEA0-34F3-4F6D-B1DB-5722268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81150"/>
            <a:ext cx="2381250" cy="3143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C4CEC-87CB-46D3-94C9-19F8BFC1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811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A4493-A53C-4CA4-9C6B-1B99A95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PE viewers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C95D1-1129-4ED9-A5F9-E32BB54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20193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Хорошо показывают headers, directories и секции. Обычно дают поле или таблицу, но не строят объяснимую модель evidence, severity, confidence и report contract.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CA0AE9-8261-4FFC-8877-16B91095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3067050" cy="31432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9C781-2D2F-45A3-B258-31A8716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DCEF5-BC7C-4904-A8D8-29D52CD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EH_Unwind Analyzer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9E199-CACB-4A68-8E60-BF85842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27051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Специализированно строит карту .pdata/.xdata, проверяет структурные и контекстные аномалии, формирует JSON/HTML/CSV и дает Ghidra-мост. Он не конкурирует с IDE, а дополняет workflow реверсера.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C3E5C-D2D5-4B19-8BAA-12FE8AA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Позиционирование: узкий инженерный инструмент для первичного triage и доказательной проверки EH/Unwind-слоя.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8F9A9-6E78-4F44-9B83-AD3809D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1E9D9-9B76-47CC-9B4F-662AE32B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2981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2024A-B9FD-43CF-854E-571A8FE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СТРУКТУРА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C86D1-3FC6-4936-8806-08D1BAC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Архитектура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3F22F-CE20-4220-A0E3-F9E0E762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C5E25-ADD1-4E75-82EF-A7D68902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5E0AC-EADA-464F-9C25-2E845461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Input 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B7AC3-C65A-4E16-9E6C-0F8DE29B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429" y="1971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CE802-2A1E-4F59-A7A9-C966CC7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829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64A5D-4FFA-42CF-BD9A-22C3D1CE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129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PE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25265-738E-404D-BD09-595E7B5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807" y="1971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3A60C-6032-4463-90CE-B6FE9FD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207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A8747-938A-4648-8F61-7D566BA0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507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Exception Directory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F3F11-2C4E-4E35-AB25-E32986AD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186" y="1971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E3A45-8C96-4B9E-89C1-603B175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586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D6E05-31CE-4819-8354-07B91A68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886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.pdata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03024-F0A1-4F16-8A6F-F42D16D9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64" y="1971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76808-862A-4D81-B464-6CB782B8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64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8C73F-41C6-4C14-ACD0-E8494AD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264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.xdata decoder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5628A-BF1B-47C8-978F-1090BCF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943" y="1971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55BD1-3C52-4691-B145-8B3BCFF3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343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D067-84AA-4534-9E7B-6C0B5C0B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643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heuristics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57726-4F3E-44D1-A5A2-94CB5C28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321" y="1971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B2FCB-9677-4726-B697-C14E0B3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721" y="1695450"/>
            <a:ext cx="1387929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4AA7C-7F74-4E5F-8EC6-EA0C4ED8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3021" y="1905000"/>
            <a:ext cx="1159329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42BD0-89B8-46EB-87C1-9E6708F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90E53-BABB-4E83-A1D6-BF9B15C2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Модульный CLI-монолит на C17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BCA91-36F8-4865-85BC-190A7C7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util.c - безопасное чтение и служебные функции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pe.c - PE headers, sections, RVA mapping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unwind.c - RUNTIME_FUNCTION и UNWIND_INFO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heuristics.c - 27 findings и scoring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report.c - JSON/HTML/CSV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9606B5-5FE4-44D0-A9F5-D5EC056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6230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CBAAFC-B3D5-4A84-A3CF-D349ACA4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Windows dynamic слой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5F7EF8-089E-4013-AF35-0F307242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dynamic_win.c собирается только для Windows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наблюдает debug events и exceptions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фиксирует handler hits и RtlFunctionTable-события</a:t>
            </a:r>
          </a:p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• не заменяет static, а подтверждает runtime facts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0F827-23E6-44F4-9A6B-B2C96F6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72A"/>
                </a:solidFill>
              </a:defRPr>
            </a:pPr>
            <a:r>
              <a:rPr sz="1650" b="1" i="0">
                <a:solidFill>
                  <a:srgbClr val="0F172A"/>
                </a:solidFill>
              </a:rPr>
              <a:t>Выбранная архитектура уместна для ядра: один исполняемый инструмент проще собрать, тестировать и передать, а внутренние модули сохраняют расширяемость.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C04C8F-FFA0-470F-8885-846C7DBE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920E7-539A-46A2-8002-E156C491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6530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E3B775-E559-47C5-9927-2868CDF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STATIC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45F3F-1559-44A5-968E-67DB9F71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Как работает статический слой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72463-BF9F-401D-9443-44FB325D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28C95-722D-4B6E-A025-681C40D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AEF3A-8ADE-46D0-BEB1-4F2EEEDB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52D63-4710-41C8-AA1E-C2203826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19250"/>
            <a:ext cx="2905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422FA-CE48-4835-A812-62A6F61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D87E3-E6A8-47CA-BCCA-4E87D778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Файл на диске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BFA1-71EF-435B-84D2-48C4626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71700"/>
            <a:ext cx="2543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открывается PE и проверяется, что это поддерживаемый PE32+ AMD64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AC253-C755-4B5C-A4E0-0D2ACAD4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9595B-2B08-41DF-BDAC-24F2A87A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9A363-A7D6-4AB2-AF55-A556B6A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19250"/>
            <a:ext cx="2905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49AFD-748F-4FE9-A333-5FCD474E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58163-B490-41E4-BE14-F0AAC638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Карта секций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8B708-66A0-46E5-9BAF-B88F8250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71700"/>
            <a:ext cx="2543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строится соответствие RVA, VA и file offset, проверяются границы и 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3E8AD-B87B-4795-B9ED-7EA3ED78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71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BB1BE-8C3B-4D69-ACAE-19B2B89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573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B4D20-21AE-4CF5-92DD-FDEFC59A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905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40E43-7169-4BAC-A5A0-BD7DE4E8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29894-293A-49F1-B466-C4811D2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Exception Directory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A1693-6840-4DA5-BD1F-7D72B8FF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543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находится directory, проверяется размер и кратность записи RUNTIME_FUNCTION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82312-977C-4186-94C9-DDF94423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11CA6-C2A7-4092-8DC7-68117BED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34FA9-924F-4A23-95BE-029CCE5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905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142BA-0632-4E0A-AC56-BCD85D91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21A81C-5BE2-49E3-8EE1-A362882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624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.pdata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473AB-89B8-4E48-82F7-94BD12E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2543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читаются BeginAddress, EndAddress, UnwindInfoAddress, сортировка, overlaps, duplicate begins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4E6EA-9873-4A8B-B30B-50EA987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9ECBC-D412-4C78-A899-44A167C1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290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05771-C1A3-42B3-8280-AE64D73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90950"/>
            <a:ext cx="2905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E1767-52BE-4747-B11F-35B8B91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909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739F53-6413-4037-8143-FC2FDF2E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624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.xdata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22A0F-3548-4E0B-ADE2-A4F5B6B8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43400"/>
            <a:ext cx="2543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декодируется UNWIND_INFO: version, flags, prolog, CountOfCodes, slots, padding, хвост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4F9541-02FD-45FC-A0B4-A79B733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40B399-1FDC-4B47-B805-445B8862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290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CB6B5-AA22-46D0-81B6-B330809D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2905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B20AF4-2816-4CD6-8403-DCFB106B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412B7C-8558-4C50-816F-16DB4EE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Findings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C1651E-BD3E-497F-9D2B-438E277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43400"/>
            <a:ext cx="2543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формируются признаки, score, confidence, evidence и ручные рекомендации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DA4DE-1C42-4BF9-B2A2-8C1F50BE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2110-C4B4-4BC2-98BA-C805B9A3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5329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A7759-E3FD-499D-B68F-B5A4FAB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ФОРМАТ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B6C01-212C-4B86-97BF-0CEB3A1D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Декодирование EH/Unwind-структур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DD79C-D8C5-444B-93D7-ACBC3A29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C591-2121-4ED5-998F-88EDDDC2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7B88B-4BB4-4CA8-8963-EB4C17D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45C47-27E0-42EE-9B9D-71356863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RUNTIME_FUNCTION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ED082-ADFC-4562-B588-CDF4D18C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765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Запись .pdata размером 12 байт. Содержит BeginAddress, EndAddress и UnwindInfoAddress. Все три значения являются RVA. По ним строится диапазон функции и ссылка на .xdata.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3CCAC-815F-4712-AC57-E4435057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CE614-2F2A-4E26-92C4-6BAF4425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2ACB7-F1C3-4769-9F00-05FBEDA1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UNWIND_INFO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2FACF-A5FD-4132-BA68-0FFB1335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765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Структура .xdata с Version, Flags, SizeOfProlog, CountOfCodes и массивом UNWIND_CODE. Проект учитывает дополнительные slots у сложных UWOP и правило padding перед хвостом.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3DF7E-B025-4F30-8B87-687EFDF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6E546-17B1-42FB-B29D-27D3F719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CBD79-E421-4545-A9BF-8354F948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Handler / Chain tail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40129-98C1-4ECC-9A9C-F45AE134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8765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По Flags хвост означает EHANDLER/UHANDLER handler RVA или CHAININFO. Проект безопасно проверяет адреса, секции, исполняемость и циклы chain, но не универсально парсит language-specific handler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6AED2-3773-4F37-8BBF-56C39F9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rPr sz="1725" b="1" i="0">
                <a:solidFill>
                  <a:srgbClr val="0F172A"/>
                </a:solidFill>
              </a:rPr>
              <a:t>Критический принцип: если базовая структура не читается надежно, анализатор не должен строить глубокие выводы из неправильно смещенных байтов.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80E34-7C56-492C-AB82-D939965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B13E7-BC99-4CE2-862A-A571E1F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5582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9B66A-88E0-47B9-8C07-B5BABD15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ЭВРИСТИЧЕСКИЙ СЛОЙ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4B75A-8F86-43FB-8E5F-111F8FC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27 диагностических признаков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906B9-52A1-4899-B349-518CD7F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5FE0A-F08D-41EF-AA78-64995351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54D0A-1832-4D79-BE07-8ABFC9D6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A8212-F0B3-4456-8957-A69BCB5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4AA52-9AE9-4172-9E66-5068C820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0020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6F6E1-040C-4B1B-9F9D-1BB9AE0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33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5A965-128C-4CA9-A2A6-A85D4DC4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семейств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8E934-8086-47E2-AD07-5AE9D2AF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60020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C4681-CF8F-4751-850B-84906AC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33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1.2.0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7077C-8685-4DC5-A095-0F52BD77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6878B-B0D3-4E65-8668-EAB321CB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4953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37165-C1E3-49C7-832B-C1B388B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AF4C1-E191-4145-BF56-611AD921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Что такое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FB792-6F40-4EEB-8B5C-F3316FCD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459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это проверяемое техническое наблюдение: code, family, severity, confidence, affected_count, representative evidence и рекомендация для ручной проверки.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9E80-0273-4AAC-833F-02C1EF8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3B604-4B83-440A-BB1E-2AAFF77B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76869-D9BE-4E6C-B883-99FC3597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Структурные признаки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46BFB-919E-4008-B6A5-DC05C5B0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876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out-of-bounds секции, raw/virtual overlaps, некорректная Exception Directory, отсутствие или повреждение RuntimeFunction entries, несортировка, overlaps и duplicate begins.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6E87C-7465-44AC-94C2-4242B096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EE874-C0CB-4262-83FF-98F1859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74A53-4517-4F66-8C32-F0F16EDE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UNWIND и размещение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B4C0F-5E7A-46D9-B7AB-FFE891A9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876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ошибки parse-а, странности slots/padding/flags, .xdata в исполняемой или writable секции, handler в non-exec или writable области.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D6ECF-BC56-4B0F-9831-9F25755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4659E-F24D-487E-AA77-50890FF3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F4E9F-5F92-4412-B7AC-53E1497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14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Поведенческие комбинации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53DD4-F0DD-4AE2-B414-13C07BF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2876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массовый reuse UNWIND_INFO, handler dominance и composite findings усиливают сигнал, когда несколько независимых наблюдений указывают на один риск.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B02A9-EB07-499C-839E-74CDB145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rPr sz="1725" b="1" i="0">
                <a:solidFill>
                  <a:srgbClr val="0F172A"/>
                </a:solidFill>
              </a:rPr>
              <a:t>Признаки выбраны не произвольно: они покрывают уровни PE mapping → .pdata → .xdata → handler placement → aggregate behavior.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883B4F-D375-406D-B4C4-C4AE9A1F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A4A49-1F15-428C-B87C-B3315E90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0504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702E8A-1753-495B-BA8E-F60A43A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DYNAMIC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709A5-23BD-4CDD-8109-4B309177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Как работает динамическая валидация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A1D4D-8CEE-424D-B99D-FB1F6C72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ED763-7415-483F-AC91-67C84C5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ACFC8-E707-4665-9DE6-10B26432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936E6-5397-4814-9821-1208816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Что видит dynamic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5B08B-7832-44D3-95B8-534D9DA5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876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живой процесс: debug events, exception events, first/second chance status, handler hits, VEH/VCH/UEF callbacks, RtlAddFunctionTable/RtlInstallFunctionTableCallback и итог запуска.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D491E-ED44-4B87-9948-C108709D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ACB70-EABC-4CC5-8C6B-A74A7C5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3134F-682E-4548-9950-69452752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Зачем нужен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5F6B5-15E9-4447-B5B2-D1781C87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876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static показывает, что файл обещает. dynamic показывает, какие exception-related события реально произошли при выполнении и появились ли runtime function tables.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8CE0E-9996-4443-9F5B-A8CABF63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5F563-4E77-4480-BBED-6AC4AAB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86B98-CB59-4ED4-80B6-D01AAA59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Чего не делает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CF8FD-4F8B-4B1C-81D6-2DB1576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8765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не заменяет static parser, не является sandbox, не доказывает отсутствие скрытого поведения при другом входе, не должен запускать untrusted samples вне изолированной Windows VM.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BC2A9-8AA4-4001-9797-0C602CA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178689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A8299-65BE-44E4-B144-4B749B3D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15582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static 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EE25D-5017-43D9-8F95-1B8A625C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5267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28853-5353-4B76-9CEA-5BBFFE7A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5086350"/>
            <a:ext cx="178689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388E3-BC4E-4C88-AAE6-6741D3ED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590" y="5295900"/>
            <a:ext cx="15582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run under debugger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E9DA8-0D8B-46BE-A393-21E7C950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5267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321D3-90BA-4D20-A6FF-C3C4B779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630" y="5086350"/>
            <a:ext cx="178689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E4A16-32F6-4589-95C7-A34286F2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930" y="5295900"/>
            <a:ext cx="15582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exception / handler event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058A4-2233-493E-A4CA-8060B4C8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267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63DAC-8E16-414B-A199-5F78E52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5086350"/>
            <a:ext cx="178689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34164-46D1-4320-8225-9BD99538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5295900"/>
            <a:ext cx="15582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correlate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77C04-9DCE-4A17-A69B-8208F7C1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5267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91B2"/>
                </a:solidFill>
              </a:defRPr>
            </a:pPr>
            <a:r>
              <a:rPr sz="1800" b="1" i="0">
                <a:solidFill>
                  <a:srgbClr val="0891B2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6CE3F-E44D-442A-B945-20BA1206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310" y="5086350"/>
            <a:ext cx="178689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BD6C36-4D8B-43FB-88D6-4EC223A0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610" y="5295900"/>
            <a:ext cx="15582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dynamic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805C49-B022-4C7C-9F9C-55C5DB2A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D41E0-B7E1-4E4F-9AF5-3C6097A9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28803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08970-EEED-4D3B-87BC-39A0C112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REPORT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D59BD-E4C4-4016-B084-A37E6E7D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Отчеты и интеграция с Ghidra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4CD49-C61A-4ADE-A469-0137E0B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2F5E3-2423-4F11-B125-9C5184A1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3381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C2677-9315-4FD6-AB0F-DE235D7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6477-0842-4FD7-A012-CAE383CD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3038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JSON Schema 1.2.0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1CE03-36E2-422B-9355-DC7809B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30194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машиночитаемый контракт: metadata, PE validation, functions, heuristic_analysis, assessment, dynamic_validation. Подходит для будущего backend, БД и frontend без изменения ядра.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BD3EB-F51C-490B-B133-81FE3BB9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3381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D30AC-98A2-46EC-9F74-90D0D701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A246B-4FAB-48E6-BCBB-F974CAA1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3038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HTML и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435D5-A64D-43F2-BF73-BC4BF9A6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30194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HTML предназначен для человека: summary, таблицы, explanations, fired/silent findings. CSV удобен для фильтрации, сравнения запусков и пакетного анализа.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34CA2-ECCC-471B-9B60-1CC3500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381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AECB1-CEAD-4D2F-A743-EF8ED7D4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7824A-8511-422B-B7A3-C67349AB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3038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Ghidra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7A181-FCAF-4521-B5B2-B7A5F2B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0194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экспорт связывает функцию, RVA-диапазон, UnwindInfo RVA, parse status и признаки. Это помогает открыть бинарник в Ghidra и быстро перейти к подозрительным областям.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5F72A-BC50-4074-ACAA-AD5DF77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Отчет не принимает решение за специалиста. Он предоставляет карту и доказательства, по которым реверсер делает интерпретацию.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758CB-35D2-44C7-B669-B5F2D3C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92B52-1197-4D02-BC8B-725DAE5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90232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4F932-5F8E-4406-8720-A856970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КАЧЕСТВО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94371-FC11-4965-97CA-E46DD39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Методика тестирования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20C59-A07F-4595-AECE-EF96FBDF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50F31-EAA9-43A1-889D-EE67A4DE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53FD1-BC06-42A9-9FD8-E0D07C1A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F172A"/>
                </a:solidFill>
              </a:defRPr>
            </a:pPr>
            <a:r>
              <a:rPr sz="2025" b="1" i="0">
                <a:solidFill>
                  <a:srgbClr val="0F172A"/>
                </a:solidFill>
              </a:rPr>
              <a:t>Важно не смешивать разные числа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9C8D3-1797-4966-9F64-030BC3B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91B2"/>
                </a:solidFill>
              </a:defRPr>
            </a:pPr>
            <a:r>
              <a:rPr sz="1575" b="1" i="0">
                <a:solidFill>
                  <a:srgbClr val="0891B2"/>
                </a:solidFill>
              </a:rPr>
              <a:t>16 CTest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E5517-EBE8-4A3B-BA0F-FCC3215E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автоматические сценарии проверки кода, формата отчетов и ключевых путей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042C5-6681-4DD0-87CD-8D8D91EA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2FEDE-ADBF-4BC6-99AC-76C12D8D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91B2"/>
                </a:solidFill>
              </a:defRPr>
            </a:pPr>
            <a:r>
              <a:rPr sz="1575" b="1" i="0">
                <a:solidFill>
                  <a:srgbClr val="0891B2"/>
                </a:solidFill>
              </a:rPr>
              <a:t>27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D44AD-32B0-4D72-80BC-2EE37F6A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диагностические признаки, которые может выставить эвристический слой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00ECE-95BA-4ED7-BA7D-157BDC71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EACD5-FCC4-4C47-B166-BE56285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91B2"/>
                </a:solidFill>
              </a:defRPr>
            </a:pPr>
            <a:r>
              <a:rPr sz="1575" b="1" i="0">
                <a:solidFill>
                  <a:srgbClr val="0891B2"/>
                </a:solidFill>
              </a:rPr>
              <a:t>78 PE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9855F-03CA-47CB-B3CA-98AD2FF8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демонстрационный корпус static, dynamic и mixed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B445D-4D8A-4312-922E-B2B68908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9EF24-ADDE-4D09-BBC7-A8898A7B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91B2"/>
                </a:solidFill>
              </a:defRPr>
            </a:pPr>
            <a:r>
              <a:rPr sz="1575" b="1" i="0">
                <a:solidFill>
                  <a:srgbClr val="0891B2"/>
                </a:solidFill>
              </a:rPr>
              <a:t>106 benign 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DFAF0-00E0-40E7-B911-3335DF59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реальные нормальные файлы для контроля false positive discipline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D7CD7-90F5-4CC7-88F8-92EFD35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6C804-8A38-4E3E-B2C3-8E87AE7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891B2"/>
                </a:solidFill>
              </a:defRPr>
            </a:pPr>
            <a:r>
              <a:rPr sz="1575" b="1" i="0">
                <a:solidFill>
                  <a:srgbClr val="0891B2"/>
                </a:solidFill>
              </a:rPr>
              <a:t>124 dynamic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BE8B9-0026-4CAE-930A-DE002131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отчеты Windows dynamic validation с классификацией outcomes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B84F2-0AE4-4866-86ED-EDB5252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rPr sz="1725" b="1" i="0">
                <a:solidFill>
                  <a:srgbClr val="0F172A"/>
                </a:solidFill>
              </a:rPr>
              <a:t>Тестирование построено послойно: unit/CLI → синтетические повреждения → реальные benign files → Windows dynamic corpus.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F622B-CC78-409E-A67B-C06426D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A58EC-A3D2-41C6-83F1-E879391F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07866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0462B-B3CA-4B73-9D8C-12380FF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ИТОГИ РЕАЛИЗАЦИИ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B2E32-60B1-4A1E-9DBF-417A582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Результаты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39366-A88C-4268-A577-04045611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61B22-596E-4C92-8C48-56DBF138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C11C8-EAA9-4FCF-BA86-6C81491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335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DA432-89F8-4037-9635-11324B94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CTest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9C65F-41D8-4BB4-A8CE-83F1A39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DB5D8-FDA0-4AD7-B0C7-11E41E4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335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14/14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CD90D-1E0C-44AE-95A9-FF5BE150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717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labeled corpus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80BC5-3964-4058-9301-64E9C2A5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0020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AD0FC-6C9A-4339-BB9C-3244D0F2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335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106/106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F01AA-C640-4C09-98C0-EBB56E2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717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real benign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A84F5-4EEA-432D-9924-93BE1333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0200"/>
            <a:ext cx="20955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F17F0-7D86-4DEC-A671-BC0BF5B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124/124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1588F-4017-463F-84F8-FF599D9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dynamic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DB686-F845-435F-A721-AA31EA15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00200"/>
            <a:ext cx="1143000" cy="1295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5C1F-615F-40FE-85B8-36ED932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33550"/>
            <a:ext cx="80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91B2"/>
                </a:solidFill>
              </a:defRPr>
            </a:pPr>
            <a:r>
              <a:rPr sz="2550" b="1" i="0">
                <a:solidFill>
                  <a:srgbClr val="0891B2"/>
                </a:solidFill>
              </a:rPr>
              <a:t>4/4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A95E7-7622-4EBE-8653-3D68E60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71700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F172A"/>
                </a:solidFill>
              </a:defRPr>
            </a:pPr>
            <a:r>
              <a:rPr sz="1200" b="1" i="0">
                <a:solidFill>
                  <a:srgbClr val="0F172A"/>
                </a:solidFill>
              </a:rPr>
              <a:t>smoke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BB982-553E-4D0F-B626-6CF5550F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895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973DE-CAD0-41A0-B156-57D3DB1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F168C-6727-43CB-862C-89639974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Стабильность запуска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EBA01-CFC2-4634-92D3-DB67100E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453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В динамическом корпусе зафиксированы controlled timeouts, elevation_required и unsupported_library_launch как ожидаемые outcomes. Неожиданных failures и dropped dynamic events не выявлено.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C69B8-AEE4-4842-B18D-73B8830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4895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D423F-1690-4835-A1E6-513C44DD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56D15-F006-423D-916E-1DD49C1D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Готовность артефактов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118F4-6484-4DC7-AC7F-E4038394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81450"/>
            <a:ext cx="453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Собраны CLI-ядро, отчеты JSON/HTML/CSV, Ghidra import, документация, тестовые PE-бинарники и защитный комплект ПЗ + презентация.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64BBE-515C-44C1-9475-CFA2F651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0F172A"/>
                </a:solidFill>
              </a:defRPr>
            </a:pPr>
            <a:r>
              <a:rPr sz="1725" b="1" i="0">
                <a:solidFill>
                  <a:srgbClr val="0F172A"/>
                </a:solidFill>
              </a:rPr>
              <a:t>Вывод: проект можно защищать как завершенное ядро специализированной системы анализа с честно указанными границами и планом развития.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ACF80-FD1A-477A-9A1B-EF11FBBB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CAC31-D888-42AC-A35D-C8F0F8B0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90510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303A6-5AB0-45AB-ACF7-2E117153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ПРАКТИЧЕСКАЯ ЦЕННОСТЬ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CCFAD-8B78-4988-BB26-2C26D37F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Что проект дает реверс-инженеру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6F36D-BCC6-4E5D-B27C-CCF07731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6F042-EF46-439B-931A-FA2DA7D4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DDDD9-A02D-439F-A17E-E8438026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66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3BE56-EE8E-45FE-8C4D-65442585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Автоматизация рутины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71E99-2150-4FE3-898E-8BC8C2D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781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Проект берет на себя повторяемые действия: mapping RVA/file offset, проверку секций, чтение .pdata, декодирование .xdata, поиск overlaps, reuse, handler placement и формирование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BC1E6-A526-4EAA-9A23-715C1674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B90C7-E09C-49F2-81C3-96BAF8D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666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91F02-D9A0-4D0F-8FC5-0EC98BE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7716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Ускорение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59354-A35D-4AB6-BDB8-7A494A1F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52650"/>
            <a:ext cx="2781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Вместо ручного просмотра сотен записей специалист получает score, severity, confidence, fired/silent findings и representative examples. Это помогает выбрать, куда смотреть сначала.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C4149-1958-46C9-BAB0-FE25946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80F70-FDA2-4245-AFBB-2D72882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6667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F7394-2CFB-4155-BAEE-5654767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716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Проверяемость вывода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B2912-0B24-48CA-8E18-DD87AF8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781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Отчет показывает путь от PE-структуры к признаку. Реверсер может открыть JSON/HTML, сравнить CSV, загрузить Ghidra CSV и вручную подтвердить подозрительный адрес.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307EC-EBD1-4AC6-BA6C-D5AF40B0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Ценность проекта не в том, что он заменяет специалиста, а в том, что он строит карту, дисциплинирует проверку и уменьшает число ручных ошибок.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F6633-A812-4037-860D-0623131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889BE-BCCA-467B-A1E9-9B491BD7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32145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409B1-FBB3-4397-B852-2A2AEF01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A58D3-2642-465C-8602-08F768A6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Границы применения и безопасность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F7F40-9A54-4D88-9E30-9254881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657D1-DE17-41AF-B13D-94B94453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81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• Поддерживаемая область: Windows PE32+ AMD64 и EH/Unwind-метаданные .pdata/.xdata.</a:t>
            </a:r>
          </a:p>
          <a:p xmlns:a="http://schemas.openxmlformats.org/drawingml/2006/main">
            <a:pPr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• Static mode безопасен для первичного анализа, потому что не исполняет target.</a:t>
            </a:r>
          </a:p>
          <a:p xmlns:a="http://schemas.openxmlformats.org/drawingml/2006/main">
            <a:pPr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• Dynamic mode запускает target и должен применяться к неизвестным/подозрительным файлам только в изолированной Windows VM.</a:t>
            </a:r>
          </a:p>
          <a:p xmlns:a="http://schemas.openxmlformats.org/drawingml/2006/main">
            <a:pPr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• Проект не является sandbox, EDR, антивирусом или полной системой malware attribution.</a:t>
            </a:r>
          </a:p>
          <a:p xmlns:a="http://schemas.openxmlformats.org/drawingml/2006/main">
            <a:pPr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• Текущая версия не делает автоматическое дизассемблирование .text и не сверяет UWOP с реальным прологом функции.</a:t>
            </a:r>
          </a:p>
          <a:p xmlns:a="http://schemas.openxmlformats.org/drawingml/2006/main">
            <a:pPr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• Language-specific handler data не универсально парсится без знания конкретного runtime handler-а.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8D121-A4D9-4195-A426-C0D16936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981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FEF87-8B27-4312-8798-6B488DB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24B41-1985-4F74-BA8A-ADE18CB8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946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Правильная защитная формулировка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8921E-370E-4E96-8AF5-E557726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инструмент выявляет технические аномалии EH/Unwind-слоя и дает evidence для специалиста; итоговая интерпретация остается за реверс-инженером.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AE93A-BE8B-4BD7-9A15-80F47C78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5A52D-1000-4027-B136-BF8B3A4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404505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62B13-2FF1-4DA5-B33B-C7389BE7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891B2"/>
                </a:solidFill>
              </a:defRPr>
            </a:pPr>
            <a:r>
              <a:rPr sz="900" b="1" i="0">
                <a:solidFill>
                  <a:srgbClr val="0891B2"/>
                </a:solidFill>
              </a:rPr>
              <a:t>ЗАКЛЮЧЕНИЕ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CE679-7830-4E80-98F3-EC7D141E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72A"/>
                </a:solidFill>
              </a:defRPr>
            </a:pPr>
            <a:r>
              <a:rPr sz="2850" b="1" i="0">
                <a:solidFill>
                  <a:srgbClr val="0F172A"/>
                </a:solidFill>
              </a:rPr>
              <a:t>Итоги и развитие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DCEE8-3496-46BA-83BC-B17494EC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603CA-8001-4E39-B5E3-2E5256F2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1496A-EB80-412C-BA7C-DA90672C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7896B-8685-4EBA-9595-0399E22B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Что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E17C9-263A-471C-A212-9ECBDF92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C17 CLI-ядро, PE parser, unwind decoder, 27 findings, report schema 1.2.0, JSON/HTML/CSV, Ghidra CSV, Windows dynamic collector и тестовый корпус.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C661C-E042-4B6E-8DF0-92A84391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4551A-206C-415A-A6B5-AC8F9FB5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BDD1C-F70E-4B74-89C6-513660D3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Что доказано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C8EDF-7E51-4C42-B751-C98A3F66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1455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Проект воспроизводимо строит карту EH/Unwind-слоя, корректно формирует отчеты, проходит автоматические проверки и имеет corpus-based validation для static и dynamic частей.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13ECE-F55D-4DCE-BEDE-2D82B07E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F0751-6697-41AD-8A16-663AC58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0129F-24D2-4AAA-AB5A-C09291F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F172A"/>
                </a:solidFill>
              </a:defRPr>
            </a:pPr>
            <a:r>
              <a:rPr sz="1500" b="1" i="0">
                <a:solidFill>
                  <a:srgbClr val="0F172A"/>
                </a:solidFill>
              </a:rPr>
              <a:t>Что развивать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6A9EA-A675-4369-BB3D-652755E3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971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</a:defRPr>
            </a:pPr>
            <a:r>
              <a:rPr sz="1200" b="0" i="0">
                <a:solidFill>
                  <a:srgbClr val="475569"/>
                </a:solidFill>
              </a:rPr>
              <a:t>UWOP-vs-prolog disassembly check, более подробные explanatory findings, deeper static/dynamic correlation, база данных сравнений, backend API и frontend dashboard.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06233-3C93-473C-AAA2-4FD3D241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F172A"/>
                </a:solidFill>
              </a:defRPr>
            </a:pPr>
            <a:r>
              <a:rPr sz="1950" b="1" i="0">
                <a:solidFill>
                  <a:srgbClr val="0F172A"/>
                </a:solidFill>
              </a:rPr>
              <a:t>Ключевой вывод: проект является завершенным ядром специализированной системы анализа EH/Unwind-метаданных и готов к передаче как основа продукта или ВКР-защиты.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E04E9-1A2B-4345-9D7C-5488429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891B2"/>
                </a:solidFill>
              </a:defRPr>
            </a:pPr>
            <a:r>
              <a:rPr sz="2175" b="1" i="0">
                <a:solidFill>
                  <a:srgbClr val="0891B2"/>
                </a:solidFill>
              </a:rPr>
              <a:t>Спасибо за внимание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DF7F5-DD52-426E-A3FD-D35C6A64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EH/Unwind Analyzer | ВКР |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9EC05-F016-4A1F-BFBA-03098AC5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4748B"/>
                </a:solidFill>
              </a:defRPr>
            </a:pPr>
            <a:r>
              <a:rPr sz="1050" b="1" i="0">
                <a:solidFill>
                  <a:srgbClr val="64748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83897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2026-08-15T18:01:23.3600000Z</dcterms:created>
  <dcterms:modified xsi:type="dcterms:W3CDTF">2026-08-15T18:01:23.3600000Z</dcterms:modified>
</coreProperties>
</file>