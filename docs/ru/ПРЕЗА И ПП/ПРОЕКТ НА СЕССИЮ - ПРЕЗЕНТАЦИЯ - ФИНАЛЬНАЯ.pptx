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4371fca4084902" /><Relationship Type="http://schemas.openxmlformats.org/officeDocument/2006/relationships/extended-properties" Target="/docProps/app.xml" Id="Re23d161231f64d75" /><Relationship Type="http://schemas.openxmlformats.org/officeDocument/2006/relationships/officeDocument" Target="/ppt/presentation.xml" Id="Rae1c475206644b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d394e4f96348cb"/>
  </p:sldMasterIdLst>
  <p:notesMasterIdLst>
    <p:notesMasterId xmlns:r="http://schemas.openxmlformats.org/officeDocument/2006/relationships" r:id="Rf00ce53decef4542"/>
  </p:notesMasterIdLst>
  <p:sldIdLst>
    <p:sldId xmlns:r="http://schemas.openxmlformats.org/officeDocument/2006/relationships" id="256" r:id="R4e4e7eb4b22948da"/>
    <p:sldId xmlns:r="http://schemas.openxmlformats.org/officeDocument/2006/relationships" id="257" r:id="R7fcf59bc7fc245d7"/>
    <p:sldId xmlns:r="http://schemas.openxmlformats.org/officeDocument/2006/relationships" id="258" r:id="R91fc4ed27dd94fc7"/>
    <p:sldId xmlns:r="http://schemas.openxmlformats.org/officeDocument/2006/relationships" id="259" r:id="Rbce5756aed5e4d47"/>
    <p:sldId xmlns:r="http://schemas.openxmlformats.org/officeDocument/2006/relationships" id="260" r:id="Ra7391c3112c14e8c"/>
    <p:sldId xmlns:r="http://schemas.openxmlformats.org/officeDocument/2006/relationships" id="261" r:id="Rd050bcb5809e4b36"/>
    <p:sldId xmlns:r="http://schemas.openxmlformats.org/officeDocument/2006/relationships" id="262" r:id="R4e1968c078e34a7e"/>
    <p:sldId xmlns:r="http://schemas.openxmlformats.org/officeDocument/2006/relationships" id="263" r:id="Rbceebf6e53ce49f2"/>
    <p:sldId xmlns:r="http://schemas.openxmlformats.org/officeDocument/2006/relationships" id="264" r:id="Rad93d66e17b94f8a"/>
    <p:sldId xmlns:r="http://schemas.openxmlformats.org/officeDocument/2006/relationships" id="265" r:id="R4b69b61cfdce4c22"/>
    <p:sldId xmlns:r="http://schemas.openxmlformats.org/officeDocument/2006/relationships" id="266" r:id="R23c8c734607f4b4d"/>
    <p:sldId xmlns:r="http://schemas.openxmlformats.org/officeDocument/2006/relationships" id="267" r:id="R393b5f324b5d4121"/>
    <p:sldId xmlns:r="http://schemas.openxmlformats.org/officeDocument/2006/relationships" id="268" r:id="R3d0c67b8f682422e"/>
    <p:sldId xmlns:r="http://schemas.openxmlformats.org/officeDocument/2006/relationships" id="269" r:id="Rd10bd37a4e134635"/>
    <p:sldId xmlns:r="http://schemas.openxmlformats.org/officeDocument/2006/relationships" id="270" r:id="R96e0e90b0a6a4e4d"/>
    <p:sldId xmlns:r="http://schemas.openxmlformats.org/officeDocument/2006/relationships" id="271" r:id="Rc389d7780fdf481d"/>
    <p:sldId xmlns:r="http://schemas.openxmlformats.org/officeDocument/2006/relationships" id="272" r:id="R903cbc534b564731"/>
    <p:sldId xmlns:r="http://schemas.openxmlformats.org/officeDocument/2006/relationships" id="273" r:id="R159cc4e1e80b4fcd"/>
    <p:sldId xmlns:r="http://schemas.openxmlformats.org/officeDocument/2006/relationships" id="274" r:id="Rb6d714a0aa5549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f3481e7f794b8d" /><Relationship Type="http://schemas.openxmlformats.org/officeDocument/2006/relationships/slideMaster" Target="/ppt/slideMasters/slideMaster1.xml" Id="Re4d394e4f96348cb" /><Relationship Type="http://schemas.openxmlformats.org/officeDocument/2006/relationships/notesMaster" Target="/ppt/notesMasters/notesMaster1.xml" Id="Rf00ce53decef4542" /><Relationship Type="http://schemas.openxmlformats.org/officeDocument/2006/relationships/presProps" Target="/ppt/presProps.xml" Id="Rf4756ff93e494c77" /><Relationship Type="http://schemas.openxmlformats.org/officeDocument/2006/relationships/tableStyles" Target="/ppt/tableStyles.xml" Id="R98463edf8f1143f4" /><Relationship Type="http://schemas.openxmlformats.org/officeDocument/2006/relationships/slide" Target="/ppt/slides/slide1.xml" Id="R4e4e7eb4b22948da" /><Relationship Type="http://schemas.openxmlformats.org/officeDocument/2006/relationships/slide" Target="/ppt/slides/slide2.xml" Id="R7fcf59bc7fc245d7" /><Relationship Type="http://schemas.openxmlformats.org/officeDocument/2006/relationships/slide" Target="/ppt/slides/slide3.xml" Id="R91fc4ed27dd94fc7" /><Relationship Type="http://schemas.openxmlformats.org/officeDocument/2006/relationships/slide" Target="/ppt/slides/slide4.xml" Id="Rbce5756aed5e4d47" /><Relationship Type="http://schemas.openxmlformats.org/officeDocument/2006/relationships/slide" Target="/ppt/slides/slide5.xml" Id="Ra7391c3112c14e8c" /><Relationship Type="http://schemas.openxmlformats.org/officeDocument/2006/relationships/slide" Target="/ppt/slides/slide6.xml" Id="Rd050bcb5809e4b36" /><Relationship Type="http://schemas.openxmlformats.org/officeDocument/2006/relationships/slide" Target="/ppt/slides/slide7.xml" Id="R4e1968c078e34a7e" /><Relationship Type="http://schemas.openxmlformats.org/officeDocument/2006/relationships/slide" Target="/ppt/slides/slide8.xml" Id="Rbceebf6e53ce49f2" /><Relationship Type="http://schemas.openxmlformats.org/officeDocument/2006/relationships/slide" Target="/ppt/slides/slide9.xml" Id="Rad93d66e17b94f8a" /><Relationship Type="http://schemas.openxmlformats.org/officeDocument/2006/relationships/slide" Target="/ppt/slides/slide10.xml" Id="R4b69b61cfdce4c22" /><Relationship Type="http://schemas.openxmlformats.org/officeDocument/2006/relationships/slide" Target="/ppt/slides/slide11.xml" Id="R23c8c734607f4b4d" /><Relationship Type="http://schemas.openxmlformats.org/officeDocument/2006/relationships/slide" Target="/ppt/slides/slide12.xml" Id="R393b5f324b5d4121" /><Relationship Type="http://schemas.openxmlformats.org/officeDocument/2006/relationships/slide" Target="/ppt/slides/slide13.xml" Id="R3d0c67b8f682422e" /><Relationship Type="http://schemas.openxmlformats.org/officeDocument/2006/relationships/slide" Target="/ppt/slides/slide14.xml" Id="Rd10bd37a4e134635" /><Relationship Type="http://schemas.openxmlformats.org/officeDocument/2006/relationships/slide" Target="/ppt/slides/slide15.xml" Id="R96e0e90b0a6a4e4d" /><Relationship Type="http://schemas.openxmlformats.org/officeDocument/2006/relationships/slide" Target="/ppt/slides/slide16.xml" Id="Rc389d7780fdf481d" /><Relationship Type="http://schemas.openxmlformats.org/officeDocument/2006/relationships/slide" Target="/ppt/slides/slide17.xml" Id="R903cbc534b564731" /><Relationship Type="http://schemas.openxmlformats.org/officeDocument/2006/relationships/slide" Target="/ppt/slides/slide18.xml" Id="R159cc4e1e80b4fcd" /><Relationship Type="http://schemas.openxmlformats.org/officeDocument/2006/relationships/slide" Target="/ppt/slides/slide19.xml" Id="Rb6d714a0aa5549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0310bd875e41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4db426d4814d28" /><Relationship Type="http://schemas.openxmlformats.org/officeDocument/2006/relationships/notesMaster" Target="/ppt/notesMasters/notesMaster1.xml" Id="R134127e23cbb4f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4fcde134324f59" /><Relationship Type="http://schemas.openxmlformats.org/officeDocument/2006/relationships/notesMaster" Target="/ppt/notesMasters/notesMaster1.xml" Id="R5753a638693548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27c197d9fe4b16" /><Relationship Type="http://schemas.openxmlformats.org/officeDocument/2006/relationships/notesMaster" Target="/ppt/notesMasters/notesMaster1.xml" Id="Rb62e04d3c0e046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0fe63d30a4436b" /><Relationship Type="http://schemas.openxmlformats.org/officeDocument/2006/relationships/notesMaster" Target="/ppt/notesMasters/notesMaster1.xml" Id="R308cccdc265448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935795e80843f2" /><Relationship Type="http://schemas.openxmlformats.org/officeDocument/2006/relationships/notesMaster" Target="/ppt/notesMasters/notesMaster1.xml" Id="Rd0e1eca8124b4a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25919b762c4c93" /><Relationship Type="http://schemas.openxmlformats.org/officeDocument/2006/relationships/notesMaster" Target="/ppt/notesMasters/notesMaster1.xml" Id="Rcd7d06ffea1347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9c3cc3edf6478c" /><Relationship Type="http://schemas.openxmlformats.org/officeDocument/2006/relationships/notesMaster" Target="/ppt/notesMasters/notesMaster1.xml" Id="R27258027197a46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d02bb39a6841b0" /><Relationship Type="http://schemas.openxmlformats.org/officeDocument/2006/relationships/notesMaster" Target="/ppt/notesMasters/notesMaster1.xml" Id="R9d5ae51c474849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d6bc2eda4d4067" /><Relationship Type="http://schemas.openxmlformats.org/officeDocument/2006/relationships/notesMaster" Target="/ppt/notesMasters/notesMaster1.xml" Id="Rfe0afd550c3544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17c773e1824ce2" /><Relationship Type="http://schemas.openxmlformats.org/officeDocument/2006/relationships/notesMaster" Target="/ppt/notesMasters/notesMaster1.xml" Id="R9ee6dfd2b28640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a55a14706d4b41" /><Relationship Type="http://schemas.openxmlformats.org/officeDocument/2006/relationships/notesMaster" Target="/ppt/notesMasters/notesMaster1.xml" Id="Rdecce4e5a3d344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2b06a4b2974738" /><Relationship Type="http://schemas.openxmlformats.org/officeDocument/2006/relationships/notesMaster" Target="/ppt/notesMasters/notesMaster1.xml" Id="R5e99175e11924d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20523c50734da1" /><Relationship Type="http://schemas.openxmlformats.org/officeDocument/2006/relationships/notesMaster" Target="/ppt/notesMasters/notesMaster1.xml" Id="Rc02c3cf69f284ee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ea2a1eb5bd24597" /><Relationship Type="http://schemas.openxmlformats.org/officeDocument/2006/relationships/notesMaster" Target="/ppt/notesMasters/notesMaster1.xml" Id="Rac8dd50a3d0b467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7934b0181634ca5" /><Relationship Type="http://schemas.openxmlformats.org/officeDocument/2006/relationships/notesMaster" Target="/ppt/notesMasters/notesMaster1.xml" Id="R28b3356bbc82432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8cb65b31c94d46" /><Relationship Type="http://schemas.openxmlformats.org/officeDocument/2006/relationships/notesMaster" Target="/ppt/notesMasters/notesMaster1.xml" Id="R95551327cbb0469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baa547f94e145ea" /><Relationship Type="http://schemas.openxmlformats.org/officeDocument/2006/relationships/notesMaster" Target="/ppt/notesMasters/notesMaster1.xml" Id="R8f99f3b4265941a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d87dc45f4a04139" /><Relationship Type="http://schemas.openxmlformats.org/officeDocument/2006/relationships/notesMaster" Target="/ppt/notesMasters/notesMaster1.xml" Id="Rf80e37d64c6c434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66b28c23a37403d" /><Relationship Type="http://schemas.openxmlformats.org/officeDocument/2006/relationships/notesMaster" Target="/ppt/notesMasters/notesMaster1.xml" Id="R73a50cb7e74a4d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сравнения: LLVM llvm-readobj, https://llvm.org/docs/CommandGuide/llvm-readobj.html; LIEF PE RuntimeFunctionX64, https://lief.re/doc/stable/doxygen/classLIEF_1_1PE_1_1RuntimeFunctionX64.html; PE-bear, https://github.com/hasherezade/pe-bear; Ghidra Debugger, https://ghidra.re/ghidra_docs/GhidraClass/Debugger/README.html; WinDbg exception events, https://learn.microsoft.com/en-us/windows-hardware/drivers/debugger/configuring-exceptions-and-events-in-windbg. Выводы о различиях являются сопоставлением заявленных стандартных функций с реализацией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e6d66a071d41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0f31bc972b47e0" /><Relationship Type="http://schemas.openxmlformats.org/officeDocument/2006/relationships/slideLayout" Target="/ppt/slideLayouts/slideLayout1.xml" Id="R2f0119dbae0340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0119dbae0340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7619cd7d84446" /><Relationship Type="http://schemas.openxmlformats.org/officeDocument/2006/relationships/notesSlide" Target="/ppt/notesSlides/notesSlide1.xml" Id="R065b35b2f8f34b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a5bc4d54b44d6" /><Relationship Type="http://schemas.openxmlformats.org/officeDocument/2006/relationships/notesSlide" Target="/ppt/notesSlides/notesSlide2.xml" Id="Rb7f9903eb0bc42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42616310a4863" /><Relationship Type="http://schemas.openxmlformats.org/officeDocument/2006/relationships/notesSlide" Target="/ppt/notesSlides/notesSlide3.xml" Id="Rde25db1221964c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6bbf7da5a4f65" /><Relationship Type="http://schemas.openxmlformats.org/officeDocument/2006/relationships/notesSlide" Target="/ppt/notesSlides/notesSlide4.xml" Id="R23745800ca3049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f6c1231724334" /><Relationship Type="http://schemas.openxmlformats.org/officeDocument/2006/relationships/notesSlide" Target="/ppt/notesSlides/notesSlide5.xml" Id="Rc764d33131334a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c332e16ca4e04" /><Relationship Type="http://schemas.openxmlformats.org/officeDocument/2006/relationships/notesSlide" Target="/ppt/notesSlides/notesSlide6.xml" Id="R846d7a085b6241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6b9453f554dec" /><Relationship Type="http://schemas.openxmlformats.org/officeDocument/2006/relationships/notesSlide" Target="/ppt/notesSlides/notesSlide7.xml" Id="R1ec327b0ca5849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92dbd0dcc4aeb" /><Relationship Type="http://schemas.openxmlformats.org/officeDocument/2006/relationships/notesSlide" Target="/ppt/notesSlides/notesSlide8.xml" Id="Rf19c89d197754c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b454520b94e9c" /><Relationship Type="http://schemas.openxmlformats.org/officeDocument/2006/relationships/notesSlide" Target="/ppt/notesSlides/notesSlide9.xml" Id="R09f1648cdf1f40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431f65c834898" /><Relationship Type="http://schemas.openxmlformats.org/officeDocument/2006/relationships/notesSlide" Target="/ppt/notesSlides/notesSlide10.xml" Id="R7a927598e93645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26f32cfec4e6b" /><Relationship Type="http://schemas.openxmlformats.org/officeDocument/2006/relationships/notesSlide" Target="/ppt/notesSlides/notesSlide11.xml" Id="R0d8b3ab441e148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e74d50ae64319" /><Relationship Type="http://schemas.openxmlformats.org/officeDocument/2006/relationships/notesSlide" Target="/ppt/notesSlides/notesSlide12.xml" Id="R275a97f68b074c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01912f9ef4fe3" /><Relationship Type="http://schemas.openxmlformats.org/officeDocument/2006/relationships/notesSlide" Target="/ppt/notesSlides/notesSlide13.xml" Id="R4df776b1380a41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7a7b4bc344617" /><Relationship Type="http://schemas.openxmlformats.org/officeDocument/2006/relationships/notesSlide" Target="/ppt/notesSlides/notesSlide14.xml" Id="Rbddfc8212a6949a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8625b36ac481f" /><Relationship Type="http://schemas.openxmlformats.org/officeDocument/2006/relationships/notesSlide" Target="/ppt/notesSlides/notesSlide15.xml" Id="Rc584115b3c0b40f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0a4a012304af1" /><Relationship Type="http://schemas.openxmlformats.org/officeDocument/2006/relationships/notesSlide" Target="/ppt/notesSlides/notesSlide16.xml" Id="Rec4e6cbb89554ae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3e6615b494cf7" /><Relationship Type="http://schemas.openxmlformats.org/officeDocument/2006/relationships/notesSlide" Target="/ppt/notesSlides/notesSlide17.xml" Id="Rbdaa99b33de0442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ba912fa69426e" /><Relationship Type="http://schemas.openxmlformats.org/officeDocument/2006/relationships/notesSlide" Target="/ppt/notesSlides/notesSlide18.xml" Id="R198fbdec7c0a4b0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ea4dcc13243ae" /><Relationship Type="http://schemas.openxmlformats.org/officeDocument/2006/relationships/notesSlide" Target="/ppt/notesSlides/notesSlide19.xml" Id="R850f286bcaad4002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2000">
              <a:srgbClr val="F8FFFD"/>
            </a:gs>
            <a:gs pos="100000">
              <a:srgbClr val="ECFEFF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553AE-51EF-41B2-A8FF-D58A5680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B9FDD-55F9-4338-889F-C5C58E58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86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938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Инструмент структурного анализа и выявления аномалий в PE32+ AMD64 EH/Unwind-метаданных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7B60E-64B7-4295-99AF-C631DA03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FCF1D-040F-41BC-BAD8-6880D0B1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762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13AC7-A06A-42D8-A1CB-44E77329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81200"/>
            <a:ext cx="9334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Инструмент структурного анализа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и выявления аномалий в PE32+ AMD64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EH/Unwind-метаданных</a:t>
            </a:r>
          </a:p>
        </p:txBody>
      </p:sp>
    </p:spTree>
    <p:extLst>
      <p:ext uri="{BB962C8B-B14F-4D97-AF65-F5344CB8AC3E}">
        <p14:creationId xmlns:p14="http://schemas.microsoft.com/office/powerpoint/2010/main" val="1016373912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2000">
              <a:srgbClr val="F8FFFD"/>
            </a:gs>
            <a:gs pos="100000">
              <a:srgbClr val="ECFEFF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D7E26E-28F8-4784-9A75-FFAC30DD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83FDB-C8A4-4A80-96EA-18F6AA20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86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938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Инструмент структурного анализа и выявления аномалий в PE32+ AMD64 EH/Unwind-метаданных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A2A72-5AFA-4EEF-B1C3-167B1762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E10B3-FC4D-49E0-B937-2A1F1A36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Проблематика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CC2CC-CFAA-4D4D-833B-5407DB65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EH/Unwind-метаданные определяют восстановление стека и участие обработчиков исключений, однако их ручная проверка требует многократных адресных преобразований и строгого соблюдения бинарного формата.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73C3E-C549-46FE-9B7E-CEB27F97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2BC56-E19E-4EAA-8D69-ED9B7D94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704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Один PE-файл может содержать сотни или тысячи RUNTIME_FUNCTION. Проверка каждой записи вручную масштабируется линейно и повторяет одни и те же действия.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84591-E5E5-436A-B4AD-DF08334E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0E4A8-36AA-4417-9BE2-F646B5AC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704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Смешение VA, RVA и file offset приводит к чтению корректных байтов по неверному адресу и формирует последовательность ложных выводов.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A3BA1-27AF-4EDE-AC5A-72A30DE9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4951D-5BF3-4028-9FCE-AAE089B5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704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Неверный учёт дополнительных ячеек UWOP или выравнивания сдвигает чтение handler RVA и CHAININFO.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36900-8440-436F-BFB4-5016F8C6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CA799-3B77-431E-A415-D76A57D6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43450"/>
            <a:ext cx="704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Без фиксации поля, адреса, секции и точки отказа результат ручного анализа трудно воспроизвести и независимо проверить.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6A1F5-AEB4-49B9-838C-FB09EDDB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0" cy="3238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72D1D-5B25-4436-A9A3-2EFC54AD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193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Аналитическая задача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37DBA-9743-41B9-8AF2-FE5EFFD1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14650"/>
            <a:ext cx="2476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Операционной системе достаточно прочитать метаданные при выполнении. Аналитику требуется построить проверяемую карту: связать функцию, .pdata, UNWIND_INFO, секцию, права доступа и конкретное нарушение.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C13304-43FA-4160-9604-D0290607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48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Искомый 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3A9793-6282-4ED3-BCF5-694C26DE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911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Единообразная и воспроизводимая первичная проверка всего файла.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CD35E-769B-4CBA-98F7-E5989495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86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11985957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2000">
              <a:srgbClr val="F8FFFD"/>
            </a:gs>
            <a:gs pos="100000">
              <a:srgbClr val="ECFEFF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E5A703-24CB-41FB-918D-8CE806F9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9B4E0-317C-4247-84AC-EA86B057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86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938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Инструмент структурного анализа и выявления аномалий в PE32+ AMD64 EH/Unwind-метаданных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0A7AA-FC32-414E-AA17-A936DAAF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A33F7-5F34-47CD-96C3-AA731559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Решение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0317D-6FE0-474C-B390-26EDECB3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Инструмент статически разбирает PE32+ AMD64, строит функцию-ориентированную EH/Unwind-карту, проверяет 27 объяснимых правил и формирует отчёты. Windows-сборка дополнительно собирает ограниченные события выполнения.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A06D6-F71B-4B9B-80C2-6677D155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143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2B5DF-4F88-416A-B688-B2098E02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99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PE-файл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B4242-3EFA-4995-A687-A06A2E26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5270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4AC42-9D74-44F0-9122-FDA1FE53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43150"/>
            <a:ext cx="12382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3FCEE-17DC-4772-9D04-29DD9A04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0030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PE-карта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C5FB6-0300-4F20-BA1B-E684026F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5270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6BF18-15D1-4D6B-8D51-52BC1D93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43150"/>
            <a:ext cx="17145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E1519-E755-47AB-8AB0-2EA3487D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0030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EH/Unwind-карта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B10B8B-198A-4812-91BF-9C4FD414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5270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26EE3-0219-45E1-A164-2EEF015B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12382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900067-A181-4843-BAD8-2BEDBABF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27 правил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D8C72C-DEF9-4522-9F14-73A72A89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5270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BBE65A-8D6F-4021-A14C-8578369B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12382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471404-128E-4273-93A6-04F68E32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Findings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081A14-8751-4A8E-9387-6CB34C0F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5270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F4B58B-C0F1-456C-826F-25828E23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43150"/>
            <a:ext cx="12382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423968-A049-4827-82D7-364344DA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0030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Отчёты</a:t>
            </a:r>
          </a:p>
        </p:txBody>
      </p:sp>
      <p:graphicFrame>
        <p:nvGraphicFramePr>
          <p:cNvPr id="47" name=""/>
          <p:cNvGraphicFramePr/>
          <p:nvPr/>
        </p:nvGraphicFramePr>
        <p:xfrm>
          <a:off xmlns:a="http://schemas.openxmlformats.org/drawingml/2006/main" x="2095500" y="3524250"/>
          <a:ext xmlns:a="http://schemas.openxmlformats.org/drawingml/2006/main" cx="80010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5667375"/>
              </a:tblGrid>
              <a:tr h="40005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Компонент результата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Назначение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</a:tr>
              <a:tr h="542925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Статическая карта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0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Связывает физические байты файла, секции, диапазоны функций и UNWIND_INFO.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Finding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0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Фиксирует сработавшее правило, серьёзность, количество нарушений и доказательные координаты.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542925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Динамические данные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0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Подтверждают события, достигнутые в конкретном запуске под Windows Debug API.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Контракт отчёта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0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Передаёт одну и ту же модель в HTML, JSON, CSV и разметку Ghidra.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2BAF5C-CF47-4BE1-8857-F880F958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86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35347434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2000">
              <a:srgbClr val="F8FFFD"/>
            </a:gs>
            <a:gs pos="100000">
              <a:srgbClr val="ECFEFF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640A6-8E9E-471A-BF02-8B86E400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CBB92-8B5E-4C48-A745-5E09F21C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86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938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Инструмент структурного анализа и выявления аномалий в PE32+ AMD64 EH/Unwind-метаданных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CBF56-B13D-4CB9-8E7A-01D94C47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2DB25-24AF-4FDE-BDAD-0E4E798B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Сравнение с функциональными аналогами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99152-3E34-42F3-B520-A8D139A3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Сравнение выполнено по стандартным возможностям, заявленным в официальной документации. Рассматриваемые средства решают смежные задачи и не являются полными взаимозаменяемыми реализациями.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14350" y="2209800"/>
          <a:ext xmlns:a="http://schemas.openxmlformats.org/drawingml/2006/main" cx="11163300" cy="4057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190750"/>
                <a:gridCol w="2381250"/>
                <a:gridCol w="2095500"/>
                <a:gridCol w="3067050"/>
              </a:tblGrid>
              <a:tr h="43815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9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Средство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9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Основное назначение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9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Работа с EH/Unwind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9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Динамическое наблюдение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9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Позиционирование относительно проекта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</a:tr>
              <a:tr h="60325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LLVM llvm-readobj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Вывод низкоуровневых структур объектных файлов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Вывод unwind information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Не предусмотрено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Декодирует данные, но не формирует каталог аномалий и объединённую оценку.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LIEF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Библиотека разбора и модификации исполняемых форматов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Модели x64 RUNTIME_FUNCTION и UNWIND_INFO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Не является готовым сценарием Windows-отладки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Предоставляет программный интерфейс; правила, отчёты и процесс валидации требуется создавать отдельно.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0325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PE-bear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Графическое первичное исследование PE, включая повреждённые файлы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Инспекция в составе общей PE-карты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Не предусмотрено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Ориентирован на универсальный ручной обзор PE, а не на специализированную проверку EH/Unwind.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Ghidra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Дизассемблирование, декомпиляция, разметка и отладка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Использует данные в составе общего анализа программы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Через подсистему Debugger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Глубже исследует код; проект предварительно локализует записи и передаёт подготовленную разметку.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0325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WinDbg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Интерактивная диагностика процесса Windows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Исключения, стек и точки останова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Полноценная интерактивная отладка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Сильнее в ручной динамической диагностике; не заменяет кроссплатформенный анализ файла и пакетные отчёты.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Данный проект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Специализированная проверка PE32+ AMD64 EH/Unwind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Карта функций, декодирование и 27 объяснимых правил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Ограниченная валидация через Windows Debug API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96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Единый воспроизводимый конвейер с HTML, JSON, CSV и экспортом в Ghidra.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42242-00C3-41D8-B4C2-238545AB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86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63892579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2000">
              <a:srgbClr val="F8FFFD"/>
            </a:gs>
            <a:gs pos="100000">
              <a:srgbClr val="ECFEFF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A9952F-D0C7-4A65-A854-FFF7F834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5A4E2-5A90-461D-8FAF-17BB6444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86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938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Инструмент структурного анализа и выявления аномалий в PE32+ AMD64 EH/Unwind-метаданных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F4860-5A8D-4F1E-AB79-E70C00D2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D41F6-AC18-439B-9562-30C80BF2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Область применения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2C8B9-AAA1-4790-935C-68B98431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Продукт ориентирован на структурный анализ служебных данных Windows x64. Границы входа, режима выполнения и формируемого результата разделены явно.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666750" y="2324100"/>
          <a:ext xmlns:a="http://schemas.openxmlformats.org/drawingml/2006/main" cx="108585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810000"/>
                <a:gridCol w="3810000"/>
              </a:tblGrid>
              <a:tr h="45720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Объект анализа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Статический режим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Динамический режим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</a:tr>
              <a:tr h="125730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Windows PE32+ AMD64</a:t>
                      </a:r>
                    </a:p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EXE, DLL и иные PE-образы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Работает без запуска файла. Ядро может быть собрано для Windows, Linux или macOS.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Работает только в Windows и создаёт исполняемый EXE как отлаживаемый процесс.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06990-F485-48F8-A02C-9012DBC9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Предмет анализа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A2657-7201-45CA-B7E2-E296715B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1B5D6-6BF6-4201-98D7-8D153BF4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Exception Directory и таблица RUNTIME_FUNCTION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FA180-5651-483D-9AA5-8B1EE11C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1A549-0EDB-4A99-B9F7-C1D7C4C4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387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UNWIND_INFO, UNWIND_CODE, handler и CHAININFO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59D4D-40B2-4506-B4E3-F16D4D3F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62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Результат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ED3F9-82FD-4D02-A3CE-AF85907A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5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CA42F-1F37-455E-AB61-95167A1D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815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Карта структур, локальные диагностики и 27 признаков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4E089-BDEA-41F1-968C-0294C660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72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3598F-39C5-41DA-BC40-B63E5952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959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HTML, JSON, CSV, Ghidra CSV и терминальная сводка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EA8EF-6A88-481B-BEC4-6B527881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62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Назначение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E61156-876C-4E12-A52A-5A784903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5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3D18FE-F2C2-4311-91B3-F19D9012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815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Первичная проверка и приоритизация ручного исследования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BF0139-5FD9-49D1-9288-CB6ED55D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2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DEE20E-EB61-41BE-8932-4F879401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353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Интеграция результатов в аналитический процесс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3CE58E-59F1-486A-AAEF-3CE4A361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86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29065973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2000">
              <a:srgbClr val="F8FFFD"/>
            </a:gs>
            <a:gs pos="100000">
              <a:srgbClr val="ECFEFF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26A7F-6C88-43EA-9D44-19B5EF8C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78C94-6E7C-4EAC-8066-1AE2DF34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86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938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Инструмент структурного анализа и выявления аномалий в PE32+ AMD64 EH/Unwind-метаданных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662F3-E023-4E92-963F-E01EB617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E5917-CFEE-4DCD-85FA-5766635C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Архитектура проекта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FB5DB-2B92-45A6-A5D1-EA74CA95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Модульный монолит выполняет анализ в одном процессе. Модули обмениваются проверенными структурами данных и не дублируют интерпретацию недоверенных байтов.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66750" y="2266950"/>
          <a:ext xmlns:a="http://schemas.openxmlformats.org/drawingml/2006/main" cx="52387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3810000"/>
              </a:tblGrid>
              <a:tr h="40005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Модуль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Строгая ответственность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</a:tr>
              <a:tr h="66294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main.c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Разбор параметров, порядок вызовов, владение объектами и код завершения.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util.c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Загрузка Buf, безопасное чтение, строки, SHA-256 и атомарная запись.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6294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pe.c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Допуск PE32+ AMD64, PeImage, секции и перевод RVA в file offset.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unwind.c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RUNTIME_FUNCTION, UNWIND_INFO, UWOP, handler и CHAININFO.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6294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heuristics.c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27 правил, findings, сумма весов, Score, severity и confidence.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6286500" y="2266950"/>
          <a:ext xmlns:a="http://schemas.openxmlformats.org/drawingml/2006/main" cx="52387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714750"/>
              </a:tblGrid>
              <a:tr h="40005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Модуль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Строгая ответственность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</a:tr>
              <a:tr h="66294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dynamic_win.c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Windows Debug API, breakpoints, события исключений и RIP trace.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report.c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Сериализация готовых моделей в терминал, JSON, HTML и CSV.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6294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app_info.c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Версия, схема отчёта, платформа, компилятор и режим сборки.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include/*.h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Контракты структур и функций между реализациями модулей.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6294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Ghidra importer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Перенос диапазонов, имён, комментариев и закладок в Ghidra.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4B8B5-0BD9-4A7A-AF82-75763763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293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Поток данных: Buf  →  PeImage  →  RuntimeFunction[] + UnwindSummary[]  →  HeuristicReport / DynamicReport  →  отчёты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B0741-1DA8-4BA7-A44F-7C4E8D88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86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8295850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2000">
              <a:srgbClr val="F8FFFD"/>
            </a:gs>
            <a:gs pos="100000">
              <a:srgbClr val="ECFEFF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A1BC33-13BF-4C85-91A9-D70A7786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96546-B311-4044-BD77-85871734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86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938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Инструмент структурного анализа и выявления аномалий в PE32+ AMD64 EH/Unwind-метаданных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7DBA4-39BD-4E04-8713-638D36BA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87531-3533-4CB7-B878-51DC20D8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Схема взаимодействия модулей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D9A10-355F-4676-9FC6-957A3D55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main.c управляет последовательностью вызовов. Статический маршрут строит проверенную EH/Unwind-карту, динамическая ветвь добавляет наблюдения Windows, а report.c формирует представления одной общей модели.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DA700-7EA2-4700-8831-780F1CD5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152650"/>
            <a:ext cx="7524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96116-178F-4E6F-88D3-7DEA2872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24790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main.c  ·  параметры CLI, последовательность анализа и время жизни объектов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99282-462B-4EA6-8AF8-7995F974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667000"/>
            <a:ext cx="1714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7C7A4-7279-49EE-B190-F7CB9124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143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FCABF-B3AD-4E16-B26E-27553DDC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Входной 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1F389-3057-473E-960E-28F270A2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13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13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байты файла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0DEFC-B38D-4949-B7AF-20F49712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333750"/>
            <a:ext cx="2952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E65A5-E15C-49E7-BD01-E82C616D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09900"/>
            <a:ext cx="1428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5655E-EDC2-478A-83E9-E3144B83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24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util.c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65EC7-E0B9-443B-84E4-6727584A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099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13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13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Buf и безопасное чтение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3D1F4-D254-4A56-80DA-5917ACC2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33750"/>
            <a:ext cx="2000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CAB695-6502-43CC-B280-E0630082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9900"/>
            <a:ext cx="1428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EC6C08-CA93-4F88-B44F-EAC26A58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24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pe.c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4DD974-8CA4-4520-8B4F-CB52DF79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99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13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13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PeImage и отображение RVA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A9121D-7E16-4BAB-9279-328AFEFC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333750"/>
            <a:ext cx="2000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0BA45C-4CF9-4B63-8CC3-5902F2AE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09900"/>
            <a:ext cx="1571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D4EEC6-BEE4-4F2F-B528-CAEC061A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1242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unwind.c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042533-994A-4E9D-820D-1B1B455C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0995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13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13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RuntimeFunction[]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13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13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UnwindSummary[]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581121-1967-4FBD-B26C-93E2ABDA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333750"/>
            <a:ext cx="2000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E70302-3170-4AF5-AD41-98208176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0990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205BBC-9453-45BD-B497-B7FF9E53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24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heuristics.c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D45EC0-1567-44BA-8EE6-C4987BE8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099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13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13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27 правил и HeuristicReport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477AC5-AA81-4FA4-9304-F0900763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33750"/>
            <a:ext cx="2000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806B83-6309-43BA-8872-54CB427F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09900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703437-CE53-44C3-AEC3-924D826F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24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report.c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C264A7-E310-4D5B-B7FE-C1F4EAE0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099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13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13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HTML · JSON · CSV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13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13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Ghidra CSV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3A256-07DF-40F4-B970-124E7C8B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62400"/>
            <a:ext cx="17145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1A0037-861A-4CB1-88CF-CBCBDBED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57700"/>
            <a:ext cx="3429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906678-1BE5-48B5-BF56-BE2EDB6E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57200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dynamic_win.c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0734B9-66B7-41F1-9F8F-2F587DEA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768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13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13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Windows Debug API, точки останова, исключения, регистрации обработчиков и DynamicReport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3A491E-729A-4CB9-8CDA-2B08597F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339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938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DynamicReport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17A748-D943-42CB-A1B1-CA367F40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19650"/>
            <a:ext cx="1743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C7966E-D7BD-4AAB-A853-1E04E7F0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5765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7CA2B4-CAFA-4E02-95D2-D81D66FD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867150"/>
            <a:ext cx="171450" cy="1905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857310-8519-41D5-AD80-AC20C0C2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19750"/>
            <a:ext cx="1666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D58006-367D-4A3C-AFF8-2506829A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6959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app_info.c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F39A8E-1D6E-4ED8-BF58-4E0F53C9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9436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938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ReportMetadata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D36D46-C588-4E71-8B6F-F306CBC1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962400"/>
            <a:ext cx="0" cy="1390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DA9AC1-E692-4E49-B0AD-63842171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353050"/>
            <a:ext cx="17145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D3B334-96F2-4007-8F5C-4EE98C3B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0482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938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Ghidra CSV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3705DD-AADC-4350-B9B7-2EE03F2B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619750"/>
            <a:ext cx="190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263495-ADDA-41B1-BC0E-084E0C9A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959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Ghidra importer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F52D21-834C-4955-9169-D6DE9E8A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94360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0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938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функции, комментарии и закладки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6A5F26-FFF0-41C6-B501-EC9F3F7D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86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26876022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2000">
              <a:srgbClr val="F8FFFD"/>
            </a:gs>
            <a:gs pos="100000">
              <a:srgbClr val="ECFEFF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C46EF-1C3D-42B1-A78E-66DCB20D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44B61-6876-4CB9-B2A8-06B995A0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86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938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Инструмент структурного анализа и выявления аномалий в PE32+ AMD64 EH/Unwind-метаданных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73791-EDD9-4483-BC43-0BC96985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0AB61-0CE5-433A-84A1-A2FF672E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Технологический стек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C9DCD-8F33-43CF-AA5D-61D144E6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Технологии выбраны по границам продукта: переносимое системное ядро, нативное наблюдение Windows, воспроизводимая сборка, машиночитаемые отчёты и автоматизированная проверка.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2190750"/>
          <a:ext xmlns:a="http://schemas.openxmlformats.org/drawingml/2006/main" cx="108585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429000"/>
                <a:gridCol w="5715000"/>
              </a:tblGrid>
              <a:tr h="41910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Уровень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Технологии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Назначение в проекте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</a:tr>
              <a:tr h="536121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Ядро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C17 · статическая библиотека ehua_core · CLI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Безопасный разбор байтов, PE-структур, unwind-метаданных и эвристическая оценка.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6121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Сборка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CMake 3.23+ · CMake Presets · Ninja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Единые конфигурации разработки, тестирования, инструментирования и выпуска.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536121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Компиляторы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MSVC 2022 · MinGW-w64/GCC · Clang/GCC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Проверка Windows x64 и переносимого статического ядра в Windows, Linux и macOS.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6121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Системный слой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PE32+ AMD64 ABI · Windows Debug API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Статическое исследование формата и динамический сбор событий в Windows.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536121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Отчётность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JSON Schema 2020-12 · HTML/CSS/JavaScript · CSV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Проверяемый контракт данных, самостоятельный HTML-отчёт и табличный экспорт.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6121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Интеграция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Python 3 · Ghidra Script API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Импорт диапазонов функций, имён, комментариев и диагностических закладок.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536121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Проверка качества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CTest · Python/jsonschema · ASan/UBSan · gcovr · libFuzzer · GitHub Actions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Модульные, регрессионные, схемные, мутационные и межплатформенные проверки.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E7BE4-DC52-47B4-8111-26DDF2F9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86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07663718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2000">
              <a:srgbClr val="F8FFFD"/>
            </a:gs>
            <a:gs pos="100000">
              <a:srgbClr val="ECFEFF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054BC5-DB68-421A-9E17-DE678B2E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9B104-D721-45C5-8454-BFF50AC2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86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938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Инструмент структурного анализа и выявления аномалий в PE32+ AMD64 EH/Unwind-метаданных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2F5D2-7D65-4DA2-B29C-BC5422B5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09FD8-FF8B-470D-94CA-4979BEBB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Статический слой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8C42D-98F4-4360-9795-37D500C0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Статический анализ исследует байты файла без передачи управления его точке входа. Каждый следующий этап использует только данные, прошедшие проверку границ и адресного отображения.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46340-2F98-40BB-81E5-E2FA1928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D9A5E-4D8D-4C34-AD5E-C847C697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63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Buf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63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границы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A44AA-98AA-46F3-8429-34D32E38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3365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3D43F-1C61-49E7-97C3-B0F97BA7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05050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4533B-D3E2-42E2-B094-3BF70E72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622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63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PE32+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63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допуск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C77D2-D39E-44FC-8BC5-D79CD3E5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3365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3C26E4-99C1-4F06-8058-B989AD87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11C65-45F5-445F-B2D0-B3EE3F40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63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Секции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63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RVA ↔ offset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E05B3F-FD96-419E-8CCA-462B8E91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3365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28D6C-1BAE-48FF-AB43-DEA8D084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05050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04BCF-0D89-4E4D-9A6B-EB46F51A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63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.pdata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63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функции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84499-9F6C-4BEF-8075-FB5E4F6F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3365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BB12CB-4BD6-4851-A1BF-9AC0957E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05050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F1C512-9A58-4B54-8F0B-41135D3F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63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.xdata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63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unwind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657361-B358-4346-9D62-7E42F188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3365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D57CB3-D43A-481E-B34F-F966C681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05050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4CB475-3FD8-4482-9573-8F11D36B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622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63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Эвристики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63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27 правил</a:t>
            </a:r>
          </a:p>
        </p:txBody>
      </p:sp>
      <p:graphicFrame>
        <p:nvGraphicFramePr>
          <p:cNvPr id="48" name=""/>
          <p:cNvGraphicFramePr/>
          <p:nvPr/>
        </p:nvGraphicFramePr>
        <p:xfrm>
          <a:off xmlns:a="http://schemas.openxmlformats.org/drawingml/2006/main" x="819150" y="3352800"/>
          <a:ext xmlns:a="http://schemas.openxmlformats.org/drawingml/2006/main" cx="105537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4953000"/>
                <a:gridCol w="3981450"/>
              </a:tblGrid>
              <a:tr h="40005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Уровень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Что проверяется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Что получает следующий этап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</a:tr>
              <a:tr h="581025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Форматный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MZ, PE signature, Machine AMD64, PE32+, размеры и таблица секций.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PeImage и единая система координат.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Синтаксический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RUNTIME_FUNCTION, заголовок UNWIND_INFO, UWOP, дополнительные slots, padding и tail.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UnwindSummary для каждой функции либо локальная диагностика.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581025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Структурный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Границы, сортировка, перекрытия, CodeOffset, цепочки, адреса handler и права секций.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Счётчики нарушений и доказательные координаты.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Эвристический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Целостность, размещение, reuse, dominance и четыре комбинированных условия.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Findings, Severity, score_weight_sum, Score и Confidence.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8D6CA8-A1F6-46D5-94C9-482A214E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229350"/>
            <a:ext cx="1017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163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Граница: версия не дизассемблирует .text и автоматически не сопоставляет UWOP с машинным прологом.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F88E51-0FFB-4C99-B6DF-8467D450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86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4211311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2000">
              <a:srgbClr val="F8FFFD"/>
            </a:gs>
            <a:gs pos="100000">
              <a:srgbClr val="ECFEFF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AD9209-143B-40CF-8789-D28FD06E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D44D2-FF0C-46B7-879E-E3F9DACC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86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938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Инструмент структурного анализа и выявления аномалий в PE32+ AMD64 EH/Unwind-метаданных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95B6E-32C8-4D57-9E2A-3072FE63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8D731-B1A9-4B19-A463-19D46704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Динамический слой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39E99-4411-4053-87E9-B20B8B4D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Windows-сборка создаёт исследуемый процесс под Debug API и наблюдает только фактически достигнутые события. Статическая карта задаёт адреса интереса, а динамика добавляет сведения конкретного запуска.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E6DA9-8A90-43BD-907C-6E2D36D3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Ветвь статических обработчиков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BF79D-C841-4154-9226-EBC94E93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52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Ветвь системных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4060B-77B6-4F6F-BB42-869891B7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4762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F1EBB-62F4-417F-BBF9-EDAFE399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1. Адреса из статики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75CFE-84E3-4629-9C28-E3831B83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Для каждого доступного handler RVA вычисляется фактический адрес: runtime image base + RVA.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405AD-A903-4CA0-9709-D3A99B92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718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0F766E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0F766E"/>
                </a:solidFill>
                <a:latin typeface="Inter"/>
                <a:ea typeface="Inter"/>
                <a:cs typeface="Inter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7FDC3-298A-4BD8-A9CC-7BB4DFB7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4762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4666DC-813E-4A2F-8DE3-B346E021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2. Точки наблюдения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41631-91A3-4DB4-BF9B-1BEF66E7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На вычисленные адреса устанавливаются software breakpoints. Попадание формирует unwind_handler_hit.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69445-A9C2-4610-8692-B1AFE27D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767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0F766E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0F766E"/>
                </a:solidFill>
                <a:latin typeface="Inter"/>
                <a:ea typeface="Inter"/>
                <a:cs typeface="Inter"/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4E05E-72AC-496E-B65E-CF34FA45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476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BC07CD-F7B4-4351-A3A6-84DD8150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3. Ближайший маршрут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E83AC-DAFA-44F2-B0E2-2D37DBAC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После handler hit сохраняется ограниченная последовательность RIP. Это ближайшие адреса исполнения, а не полная трасса программы.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C21698-269A-4294-AF8D-FBF72A0C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4762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A14F75-1B14-42B6-9BCB-A2DDA33A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6700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1. Загруженные модули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B99B3A-4C72-48B8-BA4C-76F98D10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3370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После CREATE_PROCESS_DEBUG_EVENT обновляется список модулей и разрешаются экспортируемые адреса Windows API.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4B7323-1313-45EB-8979-29E6A9E1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718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0F766E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0F766E"/>
                </a:solidFill>
                <a:latin typeface="Inter"/>
                <a:ea typeface="Inter"/>
                <a:cs typeface="Inter"/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2C4F6A-EB47-412E-ACB6-159A5A92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19500"/>
            <a:ext cx="4762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0003FD-A86A-429E-AD63-946FDB62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1475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2. Контролируемые 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1A9525-1AE8-4696-8AD9-104EACFE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8145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7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AddVectoredExceptionHandler, AddVectoredContinueHandler, SetUnhandledExceptionFilter, RtlAddFunctionTable и RtlInstallFunctionTableCallback.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74DEFA-B9E3-4BF2-9942-B9BFC9C0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529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0F766E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0F766E"/>
                </a:solidFill>
                <a:latin typeface="Inter"/>
                <a:ea typeface="Inter"/>
                <a:cs typeface="Inter"/>
              </a:rPr>
              <a:t>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D4056E-702F-406B-85D6-F2D1B04D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19650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F43966-8665-4ECC-952B-BC6417F2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1490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3. Аргументы и события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808EA5-D0C4-48C9-BD5F-70CB1080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1816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2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Из регистров вызова фиксируются адреса callback или filter и параметры регистрации таблиц. Также сохраняются first-chance и second-chance исключения.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8CD7F5-449E-4524-AD1E-0C1B1D86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0744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F3E88D-4358-459C-89C9-7DFA7D54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48375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13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63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Интерпретация: вызов API подтверждает попытку регистрации, handler hit подтверждает достижение адреса. Отсутствие события в одном запуске не доказывает невозможность другого маршрута.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268974-77BF-46FD-B030-7D6CE415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86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3328715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2000">
              <a:srgbClr val="F8FFFD"/>
            </a:gs>
            <a:gs pos="100000">
              <a:srgbClr val="ECFEFF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BC38E-BA70-4E2E-8085-1CEF502C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8131E-495E-4499-9AF6-F2412569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86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938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Инструмент структурного анализа и выявления аномалий в PE32+ AMD64 EH/Unwind-метаданных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71C73-CC38-4D9E-A1AD-0E43F853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4372B-4EB0-4EDA-8AF8-560D5B51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Семейства эвристических признаков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4C1E6-37AA-4039-80DE-DB48224D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Каталог разделён на пять семейств по источнику доказательств. Такое группирование предотвращает ошибочное принятие нескольких связанных правил за независимые подтверждения.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66750" y="2324100"/>
          <a:ext xmlns:a="http://schemas.openxmlformats.org/drawingml/2006/main" cx="108585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857250"/>
                <a:gridCol w="3714750"/>
                <a:gridCol w="4381500"/>
              </a:tblGrid>
              <a:tr h="40005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Семейство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Правил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Предмет проверки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Аналитический вопрос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</a:tr>
              <a:tr h="63246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63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table_integrity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</a:pPr>
                      <a:r>
                        <a:rPr sz="1163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63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PE-секции, Exception Directory и RUNTIME_FUNCTION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63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Можно ли однозначно построить карту функций и адресов?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63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unwind_integrity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</a:pPr>
                      <a:r>
                        <a:rPr sz="1163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63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Доступность и внутренняя структура UNWIND_INFO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63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Декодируются ли метаданные без противоречий и обрывов?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3246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63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metadata_placement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</a:pPr>
                      <a:r>
                        <a:rPr sz="1163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63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Секция и права UNWIND_INFO и handler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63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Соответствует ли размещение ожидаемой роли данных и кода?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63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unwind_reuse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</a:pPr>
                      <a:r>
                        <a:rPr sz="1163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63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Повторное использование UnwindInfoAddress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63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Не концентрируется ли большое число функций на общей metadata?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3246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63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handler_dominance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</a:pPr>
                      <a:r>
                        <a:rPr sz="1163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63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Распределение адресов обработчиков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63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Не обслуживает ли один handler аномально большую долю функций?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2B160-7FFF-4547-AD3D-17AFF06B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150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Комбинированные признаки добавляют небольшой вес за согласование сигналов, но не заменяют исходные findings и не считаются полностью независимыми доказательствами.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9EF7A-9485-4877-B109-A69453FD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86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88112060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2000">
              <a:srgbClr val="F8FFFD"/>
            </a:gs>
            <a:gs pos="100000">
              <a:srgbClr val="ECFEFF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F99403C-DC76-4E2E-AD8E-6CCFBB59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739B8-84FF-46ED-8162-331E4D6F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86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938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Инструмент структурного анализа и выявления аномалий в PE32+ AMD64 EH/Unwind-метаданных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7CF85-F7DB-482B-9A2C-F5C265D9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3C7BC-17B3-4E7C-9326-6A9E0E18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27 диагностических признаков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7B001-1C08-4764-982D-15D157B5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3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Каждый диагностический признак формализует отдельное условие эвристического анализа. Его формулировка характеризует установленное структурное отклонение, не определяя его происхождение и не являясь самостоятельным свидетельством вредоносности файла.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177C8-EEB2-4937-83D5-73E6F064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1. pe_section_raw_oob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файловый диапазон секции выходит за файл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0588C-370C-42C4-8CAA-A06A3BC7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C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78861-41AF-4F02-A2C7-593B408B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2. pe_section_virtual_oob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виртуальный диапазон секции выходит за образ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B44D5-074F-4620-A589-C180C087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CE5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5A194-64D6-457F-BB3C-9043E02F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3. pe_section_raw_overlap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файловые диапазоны секций пересекаются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EC970-A3DA-4B2C-B19D-DE9F6CC9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C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6EDB2-94D6-4B21-9198-F430DF2A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4. pe_section_virtual_overlap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виртуальные диапазоны секций пересекаются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D8DF9-FB7E-4535-91C4-E43A7E07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CE5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FCD76B-B8D6-46A9-A8D2-586A02BB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5. pe_section_misaligned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нарушено выравнивание секции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C2ABB1-24E9-4E24-8F53-C6D38833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CE5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EA4A6-BD7C-4BA7-899B-DB5186BF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6. pe_exception_directory_oob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Exception Directory недоступна или неполна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95CCDD-ED1D-493A-8C08-6858C9EC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CE5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FCCB7-4BF4-4C56-B0F0-AA4B7487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7. no_runtime_functions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есть исполняемый код, но нет таблицы функций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7A356A-3F51-4337-8E88-DF72345C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C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0DD86-DADF-4A78-A157-8F3780A0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8. invalid_ranges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EndRVA не больше BeginRVA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54EE71-E381-4B7B-B80A-580F8EA1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912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CE5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0EFC41-DF3D-4FAC-9710-2F59C82D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9. rf_oob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диапазон функции выходит за SizeOfImage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BEC63E-2EDF-4EFF-B941-509A23C6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3360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981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10. unwind_rva_oob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UnwindInfoAddress не разрешается в доступные байты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914E59-7F78-4A80-8DC9-C888D190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908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CE5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EEA7EB-1B1B-46A9-86E2-C6BED66F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19375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11. rf_unsorted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таблица функций не отсортирована по BeginRVA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A9C49C-FFCE-4940-B694-B138D0D5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7657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CE5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F4C878-24D4-4365-B2A7-081242D1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0515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12. rf_overlaps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диапазоны функций перекрываются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B94D4C-330D-436C-A747-4BD3ADA9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623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CE5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CBFA7A-8B5E-4129-B15B-62245C20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90925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13. duplicate_begin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несколько функций имеют одинаковый BeginRVA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DABD17-FC8D-4151-B001-CB4CA978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481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CE5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24589B-1CF0-4AFD-8899-9757AB42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7670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984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14. unwind_parse_fail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UNWIND_INFO невозможно безопасно декодировать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32DC78-9A74-4B60-99E1-00D40060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339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CE5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7C34C0-9027-40DA-B76F-EC81627F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62475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15. unwind_anomalies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поля или операции UNWIND_INFO противоречивы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B6AD91-AC6C-4F82-923C-5ADF6CD9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1967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CE5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156F0D-3EBC-4DB4-A80C-AB2D180C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4825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981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16. unwind_reuse_moderate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умеренное повторное использование unwind metadata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E3AE4B-2D8D-49C8-A2FB-A97EB361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054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CE5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ED57AD-8988-403D-B15E-419A31F0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34025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983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17. unwind_reuse_strong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массовое повторное использование unwind metadata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679976-84A1-48A6-8F6B-45132469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9912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CE5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6EAE16-CFE7-4544-BD57-E93C54FD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01980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18. handler_dominance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один handler доминирует среди функций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FDBB81-A539-46D6-AEF9-9DC17958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3360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19. unwind_in_exec_section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UNWIND_INFO находится в исполняемой секции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EE78E3-4AA0-40C8-8D0E-F5EA9ADF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CE5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0D7370-04FE-41ED-B1C9-DEDD40FA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19375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20. unwind_unusual_section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UNWIND_INFO находится в нетипичной секции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6852B2-C865-4C11-9334-CFB02F83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7657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CE5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706BFB-046C-40DB-BF27-57258E28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21. unwind_writable_section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UNWIND_INFO находится в записываемой секции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791426-384C-4132-BC4A-FEE26E68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623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CE5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843A0A-A424-464C-A47F-5F0C6657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90925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22. handler_nonexec_section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handler не разрешается в исполняемую секцию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FD7D76-83F3-40EA-8B43-1BAEB803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CE5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EF1D77-4D79-402C-BD8C-C6CC4EFE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7670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23. handler_writable_section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handler расположен в записываемой секции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FA8636-BDAF-4A8F-896D-2786CAB3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339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CE5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7950669-62DC-4039-9F96-3B928755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62475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24. placement_exec_nonexec_handler_combo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исполняемая metadata сочетается с non-exec handler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EDDE50-EDF5-4367-9727-8DEC8D2B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1967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CE5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B07220-FC16-4B28-B67E-F3AD3B47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981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25. placement_integrity_combo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нетипичное размещение сочетается с повреждением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71DA44-0956-48BB-8016-08E3126B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054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CE5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F32495-A0C8-448B-AEAF-C838DB6F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34025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26. reuse_dominance_combo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reuse сочетается с доминированием handler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C8C6B1-B932-4AA3-9E44-A7F567D2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912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CE5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36991D-D297-4FFC-8D0C-C52244A7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01980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27. writable_metadata_handler_combo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0F172A"/>
                </a:solidFill>
                <a:latin typeface="Inter"/>
                <a:ea typeface="Inter"/>
                <a:cs typeface="Inter"/>
              </a:rPr>
              <a:t>metadata и handler одновременно записываемы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6080D3D-06D1-4F48-AF5E-8708C7F5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33600"/>
            <a:ext cx="0" cy="433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C9BEDB7-2F34-482A-ACA7-38DF98D7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33600"/>
            <a:ext cx="0" cy="433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661CCE7-EA19-4905-A0A4-89689A99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86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27355693"/>
      </p:ext>
    </p:extLst>
  </p:cSld>
</p:sld>
</file>

<file path=ppt/slides/slide1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2000">
              <a:srgbClr val="F8FFFD"/>
            </a:gs>
            <a:gs pos="100000">
              <a:srgbClr val="ECFEFF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DF543C-DA70-41B8-98C9-467051EA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95528-3312-4962-8C76-51C0C058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86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938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Инструмент структурного анализа и выявления аномалий в PE32+ AMD64 EH/Unwind-метаданных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4853B-5038-4B70-92AF-586780D6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8E34C-18E9-4ADE-84C6-8697267F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Интерпретация результатов анализа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0F331-34E7-468A-A84D-CF8D083F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Результат формируется последовательно: наблюдение превращается в finding, после чего отдельно рассчитываются серьёзность, суммарная оценка и достаточность доказательной базы.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E2D53-24D6-4055-BEF4-86A69702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33337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62CA6-4B48-4CB2-9FA1-710F27A8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7C222-6392-4B9A-A539-1CA0BC30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99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FCD6C-501D-4D0A-B8C3-8AF0CC9C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2990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63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score_weight_sum = сумма базовых весов всех активных findings.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63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Score = min(score_weight_sum, 100).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63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Пример: сумма 176 сохраняется полностью, итоговый Score равен 100.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B624B-1264-46E4-981A-EAAD0B64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47900"/>
            <a:ext cx="33337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8F43F-E048-4D0F-A9CA-D13C2A56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4003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Severity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C4442-6C88-4454-9A8C-1CEBE7DE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81300"/>
            <a:ext cx="299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A264D-D8F3-45E5-B893-7606080B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952750"/>
            <a:ext cx="2990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63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Характеристика отдельного finding.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63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medium: локальное или контекстное отклонение с возможным допустимым объяснением.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63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high: жёсткое нарушение структуры, доступности или однозначности карты.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653F2-96F4-4689-9BE7-086171CD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33337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BF08D7-5ED5-4C09-B391-4470DFEE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03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703492-357E-476E-A0E9-8C5A3E2B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99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CBF48-C393-43AE-8C6F-8E565C0E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52750"/>
            <a:ext cx="2990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63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Характеристика итогового статического вывода.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63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0,15 + 0,11 × семейства + 0,08 × high + 0,04 × medium + бонусы − ослабления.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63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Результат ограничивается диапазоном 0,05–0,90.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666750" y="5181600"/>
          <a:ext xmlns:a="http://schemas.openxmlformats.org/drawingml/2006/main" cx="10668000" cy="971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667000"/>
                <a:gridCol w="2667000"/>
                <a:gridCol w="2667000"/>
              </a:tblGrid>
              <a:tr h="40005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Score 0–14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Score 15–39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Score 40–69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Score 70–100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</a:tr>
              <a:tr h="57150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</a:pPr>
                      <a:r>
                        <a:rPr sz="112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Сильные статические аномалии не установлены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</a:pPr>
                      <a:r>
                        <a:rPr sz="112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Низкая подозрительность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</a:pPr>
                      <a:r>
                        <a:rPr sz="112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Умеренная подозрительность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</a:pPr>
                      <a:r>
                        <a:rPr sz="112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Высокая подозрительность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ED2884-6C23-4725-9B54-B6AC8FA1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86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3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163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Score задаёт приоритет ручной проверки и не является вероятностью вредоносности. Состав причин раскрывают findings, evidence и матрица 27 правил.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37A47B-6786-4AFD-9178-189A7756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86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58084460"/>
      </p:ext>
    </p:extLst>
  </p:cSld>
</p:sld>
</file>

<file path=ppt/slides/slide1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2000">
              <a:srgbClr val="F8FFFD"/>
            </a:gs>
            <a:gs pos="100000">
              <a:srgbClr val="ECFEFF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8971C-13B8-403E-83D9-FDB2227E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AFDB8-B754-4B6D-9F58-1FDD08F4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86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938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Инструмент структурного анализа и выявления аномалий в PE32+ AMD64 EH/Unwind-метаданных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0B12A-A0E4-42D1-84C3-42A9DDE9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FABDC-B6B8-410F-B731-A68828EF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Отчёты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4E69D-00B5-4625-B8D4-8DD6AA47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report.c не анализирует файл повторно. Модуль сериализует уже построенные PE-, EH/Unwind-, эвристические и динамические модели в представления для разных способов использования.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66750" y="2266950"/>
          <a:ext xmlns:a="http://schemas.openxmlformats.org/drawingml/2006/main" cx="108585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5429250"/>
                <a:gridCol w="4000500"/>
              </a:tblGrid>
              <a:tr h="40005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Формат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Содержание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Назначение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</a:tr>
              <a:tr h="68199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Терминал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Статус запуска, основные счётчики и итоговые оценки.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Быстрый контроль одного запуска.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199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JSON 1.3.0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Полная машиночитаемая модель, SHA-256, функции, findings, score_weight_sum, Score и динамика.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Backend, база данных, сравнение и автоматическая обработка.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8199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HTML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Самодостаточный интерактивный отчёт: сводка, PE-карта, RUNTIME_FUNCTION, 27 правил, evidence и runtime events.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Исследование результата человеком без внешних ресурсов.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199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CSV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Плоские строки функций и сводных полей UNWIND_INFO.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Табличная обработка и фильтрация.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8199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Ghidra CSV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Диапазоны, допустимые имена, комментарии и диагностические признаки.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Создание или уточнение разметки в Ghidra.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4117B-0BE0-4785-8192-36E855E9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293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9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163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Доказательная цепочка отчёта: PE → Exception Directory → .pdata entry → функция → UnwindInfoAddress → поле или агрегированное условие → finding.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2A3E1-48AE-4000-8950-F40F0FD9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86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73003099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2000">
              <a:srgbClr val="F8FFFD"/>
            </a:gs>
            <a:gs pos="100000">
              <a:srgbClr val="ECFEFF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F89E6-2BD7-4D5E-9EED-C0C905B2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E8710-6F12-403D-B758-8E37DF8A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86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938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Инструмент структурного анализа и выявления аномалий в PE32+ AMD64 EH/Unwind-метаданных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36BF0-255A-4550-8ED3-7393F275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42063-2BE9-4391-BED7-EB1CB433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Тестирование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BB93E-AA04-4834-AC44-0B340F31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Проверка разделяет корректность функций, воспроизводимость известных сценариев, устойчивость к повреждённому вводу и поведение Windows-коллектора. Один показатель не заменяет остальные уровни.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66750" y="2209800"/>
          <a:ext xmlns:a="http://schemas.openxmlformats.org/drawingml/2006/main" cx="108585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952750"/>
                <a:gridCol w="5762625"/>
              </a:tblGrid>
              <a:tr h="40005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63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Уровень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63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Проверочный объём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63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Что подтверждается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</a:tr>
              <a:tr h="606425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Автоматизированный CTest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19 из 19 на текущей исходной базе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Модульные, регрессионные, схемные и семантические проверки; контракт CLI, входная валидация и отчёты.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Синтетические PE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84 файла: 66 статических, 9 динамических, 9 смешанных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Детерминированные нарушения полей, структуры и сочетаний признаков.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06425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Мутационное тестирование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120 мутаций в текущем CTest-сценарии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Контролируемый отказ или корректный отчёт без аварийного завершения.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Доброкачественный корпус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106 PE-файлов в зафиксированной Windows-проверке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Работа на реальных компиляторных образцах; ненулевые статические Score не зафиксированы.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06425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Динамический корпус Windows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124 отчёта; 86 динамических сессий запущено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Состояния сборщика Windows Debug API, события выполнения и отсутствие неожиданных сбоев.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Отчётные контракты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JSON Schema 1.3.0 и межполевые проверки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Score = min(score_weight_sum, 100), координаты, статусы и согласованность представлений.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921EF-C9DF-4722-AEF1-F58200E8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436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0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Синтетические образцы дают точную причинность, реальные файлы проверяют применимость, а Windows-сценарии подтверждают только фактически выполненные маршруты.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F96DB-A57A-4C96-A30B-6AD2C07A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86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38948745"/>
      </p:ext>
    </p:extLst>
  </p:cSld>
</p:sld>
</file>

<file path=ppt/slides/slide1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2000">
              <a:srgbClr val="F8FFFD"/>
            </a:gs>
            <a:gs pos="100000">
              <a:srgbClr val="ECFEFF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A4161-4DC1-4A46-834B-C6CD0C04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CEBA0-5D01-44CF-ACC8-CF10B5A6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86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938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Инструмент структурного анализа и выявления аномалий в PE32+ AMD64 EH/Unwind-метаданных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D5336-D0A6-4F15-ADAC-4844FDC9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2C65C-37E5-40A0-951A-02D4D8D8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Практическая значимость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A1F19-BB31-4300-925A-BC05D339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Инструмент автоматизирует повторяемую часть EH/Unwind-исследования и передаёт аналитику структурированную основу для дальнейшей проверки машинного кода и поведения процесса.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19150" y="2266950"/>
          <a:ext xmlns:a="http://schemas.openxmlformats.org/drawingml/2006/main" cx="105537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7839075"/>
              </a:tblGrid>
              <a:tr h="40005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Практический эффект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Конкретный результат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</a:tr>
              <a:tr h="58420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Обработка больших таблиц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Последовательный разбор всех доступных RUNTIME_FUNCTION вместо ручной проверки единичных записей.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Снижение адресных ошибок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Единый перевод RVA в file offset, проверка границ Buf и локализация точки отказа.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58420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Воспроизводимость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SHA-256, параметры запуска, версия схемы и доказательные координаты сохраняют условия анализа.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Приоритизация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Severity и Score выделяют существенные записи, а confidence показывает достаточность совокупной доказательной базы.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58420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Интеграция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HTML поддерживает ручное изучение, JSON — серверную обработку и хранение, CSV — табличный анализ, Ghidra CSV — рабочую разметку.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Аудит вывода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Матрица 27 правил и карточки findings позволяют проверить основание каждого аналитического заключения.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9CA28-1154-493A-B49F-44DBDE61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246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7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Ценность проекта состоит в построении проверяемой EH/Unwind-карты, а окончательная интерпретация остаётся задачей специалиста.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11C44-0C49-4891-8253-481EC26E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86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85515956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2000">
              <a:srgbClr val="F8FFFD"/>
            </a:gs>
            <a:gs pos="100000">
              <a:srgbClr val="ECFEFF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01118-5668-43CA-BFC4-FD4FDBC6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43990-01EB-470F-B822-1130023E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86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938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Инструмент структурного анализа и выявления аномалий в PE32+ AMD64 EH/Unwind-метаданных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6814D-4DD3-49E1-BA34-794A3F96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1B586-1A7E-411A-B074-0E5A5753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Граница продукта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56805-2FE6-4A37-B735-BD1E3BBA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Явные ограничения отделяют реализованную структурную проверку от задач, которые требуют дизассемблирования, знания конкретного языкового runtime или более полного наблюдения процесса.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C77D9-BB69-4309-8D74-3FE7095C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3276600" cy="37338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A5179-C8F0-4549-B8DC-F457048E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3276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9F1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8D95B-1B12-4CC8-9EA7-D14A1EBF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Не выполняется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A165C-796B-4C4B-B0C7-FABDC82B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857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Полная декомпиляция и восстановление C/C++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Универсальная классификация вредоносного ПО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PE32 x86, ARM64, ELF и Mach-O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Трассировка режима ядра и эмуляция всех путей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401CE-1D83-4E2B-B0A3-DC89E3A2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24100"/>
            <a:ext cx="3276600" cy="37338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1E4B0-9AEF-426B-93B0-6323BC17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24100"/>
            <a:ext cx="3276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D194C-F877-4015-8C4B-F1C41DAD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193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Выполняется частично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BF420-B72B-48DC-9BF2-FFBF5F05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67050"/>
            <a:ext cx="2857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Нет автоматического сопоставления UWOP с прологом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Нет универсального разбора языково-зависимых таблиц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RtlAddFunctionTable фиксируется без полного разбора таблицы в памяти процесса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Трасса RIP ограничена ближайшими адресами после попадания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8EC97-E454-45BB-A7C5-15B3A993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3276600" cy="37338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8D4EE-EB1F-4C11-8ACB-2F27AE81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3276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D828E9-D0A7-4E64-AD17-1FC7AFD1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193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Условия применения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D4D56-CA18-45C4-A253-F216B326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2857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Объект статики: Windows PE32+ AMD64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Статическое ядро: Windows, Linux или macOS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Динамический режим: только исполняемый PE-файл под Windows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Динамический вывод относится только к фактически выполненному сценарию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A4CEB6-A028-4282-8C38-03F47C0D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865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Ограничения входят в контракт продукта и не должны подменяться более широкими выводами отчёта.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B0C691-7409-4230-AEE5-35BFF150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86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4636208"/>
      </p:ext>
    </p:extLst>
  </p:cSld>
</p:sld>
</file>

<file path=ppt/slides/slide1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2000">
              <a:srgbClr val="F8FFFD"/>
            </a:gs>
            <a:gs pos="100000">
              <a:srgbClr val="ECFEFF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041ED-0CDF-4922-B488-5E3D1011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40A0C-8044-488E-B3B0-D4511B6A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86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938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Инструмент структурного анализа и выявления аномалий в PE32+ AMD64 EH/Unwind-метаданных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D880D-2614-4ABF-9835-5E47ADEE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5B1F9-D6C9-49D6-8BB1-FAC5463F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Дальнейшее развитие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914A1-8CE5-4D25-A79D-32E4FCCD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Развитие ориентировано на усиление доказательной связи между метаданными, машинным кодом и наблюдаемым выполнением без изменения модульных границ ядра.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66750" y="2266950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00125"/>
                <a:gridCol w="2381250"/>
                <a:gridCol w="4143375"/>
                <a:gridCol w="3333750"/>
              </a:tblGrid>
              <a:tr h="40005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Приоритет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Направление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Техническое изменение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Ожидаемый результат</a:t>
                      </a:r>
                    </a:p>
                  </a:txBody>
                  <a:tcPr marL="91440" marR="91440" marT="45720" marB="45720" anchor="ctr">
                    <a:solidFill>
                      <a:srgbClr val="0F766E"/>
                    </a:solidFill>
                  </a:tcPr>
                </a:tc>
              </a:tr>
              <a:tr h="733425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</a:pPr>
                      <a:r>
                        <a:rPr sz="108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UWOP и пролог .text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Добавление дизассемблерного слоя и сопоставление эффектов стека и регистров.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Автоматическая фиксация совпадений и расхождений метаданных с инструкциями.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</a:pPr>
                      <a:r>
                        <a:rPr sz="108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Языково-зависимые данные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Декодирование известных структур, начиная с таблиц областей __C_specific_handler.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Защищённые диапазоны, фильтры и цели обработчиков в отчёте.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733425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</a:pPr>
                      <a:r>
                        <a:rPr sz="108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Динамические таблицы функций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Чтение памяти процесса и проверка записей, переданных RtlAddFunctionTable.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Переход от фиксации вызова к проверке зарегистрированной карты времени выполнения.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</a:pPr>
                      <a:r>
                        <a:rPr sz="108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Хранение и сравнение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Серверный слой, база данных, версионированная схема JSON и сопоставление запусков.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 algn="l">
                        <a:lnSpc>
                          <a:spcPct val="98000"/>
                        </a:lnSpc>
                        <a:buNone/>
                      </a:pPr>
                      <a:r>
                        <a:rPr sz="1088" b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История образцов, сравнение версий и повторяемые аналитические выборки.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5936A-2B7D-4091-894B-873CA302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05500"/>
            <a:ext cx="9715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5E7DC-3BF7-45F6-AB6A-AC2FEDF8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102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Базовая архитектура сохраняется: новые анализаторы добавляют доказательные данные в существующие модели, а report.c продолжает отвечать только за представление результата.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72B5A-9DE4-4897-A9D9-FA4A221C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86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29876409"/>
      </p:ext>
    </p:extLst>
  </p:cSld>
</p:sld>
</file>

<file path=ppt/slides/slide1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2000">
              <a:srgbClr val="F8FFFD"/>
            </a:gs>
            <a:gs pos="100000">
              <a:srgbClr val="ECFEFF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77352-D300-4FFD-A64E-6A28E61D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A84CA-B23F-4BCC-A5A6-0AAACB7D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86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938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Инструмент структурного анализа и выявления аномалий в PE32+ AMD64 EH/Unwind-метаданных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ADFBF-8584-4CB7-9F29-10C1F51F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62F3F-7354-4E5D-9E9C-464030FB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533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7AA22-F66D-4040-AD09-C99CEE01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81300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7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7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Спасибо за внимание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2EB4B-8A10-4DBB-A5DC-83E98E75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385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15E59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15E59"/>
                </a:solidFill>
                <a:latin typeface="Inter"/>
                <a:ea typeface="Inter"/>
                <a:cs typeface="Inter"/>
              </a:rPr>
              <a:t>Инструмент структурного анализа и выявления аномалий в PE32+ AMD64 EH/Unwind-метаданных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D4567-4049-47D9-B757-D59F5478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86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4748B"/>
                </a:solidFill>
                <a:latin typeface="Inter"/>
                <a:ea typeface="Inter"/>
                <a:cs typeface="Inter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98027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2026-09-04T14:24:56.9450000Z</dcterms:created>
  <dcterms:modified xsi:type="dcterms:W3CDTF">2026-09-04T14:24:56.9450000Z</dcterms:modified>
</coreProperties>
</file>