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25cde22e74a8d" /><Relationship Type="http://schemas.openxmlformats.org/officeDocument/2006/relationships/extended-properties" Target="/docProps/app.xml" Id="R38a042817f6e4b07" /><Relationship Type="http://schemas.openxmlformats.org/officeDocument/2006/relationships/officeDocument" Target="/ppt/presentation.xml" Id="R1241670e1a58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d7524dc304a56"/>
  </p:sldMasterIdLst>
  <p:notesMasterIdLst>
    <p:notesMasterId xmlns:r="http://schemas.openxmlformats.org/officeDocument/2006/relationships" r:id="R250b358f68784871"/>
  </p:notesMasterIdLst>
  <p:sldIdLst>
    <p:sldId xmlns:r="http://schemas.openxmlformats.org/officeDocument/2006/relationships" id="256" r:id="R0b1a848ab3604a92"/>
    <p:sldId xmlns:r="http://schemas.openxmlformats.org/officeDocument/2006/relationships" id="257" r:id="Rad57086d9ea741aa"/>
    <p:sldId xmlns:r="http://schemas.openxmlformats.org/officeDocument/2006/relationships" id="258" r:id="R581b3f8485b34c90"/>
    <p:sldId xmlns:r="http://schemas.openxmlformats.org/officeDocument/2006/relationships" id="259" r:id="Rc974d741a6f54c88"/>
    <p:sldId xmlns:r="http://schemas.openxmlformats.org/officeDocument/2006/relationships" id="260" r:id="R346e36847d854333"/>
    <p:sldId xmlns:r="http://schemas.openxmlformats.org/officeDocument/2006/relationships" id="261" r:id="R87e63abeb3c44d3e"/>
    <p:sldId xmlns:r="http://schemas.openxmlformats.org/officeDocument/2006/relationships" id="262" r:id="R9e408db68b0c4956"/>
    <p:sldId xmlns:r="http://schemas.openxmlformats.org/officeDocument/2006/relationships" id="263" r:id="Re555933d549d42bb"/>
    <p:sldId xmlns:r="http://schemas.openxmlformats.org/officeDocument/2006/relationships" id="264" r:id="Rb789101cccf04807"/>
    <p:sldId xmlns:r="http://schemas.openxmlformats.org/officeDocument/2006/relationships" id="265" r:id="Re6b750b46eee4f64"/>
    <p:sldId xmlns:r="http://schemas.openxmlformats.org/officeDocument/2006/relationships" id="266" r:id="R5c17d2dcfdf9432d"/>
    <p:sldId xmlns:r="http://schemas.openxmlformats.org/officeDocument/2006/relationships" id="267" r:id="Rab6865a522284316"/>
    <p:sldId xmlns:r="http://schemas.openxmlformats.org/officeDocument/2006/relationships" id="268" r:id="R1616b1895c404700"/>
    <p:sldId xmlns:r="http://schemas.openxmlformats.org/officeDocument/2006/relationships" id="269" r:id="Rdf1f1033b9284129"/>
    <p:sldId xmlns:r="http://schemas.openxmlformats.org/officeDocument/2006/relationships" id="270" r:id="Ra0df080fc1e948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aac7ed0e9434b" /><Relationship Type="http://schemas.openxmlformats.org/officeDocument/2006/relationships/slideMaster" Target="/ppt/slideMasters/slideMaster1.xml" Id="R029d7524dc304a56" /><Relationship Type="http://schemas.openxmlformats.org/officeDocument/2006/relationships/notesMaster" Target="/ppt/notesMasters/notesMaster1.xml" Id="R250b358f68784871" /><Relationship Type="http://schemas.openxmlformats.org/officeDocument/2006/relationships/presProps" Target="/ppt/presProps.xml" Id="R91f5a8cf06bb4bc8" /><Relationship Type="http://schemas.openxmlformats.org/officeDocument/2006/relationships/tableStyles" Target="/ppt/tableStyles.xml" Id="Reeaeca6b47364493" /><Relationship Type="http://schemas.openxmlformats.org/officeDocument/2006/relationships/slide" Target="/ppt/slides/slide1.xml" Id="R0b1a848ab3604a92" /><Relationship Type="http://schemas.openxmlformats.org/officeDocument/2006/relationships/slide" Target="/ppt/slides/slide2.xml" Id="Rad57086d9ea741aa" /><Relationship Type="http://schemas.openxmlformats.org/officeDocument/2006/relationships/slide" Target="/ppt/slides/slide3.xml" Id="R581b3f8485b34c90" /><Relationship Type="http://schemas.openxmlformats.org/officeDocument/2006/relationships/slide" Target="/ppt/slides/slide4.xml" Id="Rc974d741a6f54c88" /><Relationship Type="http://schemas.openxmlformats.org/officeDocument/2006/relationships/slide" Target="/ppt/slides/slide5.xml" Id="R346e36847d854333" /><Relationship Type="http://schemas.openxmlformats.org/officeDocument/2006/relationships/slide" Target="/ppt/slides/slide6.xml" Id="R87e63abeb3c44d3e" /><Relationship Type="http://schemas.openxmlformats.org/officeDocument/2006/relationships/slide" Target="/ppt/slides/slide7.xml" Id="R9e408db68b0c4956" /><Relationship Type="http://schemas.openxmlformats.org/officeDocument/2006/relationships/slide" Target="/ppt/slides/slide8.xml" Id="Re555933d549d42bb" /><Relationship Type="http://schemas.openxmlformats.org/officeDocument/2006/relationships/slide" Target="/ppt/slides/slide9.xml" Id="Rb789101cccf04807" /><Relationship Type="http://schemas.openxmlformats.org/officeDocument/2006/relationships/slide" Target="/ppt/slides/slide10.xml" Id="Re6b750b46eee4f64" /><Relationship Type="http://schemas.openxmlformats.org/officeDocument/2006/relationships/slide" Target="/ppt/slides/slide11.xml" Id="R5c17d2dcfdf9432d" /><Relationship Type="http://schemas.openxmlformats.org/officeDocument/2006/relationships/slide" Target="/ppt/slides/slide12.xml" Id="Rab6865a522284316" /><Relationship Type="http://schemas.openxmlformats.org/officeDocument/2006/relationships/slide" Target="/ppt/slides/slide13.xml" Id="R1616b1895c404700" /><Relationship Type="http://schemas.openxmlformats.org/officeDocument/2006/relationships/slide" Target="/ppt/slides/slide14.xml" Id="Rdf1f1033b9284129" /><Relationship Type="http://schemas.openxmlformats.org/officeDocument/2006/relationships/slide" Target="/ppt/slides/slide15.xml" Id="Ra0df080fc1e9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5b3ebe7655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1907700c4b4bad" /><Relationship Type="http://schemas.openxmlformats.org/officeDocument/2006/relationships/notesMaster" Target="/ppt/notesMasters/notesMaster1.xml" Id="Rb45954b5d058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8f2325c8742c5" /><Relationship Type="http://schemas.openxmlformats.org/officeDocument/2006/relationships/notesMaster" Target="/ppt/notesMasters/notesMaster1.xml" Id="Raa63512783504e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a799a67a845dc" /><Relationship Type="http://schemas.openxmlformats.org/officeDocument/2006/relationships/notesMaster" Target="/ppt/notesMasters/notesMaster1.xml" Id="R460e205cbac14c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dcf02647c4f3a" /><Relationship Type="http://schemas.openxmlformats.org/officeDocument/2006/relationships/notesMaster" Target="/ppt/notesMasters/notesMaster1.xml" Id="R10525ee7351b4d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8d4c6f17824839" /><Relationship Type="http://schemas.openxmlformats.org/officeDocument/2006/relationships/notesMaster" Target="/ppt/notesMasters/notesMaster1.xml" Id="Rfec1af3682e742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cc85b963bc4490" /><Relationship Type="http://schemas.openxmlformats.org/officeDocument/2006/relationships/notesMaster" Target="/ppt/notesMasters/notesMaster1.xml" Id="Rb29652c81b36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d0dc7801c451b" /><Relationship Type="http://schemas.openxmlformats.org/officeDocument/2006/relationships/notesMaster" Target="/ppt/notesMasters/notesMaster1.xml" Id="Rbbd12976868a4a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a97d40b504e6c" /><Relationship Type="http://schemas.openxmlformats.org/officeDocument/2006/relationships/notesMaster" Target="/ppt/notesMasters/notesMaster1.xml" Id="R942800d45b7b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e8250c9dc14d13" /><Relationship Type="http://schemas.openxmlformats.org/officeDocument/2006/relationships/notesMaster" Target="/ppt/notesMasters/notesMaster1.xml" Id="R183c31e4511c44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2b571ec76843ca" /><Relationship Type="http://schemas.openxmlformats.org/officeDocument/2006/relationships/notesMaster" Target="/ppt/notesMasters/notesMaster1.xml" Id="Re38689ffe5a447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3ec807d25d4282" /><Relationship Type="http://schemas.openxmlformats.org/officeDocument/2006/relationships/notesMaster" Target="/ppt/notesMasters/notesMaster1.xml" Id="Rd230e307191444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b785aca9234143" /><Relationship Type="http://schemas.openxmlformats.org/officeDocument/2006/relationships/notesMaster" Target="/ppt/notesMasters/notesMaster1.xml" Id="R7c275e56b26e44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8e85fa3fa440b3" /><Relationship Type="http://schemas.openxmlformats.org/officeDocument/2006/relationships/notesMaster" Target="/ppt/notesMasters/notesMaster1.xml" Id="R29ef515fc0674c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fee2b1abad43ea" /><Relationship Type="http://schemas.openxmlformats.org/officeDocument/2006/relationships/notesMaster" Target="/ppt/notesMasters/notesMaster1.xml" Id="Re53acf864cf141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752c987f194731" /><Relationship Type="http://schemas.openxmlformats.org/officeDocument/2006/relationships/notesMaster" Target="/ppt/notesMasters/notesMaster1.xml" Id="R8982cb98fcc8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Открываем с конкретного состояния релиза: версия, artifact hash, схема отчета и основные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объясняет business value через технический gap: данные есть в бинаре, но редко становятся отдельным продуктовым сигналом.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IT-специалистам важно увидеть, что анализ построен вокруг настоящих Windows ABI structures, а не общих эвристик.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нужен, чтобы не обещать магический детектор malware: сигнал объяснимый, ограниченный и проверяемый.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продукта проста для packaging: CLI уже стабилен, backend/GUI можно строить вокруг JSON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Фокус на repeatability: статический анализ можно использовать массово и безопасно, а dynamic включается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показывает зрелость parser layer и одновременно честную границу по V3.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Важно проговорить: это не ML probability. Это инженерная политика triage с конкретными findings.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Dynamic часть не заменяет sandbox, но дает адресные события, которых не видно в статике.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Инвесторским IT-экспертам важно увидеть, что продукт можно интегрировать без переписывания 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отвечает на вопрос: что именно проверялось и чем подтверждается готовность версии 1.0.0.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подчеркнуть, что timeouts/elevation/DLL outcomes не маскируются как успех, а записаны как ожидаемые contract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Этот слайд делает презентацию надежнее для due diligence: ограничения явно названы и превращены в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переводит технический продукт в коммерческие каналы: кто покупает, зачем, через какой integration surface.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Закрываем презентацию тезисом: проект уже прошел базовые gates, инвестиции нужны для product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ca67c48ea40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27b20da8c4301" /><Relationship Type="http://schemas.openxmlformats.org/officeDocument/2006/relationships/slideLayout" Target="/ppt/slideLayouts/slideLayout1.xml" Id="Rd375694fa10e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75694fa10e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3806fb8cb4e9d" /><Relationship Type="http://schemas.openxmlformats.org/officeDocument/2006/relationships/notesSlide" Target="/ppt/notesSlides/notesSlide1.xml" Id="R13a69a8ba94f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12bb59a9e4b88" /><Relationship Type="http://schemas.openxmlformats.org/officeDocument/2006/relationships/notesSlide" Target="/ppt/notesSlides/notesSlide2.xml" Id="Rb4fb204221a5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fb21524854c72" /><Relationship Type="http://schemas.openxmlformats.org/officeDocument/2006/relationships/notesSlide" Target="/ppt/notesSlides/notesSlide3.xml" Id="R3c5e527541294f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aea1fedcb4e4f" /><Relationship Type="http://schemas.openxmlformats.org/officeDocument/2006/relationships/notesSlide" Target="/ppt/notesSlides/notesSlide4.xml" Id="Rddccddc8d6dc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3cb9de8aa4135" /><Relationship Type="http://schemas.openxmlformats.org/officeDocument/2006/relationships/notesSlide" Target="/ppt/notesSlides/notesSlide5.xml" Id="R7d0b3320f6134d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a56dfd0094dc6" /><Relationship Type="http://schemas.openxmlformats.org/officeDocument/2006/relationships/notesSlide" Target="/ppt/notesSlides/notesSlide6.xml" Id="Reecdf793845f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7f03c1f604971" /><Relationship Type="http://schemas.openxmlformats.org/officeDocument/2006/relationships/notesSlide" Target="/ppt/notesSlides/notesSlide7.xml" Id="R2fc5653ee6bf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a4f5ee18a4484" /><Relationship Type="http://schemas.openxmlformats.org/officeDocument/2006/relationships/notesSlide" Target="/ppt/notesSlides/notesSlide8.xml" Id="Ref59b80a692b4b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1dd0b950485f" /><Relationship Type="http://schemas.openxmlformats.org/officeDocument/2006/relationships/notesSlide" Target="/ppt/notesSlides/notesSlide9.xml" Id="R913c48a441a043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7d4f8db934b87" /><Relationship Type="http://schemas.openxmlformats.org/officeDocument/2006/relationships/notesSlide" Target="/ppt/notesSlides/notesSlide10.xml" Id="Rde43b9bc3dfc47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17ec6d81e419f" /><Relationship Type="http://schemas.openxmlformats.org/officeDocument/2006/relationships/notesSlide" Target="/ppt/notesSlides/notesSlide11.xml" Id="Rba86eae7b46d4e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e267f6a854a82" /><Relationship Type="http://schemas.openxmlformats.org/officeDocument/2006/relationships/notesSlide" Target="/ppt/notesSlides/notesSlide12.xml" Id="R527a4f594d1648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b1a1a4f814609" /><Relationship Type="http://schemas.openxmlformats.org/officeDocument/2006/relationships/notesSlide" Target="/ppt/notesSlides/notesSlide13.xml" Id="R1ced481a350945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a43dc2b94a2c" /><Relationship Type="http://schemas.openxmlformats.org/officeDocument/2006/relationships/notesSlide" Target="/ppt/notesSlides/notesSlide14.xml" Id="R6d8b10887f1141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c79743a3449f3" /><Relationship Type="http://schemas.openxmlformats.org/officeDocument/2006/relationships/notesSlide" Target="/ppt/notesSlides/notesSlide15.xml" Id="R220067080fb54f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1853A-D542-4EEE-A12D-99D14CD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FF0AE-B16D-453F-AE28-243AE8B3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DBCDB-FD32-41BE-8788-4967907B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EH/Unwind Analyzer 1.0.0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59552-1459-4316-AEDF-C211069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Техническая презентация для инвесторов и IT-экспертов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FCB6-0A92-484A-A5B3-FC44C1C2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Defensive analyzer для Windows PE32+ AMD64: статический разбор .pdata/.xdata, декодирование RUNTIME_FUNCTION и UNWIND_INFO, эвристическая оценка аномалий и Windows dynamic evidence через Debug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587D4-1382-4566-8DB0-A1B433D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08575-55E7-4138-9B88-27E535A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1.0.0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CA427-E76E-4E2B-8AC7-E765578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готовая версия для презентации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C0D3-66E1-4F1B-B993-FCF2651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35DB7-BD33-4F93-AD75-13D7E7BD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86075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16/16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C623C-CF7A-45C6-8CED-2B6DCEB4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CTest PASS на MinGW и MSVC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88240-0951-41BA-B9B3-252E106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5576C-CB0E-4906-84C5-F981C49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124/124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13F59-F0AF-4D3F-AAF2-11AA0EFA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валидные dynamic reports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E8D3DF-BD99-4FCC-ABB3-455E9EC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4A372-ED46-4CE2-8A83-DAFF02B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86075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AE3C-0797-4B18-B862-87969B24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1470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unexpected dynamic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96A97-8142-452D-9128-8637E1DA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700087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39F99-4469-48B4-AE9E-84BC836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665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release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4772C-69B5-49E3-B604-4F209B45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66579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F88A3-3749-4320-9359-A968C49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66579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artifact: artifacts/windows-x64/eh_unwind_analyzer.exe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sha256: b1cee8678cdf21d96e2921625ffabc3d5c1be4d41cb022d4d0954ef3692df63a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schema: 1.1.0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validation date: 2026-06-19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7B91C-2F5F-4DB7-AE4C-3DE51C2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EA2C-34A2-4D93-9E72-BC85664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811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3ED31-F7E3-434E-8A04-4ACAB832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526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Static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38271-CDFB-45AF-AED1-CCE367C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PE layout, exception directory, RUNTIME_FUNCTION and UNWIND_INFO records.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07B6E-65D9-4803-BE26-9F38D591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4A953-B6FB-4DAD-99B3-F708B2A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AA8C4-2904-4DC1-AC5B-CC1D97A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Heuristics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B10CD-73D7-4F02-B5C2-5F15C578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Finding families, score, confidence, weakening rules and manual validation steps.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431F9B-A3F5-4EC5-9085-8519D762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1B313C-6D82-40DF-9AF7-F74D9FC7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6C026-C6C8-4417-B04F-64844C1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Dynamic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2A235-B579-4FEA-B9BA-02D7DAFF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1485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Debug API evidence: handler hits, VEH/VCH/UEF and runtime function tables.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91CE0-D5EB-4EA4-8046-63DE1821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13BFBF-E06C-4189-9E32-EEA628C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01/15</a:t>
            </a:r>
          </a:p>
        </p:txBody>
      </p:sp>
    </p:spTree>
    <p:extLst>
      <p:ext uri="{BB962C8B-B14F-4D97-AF65-F5344CB8AC3E}">
        <p14:creationId xmlns:p14="http://schemas.microsoft.com/office/powerpoint/2010/main" val="13084362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03EF2-4F0D-4F79-80E7-077B650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Почему проблема существует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9348-A7FB-4578-91EC-E59FE05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Windows exception/unwind metadata - низкоуровневый слой, который часто остается вне обычной телеметрии.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27F62-462A-422F-8371-A13BA35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7C133-B3EB-48FC-BE9A-F0DBB4D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FDF17-BD9B-43EA-B575-5E1DABBD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02/15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CDBDB-19B4-4006-B6AB-3C03A69A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333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7B766-85DD-4BED-9AB8-103B96D1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8FBA5-8D68-4B50-B0CB-826833E2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Что анализируется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BB5F7-D3C0-4E01-8A88-5BAC14CB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В PE32+ AMD64 почти каждая non-leaf функция описана через RUNTIME_FUNCTION и UNWIND_INFO. Эти записи нужны для stack unwinding, exception dispatch, C++ EH и корректной работы отладчиков.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39558-05E7-46CB-9CEF-D567B9C3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27918-6B3D-44F8-99C7-2C9EAEB1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78707-4055-41F6-842A-02066D0C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954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Почему это интересно атакующим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C7E1D-33DD-4571-AACA-938FAD5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1930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Нарушение, подмена или динамическая регистрация unwind-метаданных помогает скрывать control flow, ломать восстановление стека, усложнять reverse engineering и мешать triage.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9E1F0-2119-4DAB-9B58-5C00C57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3375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15F56-C167-4F05-BD07-D0CAC045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3C616-6CA1-4EAE-8383-695736B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Почему это интересно рынку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E6FF75-4AEB-4B77-A117-18ECE4F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19300"/>
            <a:ext cx="2971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EDR, sandbox и reverse-engineering команды получают еще один explainable signal: не поведенческий шум, а проверяемую структуру Windows ABI.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92805-115A-4B78-A219-881113E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1123C-5DB4-41A8-B76A-1ECDC89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147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Слой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17C01-9F91-404F-94A5-E3A91773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38550"/>
            <a:ext cx="3566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C7956-3227-40B7-9F22-DF9F877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14750"/>
            <a:ext cx="3413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Обычный инструмент видит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92EDE-B735-428B-8EF0-B45B8A4A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3638550"/>
            <a:ext cx="43586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4D26-0E01-48CE-9E02-CF17519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714750"/>
            <a:ext cx="42062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EH/Unwind Analyzer добавляет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55090-79CB-412D-8F55-862BD93A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F562D-9024-40E4-90CA-BFFD4EDC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PE parser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3AFFD-A6F4-4029-8E82-A1414D0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3566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21AFFE-425E-4280-A48F-D9B66613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29100"/>
            <a:ext cx="3413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headers, sections, imports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CB907-978C-4AD9-887A-F46C600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4152900"/>
            <a:ext cx="43586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8E8CD3-16D5-4C2C-8245-B3F1CBBB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229100"/>
            <a:ext cx="42062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exception directory, unwind graph, handler metadata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B7217-36AE-4BE2-B889-6CD11DA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D4A730-F6B9-4D02-A518-721708D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Sandbox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AAB4C6-8F8C-4DB1-903A-154AEEE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67250"/>
            <a:ext cx="3566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41316-4B58-4593-98B1-38C7A11B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43450"/>
            <a:ext cx="3413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process events, API calls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1A6FF-ED86-424A-BF50-67B5433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4667250"/>
            <a:ext cx="43586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1FA769-518D-4E3D-B1D4-BD4CC2D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43450"/>
            <a:ext cx="42062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correlation static metadata + runtime exception events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7F6107-A894-4FFD-AC1A-A4829F2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69A44-7391-496E-B00C-DEA0B9E4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 workflow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39444-F60D-4A4B-8173-645D7FD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81600"/>
            <a:ext cx="35661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7808F-3717-438A-8C71-2086F34C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3413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disassembly/manual notes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3CD654-ADE2-46D4-8A72-0E85C0D4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360" y="5181600"/>
            <a:ext cx="43586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B2164F-AB7B-4D11-95D0-B203B376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257800"/>
            <a:ext cx="42062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CSV/JSON evidence for repeatable analyst review</a:t>
            </a:r>
          </a:p>
        </p:txBody>
      </p:sp>
    </p:spTree>
    <p:extLst>
      <p:ext uri="{BB962C8B-B14F-4D97-AF65-F5344CB8AC3E}">
        <p14:creationId xmlns:p14="http://schemas.microsoft.com/office/powerpoint/2010/main" val="4533683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A0397-E428-4654-943C-47A21CBB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Целевой механизм Windows x64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6EE6D-64BE-492E-9FDD-77A90A28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.pdata хранит RUNTIME_FUNCTION, .xdata хранит UNWIND_INFO; вместе они описывают восстановление стека и обработчики.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F0248-FDEE-4C7C-B838-88A6EF6D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88173-DB89-41DC-ABF7-29AF119C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21FBE-0DE6-4B85-8590-D14D00B3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03/15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AD894-74E7-4FAC-BBC1-54B6211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981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B9F41-A626-448D-93E9-6058499F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PE headers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F09E0-7698-4FFB-9D12-A1489D5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Machine AMD64, SizeOfImage, section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1D1E8-50E9-4B15-BDC9-6AA7EDA6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764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9599-FAC1-49F3-9102-E00EEB75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81150"/>
            <a:ext cx="1981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7C19E-E1DE-49AA-B887-EED4241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145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Exception 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75306-C531-4DE9-9B27-92AF83A1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193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RVA + size of .pdata 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0E17E-A864-4CAD-A3F9-7A23AF20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764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F3292-97A5-4DE6-A47C-27A7E917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81150"/>
            <a:ext cx="1981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927CF-1713-4756-8983-B69DD6D2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145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RUNTIME_FUNCTION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F1905-2350-487B-A683-04E8698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193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BeginAddress, EndAddress, UnwindInfoRVA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8F425-EC85-4900-B4F3-5500573E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7158D-A738-467B-9F57-D8D72BB5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81150"/>
            <a:ext cx="1981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2D8F7-F12E-4A77-AA43-C749E9B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145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UNWIND_INFO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BCDEE-AB70-4A12-AE33-7A2B3F7F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193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Version, Flags, Codes, handler/chained tail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0C79A-30DA-4690-B469-1CDD016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764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A69EE-BC0D-48FD-9DE5-243AA73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81150"/>
            <a:ext cx="1981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67DBB-31F2-4596-BA90-C32C97E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Runtime 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A11E2-60B6-4F63-A640-F9783F8B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19300"/>
            <a:ext cx="1752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unwind, exception dispatch, handler invocation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FCDA7-29C9-4E74-A9F3-B36F5A3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248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ABB3C8-6FFC-4562-955E-6AFE4FB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data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7305D-A061-4F2B-A07C-ED77CB41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6D67F-70F7-4FC4-B9BC-8DAF1DD5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3905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RUNTIME_FUNCTION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uint32 BeginAddress;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uint32 EndAddress;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uint32 UnwindInfoAddress;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UNWIND_INFO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Version / Flags / PrologSize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CountOfCodes / FrameRegister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UNWIND_CODE[]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optional handler RVA or chained 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12A5FF-C1A2-4F87-A756-E66648AB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2714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287643-54F1-4453-8D7A-AD37E8A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CC735A-3AF5-4B29-8022-C8B4094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486150"/>
            <a:ext cx="2352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Ключевой invariant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CD9FE-B727-4E27-864C-4BC0076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10000"/>
            <a:ext cx="2352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Function range is half-open: [BeginAddress, EndAddress). Begin &lt; End, RVAs remain inside image, table size is divisible by 12.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5B86FF-F4A0-491E-8667-A148C62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14850"/>
            <a:ext cx="27146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9B83C-E658-4DE6-A430-965DF2C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14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DC0939-E446-443C-B674-F88F7CCE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686300"/>
            <a:ext cx="2352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Decoder invariant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88964-C265-4D56-9FA7-465CB5C8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010150"/>
            <a:ext cx="2352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UNWIND_INFO tail layout depends on flags and CountOfCodes parity. Ошибка tail layout сразу влияет на evidence.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FB0202-3A14-4C38-B6EF-597CC9DA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7146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4D4CC8-C5AB-49F9-98DD-E2CDAC9F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4A9FD-6405-45B4-83F4-3BC4605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86150"/>
            <a:ext cx="2352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Поддержка версии 1.0.0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AB88D9-9599-40FC-807E-31C979A8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3526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Поддержаны UNWIND_INFO V1/V2, включая V2 epilog descriptors. Preview V3 намеренно reported as unsupported, чтобы не выдавать ложное декодирование.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384760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C0C9CC-ED47-4767-835E-B60B585B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Модель аномалий и threat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66FB1-A44B-42C9-AC95-6112DD47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Инструмент ищет структурные нарушения, подозрительное размещение, reuse/dominance patterns и runtime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15453-D592-45FE-9F80-8386B9CF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2A899-B47C-4BB0-9257-5CE6D58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42E04-57CA-4D1D-B884-02729C4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04/15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AA920-9F33-4CB3-8F98-B64A36D7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7791A-B40F-4186-9F62-1511B9CC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Класс сигнала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51609-B6EC-40CC-9DE2-0799FFB8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15240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53EB9-0E4E-4FBC-8B04-274F7297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16002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Примеры проверок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1926B-A6A3-43FC-A07B-556A95A4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5240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A45A1-82E1-464E-A3B4-0FFC71B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16002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Почему это важно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31EE8-3963-48DD-9C53-6FE4DCC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D8591-83ED-4CB7-B70F-3DF858E1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RUNTIME_FUNCTION integrity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EA807-1506-4911-BD18-F18C58B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0955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962E4-CE2F-4750-8D6C-6452AF36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1717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Begin &gt;= End, OOB RVA, overlaps, unsorted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D927D-296D-4722-AD09-C69E1ACD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0955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F25742-7676-40AF-930E-1F8FD6C9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1717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ломает/искажает unwind lookup и stack reconstruction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A2D59-70A9-465F-8DDF-1864E393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EB98F-2FE4-4A5E-A648-26A1060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UNWIND_INFO integrity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A6B72-D363-456C-9C9D-D443DE2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26670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0C111-CACC-4737-AF1A-6E5B7638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27432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bad version, invalid tail, chain loop, CountOfCodes mismatch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0B3BF-3683-4EA8-83CE-EF157D0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6670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AA1BA-49F4-46F5-BCDA-23749D8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7432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может скрыть handler logic или сломать exception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0DD7C-7E84-48E2-9ECD-F26B8DB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08317-AB89-4771-9735-A70A6B6C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Metadata placement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2B7DD-1DCB-4E21-8E0E-47817BD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2385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99C0E-448A-432F-860C-6BC88A69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3147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writable/executable/unusual section for unwind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18DB9-8D31-4238-9A48-09F738C8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2385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B4743-7E4D-4915-904F-71C15AF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33147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метаданные потенциально изменяются или маскируются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C20EF-28ED-41F4-8D2B-E91C2929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13ECAC-796A-4852-B0D3-B0DE9CD3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Reuse/dominance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B4D996-2583-49F5-AA8D-C0CED7D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38100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71E7E-9896-42EE-BBC4-E118BB3B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38862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один UnwindInfoRVA на много функций, handler dominance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BCA27-7395-41A3-9D7D-9344B608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8100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26FC08-2FE1-487B-B4CA-18C031EF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38862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признак compact obfuscation/protector layout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62D324-3E6C-4A91-9497-554EB48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3804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53BA74-25E0-4F5D-A34F-6A1FE3FD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2280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Runtime evidence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D890E9-E39A-4153-A723-EB44246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88" y="4381500"/>
            <a:ext cx="411175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7F7D49-7497-46F6-B28F-4B13FF3E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488" y="4457700"/>
            <a:ext cx="3959352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VEH/VCH/UEF, RtlAddFunctionTable, handler hit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6CAC91-DB99-41EC-9E5F-FFD819C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381500"/>
            <a:ext cx="432816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C01D3D-FEE2-4FDA-B50C-CD5A5376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4457700"/>
            <a:ext cx="41757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подтверждает, что механизм активен во время выполнения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941FCF-569E-4D42-A376-047C7402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D231E2-6C61-4101-9F59-A9701EC7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0067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static first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AB8AE2-49DB-487D-9BEC-A6B069C1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340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0">
            <a:solidFill>
              <a:srgbClr val="E8F8F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6790E6-14CE-4094-AC72-28CFA2B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00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runtime corroboration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DCCB48-586A-489F-9A94-FE3F930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340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solidFill>
              <a:srgbClr val="FFF4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26D667-BEEE-4CA0-8066-608501B2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00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t>explainable findings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F18E28-4C19-4C6A-9217-E2BD1F65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DEC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54BA04-B27F-4403-9397-968F2D26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t>not AV verdict</a:t>
            </a:r>
          </a:p>
        </p:txBody>
      </p:sp>
    </p:spTree>
    <p:extLst>
      <p:ext uri="{BB962C8B-B14F-4D97-AF65-F5344CB8AC3E}">
        <p14:creationId xmlns:p14="http://schemas.microsoft.com/office/powerpoint/2010/main" val="16510297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3C50C-55D2-4076-96C4-7E5E8262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Архитектура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D03D7-CC31-4CF5-974E-5CE53A72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Модульный C17 core + CLI contract, вокруг которого строятся отчеты и будущие integrations.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39D67-A6EF-486C-8C11-5CFE18E3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A9A58-59F1-404B-B041-C93FF8E8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B2700-E935-452F-9F91-8CE1AF38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6772F-4529-4922-AD8F-07868F1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99644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55E8C-0CC6-4F11-B29F-49365FE0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7678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main.c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3B8DC-03D1-48C2-96CD-070CC0DB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1767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CLI, options, output orchestration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CD53E-3F82-4BF8-9E4D-20709BF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9B309-016F-476A-957A-5E2DA092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790" y="1524000"/>
            <a:ext cx="199644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10B1F-CD11-4887-B770-12ED5AD8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657350"/>
            <a:ext cx="17678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pe.c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B6538-41B9-4B46-A099-B7413F89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090" y="1962150"/>
            <a:ext cx="1767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PE headers, sections, RVA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6A163-6166-4D5A-A52E-D3A8EB4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29B454-F73B-4675-80F2-7B32EEA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524000"/>
            <a:ext cx="199644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A5151-6DCA-4FD4-9EA1-8C8706FD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57350"/>
            <a:ext cx="17678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unwind.c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1AD9B-A144-425C-A24D-A14AE43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62150"/>
            <a:ext cx="1767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RUNTIME_FUNCTION + UNWIND_INFO 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2C26D-3125-4046-B4EF-AA231993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7FE1F-ECB8-4D91-9DDB-9C08C912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770" y="1524000"/>
            <a:ext cx="199644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0C65F-A8B7-43F6-BFA8-5ABDF14E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1657350"/>
            <a:ext cx="17678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heuristics.c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E34C7-1F18-422A-B697-D0BA0FE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1962150"/>
            <a:ext cx="1767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findings, score, confidence,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5B478-589D-461E-A548-3D60A063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DCC64-F309-4A3F-BB0E-485CD72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524000"/>
            <a:ext cx="199644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C8E42-DAEC-433E-9644-2ECDD2A8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1657350"/>
            <a:ext cx="17678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report.c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09D3B-A1FA-4CEF-B7EB-10359FA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060" y="1962150"/>
            <a:ext cx="17678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JSON, HTML, CSV, Ghidra 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F1325-51F8-4F67-A117-3B805464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909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F2F0FC-8078-43BD-93A6-E8994604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AEB3C6-E1B2-4295-86C6-3E8A1C8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75122-BE1C-4D38-B15A-7D6CEEF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531FE-A042-4BE2-9F15-A41C3230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Static analyzer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283C9E-2EDB-477F-AB1C-6C23AE6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portable PE parsing on any 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D6541-555F-4828-A811-38B674D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6A9F1A-0BBE-4757-804B-B6F42526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A9F48-C1FB-42BD-A58E-A521080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19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E3AF40-EF31-45E2-BF5E-DBBA564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909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Dynamic collector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932615-B4D3-4D46-838A-38BFE02C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Windows-only Debug API session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BDDC2-C12E-45F2-A994-B8F2384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565964-6AD4-4D52-9446-3D91D472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19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099C6F-6007-4711-9A4C-B1E149A2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19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4F16AF-8DF2-45AD-BFE4-72AD612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909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Report contract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A8F652-105F-4AF8-9674-594C042C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148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schema version 1.1.0 + HTML/CSV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2B209-960E-4897-811F-01BB3472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3F62C0-E21D-4C41-930A-752C6C48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321D76-A67B-485B-B89B-42D531FC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0785F6-BDCB-46B8-9DA5-D33DB4C1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Release gates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93D5FF-3ECF-405C-AF67-FA65A54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1638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metadata, hygiene and artifact hash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A8B21F-14A9-495B-A9B2-5AE9231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8191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44AFF0-DC76-4A99-A461-09F4123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95900"/>
            <a:ext cx="784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repository ownership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02B735-E2D7-4C34-BF8A-F12FA691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62600"/>
            <a:ext cx="784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86DC90-37B4-4F3E-B59A-83BB105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76900"/>
            <a:ext cx="784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src/ + include/        production core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tests/unit/            parser/report/heuristic checks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tests/samples/         reproducible PE corpus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ghidra/                CSV importer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docs/                  architecture, evidence model, schema</a:t>
            </a:r>
          </a:p>
        </p:txBody>
      </p:sp>
    </p:spTree>
    <p:extLst>
      <p:ext uri="{BB962C8B-B14F-4D97-AF65-F5344CB8AC3E}">
        <p14:creationId xmlns:p14="http://schemas.microsoft.com/office/powerpoint/2010/main" val="8591023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53F84-708F-45DB-BF0D-1B1CDB5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Static analysis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5A82A-3329-4CCB-9055-E719B4B0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Пайплайн не исполняет sample: он читает PE, строит факты, затем выпускает объяснимую оценку.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415AA-F3D5-43C7-B6E0-CAB910C6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C82-DC63-48AA-AA81-CC09EF68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B5870-D9EA-487B-91F5-3A5DD911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06/15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E1CDF-2B9E-42D6-88AE-AB0F109B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406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4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CAF3E-C09F-436E-BF0B-37C1E5DF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775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D67E1-F110-42E2-A7DC-A483CA18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77546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PE32+ AMD64 file, SHA-256,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1FBE4-48B7-49F0-9DD0-08B4F39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2066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FDF50-76DC-41CC-8A5F-ED8D039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600200"/>
            <a:ext cx="200406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55A73-542A-4981-951C-DA1840C3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1733550"/>
            <a:ext cx="1775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Validate 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547E0-EEA0-42D0-A290-441ADDAC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660" y="2038350"/>
            <a:ext cx="177546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headers, section ranges, overlaps, alignments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D29AE-BCC8-4A9B-88B4-06F475D8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2066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C2E67-954E-437E-883C-C25F3809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1600200"/>
            <a:ext cx="200406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81152-4B3F-4F00-84E9-2E57E4D4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1733550"/>
            <a:ext cx="1775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Map RVAs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0CE73-3C4F-45F9-AB49-7229D45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038350"/>
            <a:ext cx="177546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exception directory and section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E14FF-ECD2-49F0-9347-26293A16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7080" y="2066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36EFE-1F55-4BF4-9544-51C41CB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600200"/>
            <a:ext cx="200406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11120-4C67-4593-BD9C-364E20A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1733550"/>
            <a:ext cx="1775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Decode unwind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588CC-C5D3-47C2-88FE-BAC3DCF1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038350"/>
            <a:ext cx="177546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RUNTIME_FUNCTION list + UNWIND_INFO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0BD98-DF2A-4016-8DD5-AAA5B0D6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0690" y="2066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EA82B-3A72-45E5-B9FE-6A7BC7EC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190" y="1600200"/>
            <a:ext cx="200406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20A19C-FFF8-4087-B443-1436A70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1733550"/>
            <a:ext cx="1775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BE6FC-2D31-4231-9A99-6D04B5A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490" y="2038350"/>
            <a:ext cx="177546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findings, score, evidence, manual steps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489B4-CB88-449D-AE52-24EB5FE3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3000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2FC786-7DFF-4D14-B4D8-9DA36D1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A1D2C-F544-4C8E-89EC-5FCAB5B0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638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Что сохраняется по каждой функции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E565C-95A2-437C-90D0-0217383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6384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BeginRVA, EndRVA, UnwindInfoRVA, section, size, parse status, operations summary, handler/chained metadata and exact parse error reason.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F497E-B114-481C-8CFF-8A66BC2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3000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25463-735D-4005-B7EE-4CE958E5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147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6BE01-8958-4899-A193-B9219C76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2638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Почему это repeatable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5B83FC-1658-4D72-A65E-FE65AEC5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6384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Все machine-readable поля идут в JSON schema. Отчет можно валидировать отдельно от UI, сравнивать в regression tests и загружать в backend.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40955-6DF2-47CE-A86A-112C1E1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3000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EA186-BD42-4EF0-8706-7AD28F6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CB5359-CF5C-4835-8867-CCB7C42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86150"/>
            <a:ext cx="26384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Почему это безопасно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E74A3F-CE4C-4029-A189-572AF4A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10000"/>
            <a:ext cx="26384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Static mode не запускает target. Это позволяет прогонять real benign corpus и suspicious corpus в CI/validation без sandbox execution.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CFEF65-88AC-4FAF-8A71-FF795AEF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9906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1951E2-B6A7-4816-BA68-3528F0AF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53050"/>
            <a:ext cx="956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typical static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F50D17-DD5C-4CC7-9639-672E93A0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956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262E71-2D88-46DE-BC5D-574F054B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34050"/>
            <a:ext cx="95631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eh_unwind_analyzer target.exe --heuristics --json report.json --html report.html --csv functions.csv</a:t>
            </a:r>
          </a:p>
        </p:txBody>
      </p:sp>
    </p:spTree>
    <p:extLst>
      <p:ext uri="{BB962C8B-B14F-4D97-AF65-F5344CB8AC3E}">
        <p14:creationId xmlns:p14="http://schemas.microsoft.com/office/powerpoint/2010/main" val="9858252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45122-0AE6-4A08-94D5-B0BA998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Decoder: глубина поддержки UNWIND_INFO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A7F85-1453-478D-8C01-20EE0E26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Ценность продукта в том, что он декодирует именно Windows x64 unwind semantics, включая edge cases.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39CBA-721F-47AB-A322-7D1B04D5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2CE88-BC46-45FC-BA52-774947D7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E7057-E8D6-45A6-8EE8-8F7AD152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07/15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2BBA9-7DA9-4559-B923-70D8FFE0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1B151-155F-4B49-801C-495A688B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295B3-D964-41C9-82B1-7E44B7AB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5049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E0163-421E-432A-B7DE-FC03C38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15811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Status 1.0.0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6341B-7273-4583-8C3F-DAA8D57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150495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8CF52-A560-41DE-87CE-8B3A61B1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158115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7EEA3-C420-4EA4-9704-49415721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5F7F9-B646-4020-A18A-46ED4832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UNWIND_INFO 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835D5-4C96-4453-9D7D-7F98EC3B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19812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FEB99-CA22-4656-85DB-6F86F090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20574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implemented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3B22E-9356-4B60-8278-023BC69F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198120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1AB3E-0E6F-4AC8-AE56-08452FB3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05740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unit tests + regression samples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5B9BE-4789-4827-A3C5-1B631E63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C6A84-25D2-47F4-AEF0-48B6C07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UNWIND_INFO V2 epilog descriptors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16CEB-021E-4B8C-AF9A-CDE5565F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4574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A176B-F1AA-4D72-B468-7E404A7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25336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implemented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C4003-B922-4A81-83BC-F3994591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245745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75A4-B83C-474F-8339-3F93662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53365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parser tests and static corpus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FAB0B-9070-4029-853B-170E0FA8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7D280-6A39-48DE-9E5A-3FD74A48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 operations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DA36F-2A0B-4695-84EB-2EFBD3CA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337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3839D-BECA-433C-96A3-89C221A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30099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decoded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F37069-633C-464B-84FF-5B931148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293370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5DA8C-DE1F-40C0-B6FD-DDAA8380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300990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ops output, CSV/JSON fields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517AB2-1122-4B78-83BF-47BA965C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30658-5A78-4390-87FF-F8096F1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Exception / termination handler tails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B97759-D09F-4AAC-9278-55457F05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4099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E18735-08B2-41AD-8D0D-9AD7AD96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34861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decoded and validated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61A01-0787-483C-9BB2-033C967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340995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E5BDF1-E0BF-4A12-A1C1-CA224BF8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348615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heuristic and report tests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B71228-B8E3-42AF-9F04-9772AD0D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802705-4F19-487D-9485-6DCC94C5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Chained records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309C1-7861-4CDD-AE61-507FF5CA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8862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B31572-6E06-48B9-958B-13907BD5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39624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followed with depth guard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350A1-B53C-486A-85D2-AAFD983C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388620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52AD11-E93A-41FD-A584-B228FA4D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396240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chain loop/depth diagnostics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1C00E6-9D9D-47E4-A6CE-796EBA4C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104045-8FD8-4C03-BCEA-D3D295CE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Strict Microsoft x64 ABI diagnostics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DEB257-890B-463E-B4CF-1316D8C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36245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60D28-B20B-4C8F-87BD-08E22D7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443865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optional --strict-abi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A18D96-9595-4336-8AA1-A14B383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436245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3CBFCB-10DD-4032-8FB7-A11A61C3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443865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does not change default score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D37F28-5E0C-46D2-AB59-472F7473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24612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98D59B-F662-480B-98DA-64290271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09372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UNWIND_INFO V3 preview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84A243-0F72-4F74-BC14-B4F5C74E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838700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B8AB06-7AA7-41A4-AED2-F0F82B7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4914900"/>
            <a:ext cx="2552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reported unsupported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D1F79-CD8F-45B8-915C-C6490831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4838700"/>
            <a:ext cx="48691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48A1C-3756-4CA2-870C-65A695F6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4914900"/>
            <a:ext cx="47167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safe boundary, roadmap item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87D41E-2626-4471-8459-EFBB5EE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E899CE-CE2D-46D4-A63C-D0DA31E8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24475"/>
            <a:ext cx="842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tail handling rules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45E9B1-FAFC-4C8A-82CC-970650A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91175"/>
            <a:ext cx="842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FF72DA-6A4E-4173-9ED6-DDD710FB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05475"/>
            <a:ext cx="842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UNW_FLAG_EHANDLER / UHANDLER -&gt; handler RVA tail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UNW_FLAG_CHAININFO           -&gt; nested RUNTIME_FUNCTION tail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CountOfCodes parity          -&gt; 4-byte alignment before tail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max-chain-depth              -&gt; bounded recursion, default compatibility mode</a:t>
            </a:r>
          </a:p>
        </p:txBody>
      </p:sp>
    </p:spTree>
    <p:extLst>
      <p:ext uri="{BB962C8B-B14F-4D97-AF65-F5344CB8AC3E}">
        <p14:creationId xmlns:p14="http://schemas.microsoft.com/office/powerpoint/2010/main" val="11111110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CFB8F-6A44-48AA-A01F-3DC0AEE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Heuristic assessment: explainable, not black box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9BB15-149B-4529-985B-C2EC636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Score 0..100 - triage aid; evidence level and findings explain why score появился.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9FA1-9C0F-4DC8-AFA8-DB676215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E220E-70A7-4850-80F7-F2FC987C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F4643-B39C-497F-9207-F34B7DF4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08/15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0808B-F1ED-47FB-8F2D-9D71E78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DCAE1-2633-4F83-9AFA-34BA58B5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t>0..100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8294-96B4-4893-9BFF-2638485D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suspicion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180A3-EA2F-4BB7-A344-C24EE3AA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240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5B9BB-F001-4319-95DC-26818E5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478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8AB52-FED0-471C-BBE6-E49A7D16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764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public finding codes in current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69EDE-B1E4-4155-941D-02CEE5D5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240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B78CA-CF34-4614-A219-901C8325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478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4+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C4B49-AC96-47E5-B668-55AA148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764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evidence family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7C3C3-9AF4-4FFC-AA28-F9A39A69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240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C6A7C-49AA-454E-8BD8-85EDC89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47825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19C1B-E2A1-4B13-86AF-F01A88A0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764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validation steps per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2DC9F-6CB7-4EC9-966C-275CE8DD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47800"/>
            <a:ext cx="3429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11135-4EE8-45E4-8E3E-F4C697B3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478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98816-95A5-49FD-BB86-A6A211AC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61925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Weakeners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A2288-E78D-48F4-869E-664B794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43100"/>
            <a:ext cx="3067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Confidence снижается, если сигнал изолирован, sample слишком мал, есть benign explanation или нет runtime corroboration.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6D5EA-E402-447A-882D-99A36F2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433638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621CD-F6B2-46FF-B05E-D09CF27E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2050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Finding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84BDD-F1B7-4253-8BF5-F1879C4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20503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code, severity, family, affected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2DD08-CEC0-46DC-9F57-5676C7C4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38290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53691-FB58-45D1-8AC6-BF28738B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14700"/>
            <a:ext cx="2433638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413D5-6F74-40CA-AB3D-75618C49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448050"/>
            <a:ext cx="22050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Aggregation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7B3D4-AEFE-4B25-B6C9-3427A149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752850"/>
            <a:ext cx="220503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weighted score + family diversity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2BAFF-69CD-4C10-9483-D73EB225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290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11728-CADA-481B-9140-3B8CBB4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14700"/>
            <a:ext cx="2433638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62F7B-34EF-4CB9-B19A-8A04F248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48050"/>
            <a:ext cx="22050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Confidence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AD75B-8D12-461F-9432-8C37061A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52850"/>
            <a:ext cx="220503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weak/medium/strong evidence level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864BFB-9A99-4FF5-8D81-2603564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63" y="38290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D8D8A-5CFF-43D2-8773-5DD00B2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663" y="3314700"/>
            <a:ext cx="2433638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1EAF25-8A4F-406F-9CCE-1333B21D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448050"/>
            <a:ext cx="22050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Analyst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88800D-C2DD-48F3-A839-FE8BA330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3752850"/>
            <a:ext cx="220503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manual validation steps in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D9674E-6EE7-460C-9BA2-13267B1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0B1F2-C72F-4C47-91B1-6123C23B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29225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report-level semantics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24B8AA-848C-43B0-A2A2-6A7E8481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95925"/>
            <a:ext cx="864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26C003-4790-4D3A-BCB8-2280CA52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10225"/>
            <a:ext cx="864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final_assessment: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verdict: no_strong_correlated_evidence | suspicious_static | correlated_runtime_evidence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static_evidence_level: none | weak | medium | strong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runtime_evidence_level: none | weak | medium | strong</a:t>
            </a:r>
          </a:p>
        </p:txBody>
      </p:sp>
    </p:spTree>
    <p:extLst>
      <p:ext uri="{BB962C8B-B14F-4D97-AF65-F5344CB8AC3E}">
        <p14:creationId xmlns:p14="http://schemas.microsoft.com/office/powerpoint/2010/main" val="9789574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65EA09-159A-4B52-80FD-7FEAD27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Dynamic collector: runtime evidence на Windows x64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30EF1-1678-4B91-A256-7830FD93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Dynamic mode запускает target под Debug API и собирает exception-related события с bounded timeout.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52D09-B8D2-4BAE-9CBE-A5D33586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6B56B-6513-41AB-A759-EBC99266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79078-92B2-4025-A355-43408925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09/15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2E8B8-FCAB-4114-BA07-37ADE44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524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76DF6-580A-41B5-A750-DD8F87F2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47BB5-F5D8-40B3-AACF-418FBA08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2162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Observed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22313-C3F5-4D0C-BF6C-A5B52A0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1621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first/second chance exceptions, handler hits, VEH/VCH/UEF registration and hits, runtime function table API calls.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DBB1A-E072-4763-83FE-74F114E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2524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67DAE-17D5-45E0-B584-49B7927E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04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3796C-4FBD-49D2-84F7-D18B11B3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76400"/>
            <a:ext cx="2162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Instrumentation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D663A-BC8E-483A-A61B-03A849FE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0250"/>
            <a:ext cx="21621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breakpoints on handlers from static UNWIND_INFO, RtlAddFunctionTable, RtlInstallFunctionTableCallback and known EH registration paths.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EB1C6-8FE6-4FBB-A26F-31A08B0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252412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0C534-0BB1-49ED-9006-3C8DE8E2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389BA-26CC-4FDC-8867-E9BCE51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76400"/>
            <a:ext cx="21621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Completeness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0D0ADC-AB3A-470F-AD76-17D9A494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1621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module count, breakpoints set/hit/re-armed, dropped events, timeout state and structured event timeline.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7A868-F6C3-4B91-AEE9-216C2F8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04950"/>
            <a:ext cx="2095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63669-3181-4826-B9B7-30765D75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04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A1D18-496D-4E46-A1D3-BCE3A86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764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Safety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637B4-A636-4607-A2ED-A15CAF02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00250"/>
            <a:ext cx="1733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executes target; untrusted files require isolated VM.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7EB55-BDE1-4AE1-A689-5593AA9E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94691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24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9A660-DE9E-4524-AE39-84BEDE36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7183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CreateProcess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EDC82-388A-44D4-9CD3-2F7C96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7183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debug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754BF-CC7F-4CC8-83D1-B7C3E35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3971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5989B-4392-4DB3-A921-C27079D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410" y="3505200"/>
            <a:ext cx="194691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36E03-2AC9-4C40-A984-AD2BB49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638550"/>
            <a:ext cx="17183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Load modules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2A9D7-152B-4393-8020-9E77BE1D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943350"/>
            <a:ext cx="17183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map image bases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E108D-095E-4BA4-A585-3F3BE50D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3971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4ABB5-FBA5-4992-A58B-3AA942ED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3505200"/>
            <a:ext cx="194691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FB0E9A-89BB-4A91-87E2-F34C7EC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3638550"/>
            <a:ext cx="17183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Set breakpoints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8310D-2DB2-4729-A454-D58E1A4B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3943350"/>
            <a:ext cx="17183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handlers + runtime APIs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574302-D9A2-4D65-BB92-6FE99B4A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3971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83D5D-2938-4034-A3DA-C42A89D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3505200"/>
            <a:ext cx="194691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6DEC3-464E-491F-A6EE-314D0A20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638550"/>
            <a:ext cx="17183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Event 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58122-071A-40F1-A67F-78C0B3E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3943350"/>
            <a:ext cx="17183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exceptions, hits, calls, exit/timeout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3B6A1-DC6B-4186-9EF6-262C186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290" y="3971925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015981-7EC9-430A-A517-192B8C4C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790" y="3505200"/>
            <a:ext cx="194691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9CABA4-5564-4335-B2C4-23588FA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638550"/>
            <a:ext cx="171831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Correlate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7388D-B9E9-427E-BADB-251CFCBC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943350"/>
            <a:ext cx="171831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static + runtime summary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3FA350-03BC-48E7-96BF-81AB665E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9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9A8B31-41FA-4763-9EBC-8E6466DF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24475"/>
            <a:ext cx="975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dynamic run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B15A12-A378-417D-8D3D-1396340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91175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94B168-D50D-4D4F-B0B9-676193E0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05475"/>
            <a:ext cx="9753600" cy="-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eh_unwind_analyzer.exe target.exe --heuristics --dynamic --timeout-ms 15000 --trace-steps 64 --json dynamic.json --html dynamic.html</a:t>
            </a:r>
          </a:p>
        </p:txBody>
      </p:sp>
    </p:spTree>
    <p:extLst>
      <p:ext uri="{BB962C8B-B14F-4D97-AF65-F5344CB8AC3E}">
        <p14:creationId xmlns:p14="http://schemas.microsoft.com/office/powerpoint/2010/main" val="15611945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25BF0-D2F3-45D2-BCD1-8078EBB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Report contract и интеграции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C397F-5642-47A0-8B4B-2C4203A6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Отчеты сделаны не только для человека, но и для автоматизации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D51BA-F898-4A27-8F54-2B4B6D4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4C0C9-9FE2-4C31-8CC6-0E4E1352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8C12B-C669-475A-A0A6-9307C40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10/15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51378-A77B-43AA-9DD1-E45A1C28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4860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109E3-0A4B-4396-A4C3-3749B8F3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5FC54-89C0-434A-947D-CE1413C7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257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schema 1.1.0, full facts, metadata, assessment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9C938-BEC5-4ABE-8BB5-4BD49E0B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981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EA86B-DDEC-4134-8690-4D6FF04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04950"/>
            <a:ext cx="24860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5D804-E02D-452B-8DA0-DA51E48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285A0-F41A-4FCB-84A0-4FEA5CF1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43100"/>
            <a:ext cx="2257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self-contained analyst dashboard, no network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9FF56-45C9-436D-9428-E1DCE9B3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62611-95D7-4D10-B40E-7BDD61EA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860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41117-1CE8-4F32-8C5F-C5C1CA6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11210-75C5-4DA2-A43E-292B7DF4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2257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flat function/unwind 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1F026-6AC5-47F3-9060-FB8CDE7C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8120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7FC04-4B40-437A-B2FB-069F2F8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04950"/>
            <a:ext cx="24860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5C46E-3BA8-44DA-A3D5-E5689BE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Ghidra 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4C0B6-BDC5-4538-9C8C-7CC68B4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43100"/>
            <a:ext cx="2257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ranges + comments for importer 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4043E-A92B-4B84-B6B1-E85C674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609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2BF54-1182-47AF-AA9A-6CBEA380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575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Consolas"/>
                <a:ea typeface="Consolas"/>
                <a:cs typeface="Consolas"/>
              </a:defRPr>
            </a:pPr>
            <a:r>
              <a:t>JSON schema shape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77163-3499-4088-9FF4-955C52A0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75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C3DEA-727C-44F1-8A10-BC38E3B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5753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"report_metadata": { "schema_version": "1.1.0", "tool_version": "1.0.0" },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"pe_validation": { "section_raw_oob": 0, "exception_directory_oob": false },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"functions": [ { "begin_rva": "0x...", "unwind_info_rva": "0x..." } ],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"heuristic_analysis": { "score": 0, "findings": [] },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"dynamic_validation": { "ran": true, "event_count": 17 },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  "final_assessment": { "verdict": "..." }</a:t>
            </a:r>
          </a:p>
          <a:p xmlns:a="http://schemas.openxmlformats.org/drawingml/2006/main">
            <a:pPr algn="l">
              <a:defRPr sz="900" b="0">
                <a:solidFill>
                  <a:srgbClr val="D1D5DB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3A702D-2F5F-4F0D-B94E-814E5C89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238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59F3F-F6F2-44B6-B9FF-6E89EEF9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61EFE1-7253-4CE1-A645-572BAF5B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099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Backend-ready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A7DA4-0F61-4E1D-A523-40FD2F4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3380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CLI can run as subprocess; backend validates schema and stores raw report + derived fields.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B5FB2A-C87D-440C-9297-F44B3B2B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3238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050C7-2FE0-4951-A14E-1369732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005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B14DB-4826-41A8-8783-93EFC97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RE-ready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DA2A44-4C5E-48C6-A7EE-F9506271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9585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Ghidra importer uses transaction, validates columns, creates comments/bookmarks without overwriting analyst work.</a:t>
            </a:r>
          </a:p>
        </p:txBody>
      </p:sp>
    </p:spTree>
    <p:extLst>
      <p:ext uri="{BB962C8B-B14F-4D97-AF65-F5344CB8AC3E}">
        <p14:creationId xmlns:p14="http://schemas.microsoft.com/office/powerpoint/2010/main" val="16357688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3A3C6-5234-43DC-BF8F-31F953F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Validation matrix 1.0.0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4E126-9C75-4F84-AA50-EF6A2601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Релиз проверен как код, как parser, как static detector, как dynamic collector и как deliverable.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83C1C-9AD4-4125-8759-5A8089C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151D1-FCF9-4718-A13F-E5AEA92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EA741-E0F4-4B89-8823-2B0300EE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11/15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F7F2C-8ACF-458A-B9DD-73C584D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11806-51D8-471A-A487-75CD9BD2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74F18-A207-477F-87F9-CA68C89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15049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F41B0-C850-46D5-98CB-9B3C2DEA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15811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82C16-C8CE-469C-A4D7-F0824B57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2D213-6717-4E8D-8F92-87CCFEEA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811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7C85E-452E-4E27-83DE-D63FA10C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350DB-F2E9-4BAB-BF6F-1B84962E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MinGW-w64 Release CTest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C4601-4C95-483B-A977-8E367ABB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20383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60114-DC90-4076-A6C5-48F05C9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1145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unit, samples, schema, semantics, mutations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09F41-B812-49E7-985A-66AB0CC4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E415C-53BD-425A-A5F6-314375ED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145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16/16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CEE40-60B1-4CC4-A85B-588410B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6C067-5A8E-430F-A9C4-F894C948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MSVC Release CTest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CD463-DA44-4EA7-933C-3F090E0A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25717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C92BD-4B3D-4CFD-954B-CB05DEF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6479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same suite on independent Windows compiler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09BA7-2093-4346-A1D4-25D46AB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9CAD3-4BDA-48F2-A2E5-5B39F4B1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16/16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7583F-E8D9-469E-BE01-DD94E8B9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469A3-3DC6-4A34-AF8F-759BB6E5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Static labeled corpus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FE982-BE3A-47C7-8053-691379C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31051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FFAC94-068D-4366-903A-1EE8902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1813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2 benign + 12 anomalous synthetic samples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67C5E-DE6D-4A2E-ACB2-3CF1C44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36CD5E-0B51-4015-9580-CE5DB736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813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14/14 valid; all anomalous flagged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5C10D-F92F-4717-8B82-1D4A8B95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DA5B8-6334-4391-B644-422B531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Real benign corpus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CCD06-7CA7-419B-A955-C25DD3C5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36385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52BBC-D1EA-46F2-AE40-62039D1F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7147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106 real PE files, 174,795 runtime functions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83D662-DDE9-46B0-B318-7458273C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544AB-4423-4220-8AFF-FE4846D5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147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106/106 valid; zero non-zero scores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FA00E9-5006-4B74-B443-E6B85D84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6B5D3-0FC1-47AA-AEFD-F226180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Dynamic smoke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49CE56-2901-4CF2-963A-C75F9DC8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41719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9F39A2-FA95-4B9E-A31C-EA8875A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2481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VEH, VCH, UEF, RtlFunctionTable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1BB53C-3480-4802-9204-62C6464A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719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F313EC-2527-4BFE-823E-7BB97D1E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481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4/4 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05109D-5A4C-4FD2-97EB-8BBD95F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770450-2515-4D95-A123-B31628D0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Full dynamic corpus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DE3349-0945-49A1-8CB0-FDBB88E8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47053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B28C0F-54F2-4C20-B7B1-D8097968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47815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124 Windows inputs, schema/semantic reports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CFEF2-21BA-47E2-A03D-29D70E02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053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571086-8F0C-43D9-857F-D13AC15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124/124 valid; unexpected failures 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D98601-31CE-4249-8CB7-FEC328C7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462528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A4AA3C-CA24-4768-BEAD-D047DEB8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3310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Release hygiene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C4FFFF-2489-458B-B681-B0F7831C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28" y="5238750"/>
            <a:ext cx="4652772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420970-DDB3-4D5F-8ADF-CFE87358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5314950"/>
            <a:ext cx="45003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metadata, temp files, package filters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A8E832-9ACF-4ADD-BA55-2090793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38750"/>
            <a:ext cx="2705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4A10FC-E741-42BA-902B-AC7E2E27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1495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5172789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5D0A92-DFCA-4EBA-868A-B72F296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Ключевые результаты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0C6CF-73CE-4297-AC14-37A8CEB7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Практический вывод: parser стабилен, benign calibration чистая, dynamic mode имеет контролируемые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DFA7A-3B32-4A95-91C8-FBD86FD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B8134-78A3-4BE9-AE05-DBA223D0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F48FD-696D-4915-8FF5-97362EA2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12/15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6214A-7323-4363-B729-71260C1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BB32E-8D32-4C38-80B5-FB5CCADA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106/106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8ECC-899E-4FDE-B64B-A50D4AD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real benign reports 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B8201-0EAC-407F-9BCA-D8400D99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4C1B5-067B-4807-8A16-3D30FA2C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8326D-9E7C-4D40-BF50-450D15D3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non-zero benign heuristic scores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87EF3-211A-47A4-9710-1FC003F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9DC7F-D874-4216-AD4C-EFEFCAB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174,795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F5649-5CC5-4DE1-B381-E81648C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runtime functions parsed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D68F1-E2EC-4845-8F06-627D5ADF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BEA95-9634-4952-ABF0-EC84F1CA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344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AA97F-DF2C-4FBD-B149-1CE996FB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exceptions observed in full dynamic corpus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B293E-B42B-4F04-AB9E-4DFAD9D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48CF4-7B33-442B-B1B4-88145253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t>136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C24AB-02EF-4747-BD11-2CFB236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unwind-handler hits observed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2B16A-76A5-482F-AD02-B2811DE8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0495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04C49-69F6-4A34-84A6-5EAEF680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28775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4B130-B8CC-4ED2-ACA3-EDAD446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1295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dropped dynamic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A5F92-06C2-4269-9643-AFAE7AAA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31737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277D6-B8FA-4AB6-B5BE-3C42525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9950"/>
            <a:ext cx="3021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Dynamic outcome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D8990-5CA7-43D4-AC73-EEE4C48E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333750"/>
            <a:ext cx="13068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98E936-47AA-45E0-9055-BE0D8C80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409950"/>
            <a:ext cx="11544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Count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68EFAE-4199-4122-8827-EF5FC44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3333750"/>
            <a:ext cx="4853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8ACC7A-84D5-46B4-8336-21F34B1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4099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6127E-3FC4-4EC2-B44F-E87F742A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31737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FD00A-EFCF-4B3A-86CD-3D364B7A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24300"/>
            <a:ext cx="3021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AFB90-5E75-473B-BC0A-FE44CA4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3848100"/>
            <a:ext cx="13068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F66A2-C6FF-41C6-8E81-A7AFB45E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924300"/>
            <a:ext cx="11544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54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B2602-C700-4A06-8FF0-4B4DF8F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3848100"/>
            <a:ext cx="4853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25579-ED6E-43FC-BFE7-AB4E6642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92430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target ended under debugger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796E59-FFB8-4F3A-B306-F2C00E21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31737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03C536-F846-4092-9235-6F4D9DF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38650"/>
            <a:ext cx="3021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controlled_timeout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FF7E6C-F266-4160-9E0E-E4AAE5A1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4362450"/>
            <a:ext cx="13068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DA3714-91A5-4AE2-97D0-09DAE6AD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4438650"/>
            <a:ext cx="11544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32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B7F108-34F0-4E9E-8C45-BBFC66CF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4362450"/>
            <a:ext cx="4853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34863-81C2-40E6-A5EB-10C60A6B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4386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bounded timeout, report remains useful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A470F5-2E51-4E70-B3F7-2860846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31737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A06936-25A7-4394-8331-CFF2CFD2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53000"/>
            <a:ext cx="3021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elevation_required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743099-880B-48CD-A58F-0A934C1D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4876800"/>
            <a:ext cx="13068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C9A845-2E1F-4D9A-990A-6B6A65C3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4953000"/>
            <a:ext cx="11544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E56C8E-636A-4AB3-8689-5D252469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4876800"/>
            <a:ext cx="4853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422430-FBA7-4CD1-A53B-32839BB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95300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expected OS privilege boundary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4A2D3F-D332-47FF-8227-A1EC7E4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31737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B77211-1F1E-42D2-B832-8A54927F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67350"/>
            <a:ext cx="30213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unsupported_library_launch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9A68AD-E9FE-4FFB-BAE0-466DD148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0" y="5391150"/>
            <a:ext cx="130683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617321-0160-42A9-B8F6-3805D17B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5467350"/>
            <a:ext cx="11544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30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81946A-A7FC-4CC1-90A5-AEB211F5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310" y="5391150"/>
            <a:ext cx="485394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48E250-313D-4CD6-B97D-3A91FFA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5467350"/>
            <a:ext cx="470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DLL/PYD cannot be CreateProcess target</a:t>
            </a:r>
          </a:p>
        </p:txBody>
      </p:sp>
    </p:spTree>
    <p:extLst>
      <p:ext uri="{BB962C8B-B14F-4D97-AF65-F5344CB8AC3E}">
        <p14:creationId xmlns:p14="http://schemas.microsoft.com/office/powerpoint/2010/main" val="1307988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58097-E287-477E-A74D-1DD2D71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Границы, риски и честная техническая позиция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E7749-AB52-417D-B9DA-D5D36339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Проект самодостаточен для 1.0.0, но не притворяется универсальным malware classifier.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C7F9-52A2-4EE0-BAB9-C299383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0EF73-7798-40AF-AC74-B8A70BD4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56A5F-A2BE-4B82-8BF3-273882FF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13/15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9CBE0-A623-4216-9E94-29D8285E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5DFD2-BF5A-45CD-ADAF-70F8D5E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87FE4-5D2E-45F9-9DEF-AE9ADA5D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Security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0E791-93A1-493A-AA0A-F342DF9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Dynamic mode executes target. For untrusted samples it must run in isolated VM/sandbox with controlled network and snapshots.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089B5-14AB-4F25-92BC-2925DD8D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495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472E4-6B85-4CCA-A804-566076F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49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CBC65-7D7D-48FE-9C27-0759E42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64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Input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8AAC8-5AFA-4998-8757-1552F19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Scope is PE32+ AMD64. PE32/x86, ARM64 and ELF/Mach-O are outside current release.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F5369-E0B3-4C43-B651-C14C7C8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6D7BC-7BA8-4DC4-BB4F-34FB619F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A58DF-F4E8-420E-A180-09E39AD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OS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26248-E246-41C2-B617-DE9D1750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DLL/PYD inputs need host process; some EXE targets require elevation before debugging.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35C62-433A-4546-9F60-7284853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90C7C-3468-4E2D-9BF1-5831863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655E8-9D5D-4006-8E60-31F1B082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Heuristic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88CCF-4147-4363-A5E9-F447CF4A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Score is triage signal, not probability and not legal proof of maliciousness.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D6A94-1070-4FF7-8DAE-AF4859D1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96D0D-8BF0-4B88-915C-1F25F9C1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DAB8B-564A-4B8F-939E-89E03E6E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099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Decoder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C33042-A2CE-4AF7-96A3-085302A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33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UNWIND_INFO V3 preview is reported as unsupported until full spec/test coverage is implemented.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34D900-3EA9-48AE-90C0-73ECFAD8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3048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EE001-137E-4029-8786-C8A59017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8E130-78A6-4DE7-BC08-8E8920FF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Future precision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8D376-DE0C-4179-B9AD-D5769F3D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Static mode does not yet cross-check unwind ops against disassembled machine instructions.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103FB-17DF-4639-86CD-B6EFE79D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EAF7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056B2-D94D-404F-94C6-5F61077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006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t>transparent limitations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940A9-F221-4E6A-A894-99CE0948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9C16F-D38C-4130-845B-3CF8EF4F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0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investable roadmap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6F7F6C-05EB-4BC6-95F2-A95F65E6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solidFill>
              <a:srgbClr val="FFF4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63F8DC-234C-4A2E-B6A7-0AD1CC8F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006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E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t>no overclaiming</a:t>
            </a:r>
          </a:p>
        </p:txBody>
      </p:sp>
    </p:spTree>
    <p:extLst>
      <p:ext uri="{BB962C8B-B14F-4D97-AF65-F5344CB8AC3E}">
        <p14:creationId xmlns:p14="http://schemas.microsoft.com/office/powerpoint/2010/main" val="3306770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410C45-9E4B-4440-A02A-9891EAA7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Productization и коммерческие интеграции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DD204-4DA1-48CB-9050-E39044FD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Core уже готов как CLI; следующий слой - масштабирование, UX и enterprise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A7D35-3A4A-4043-88D0-51C692C0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198B7-9179-457C-B504-C0E10BB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5B153-B3AD-4B74-84CC-1668947F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14/15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09F72-33A5-4C3C-8495-28496C77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486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8FC6E-D83F-41E6-A168-E018120E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E5081-3FA6-4489-A015-B0537D50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257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CLI + reports + Ghidra importer + release bundles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D06AE-3B0E-4E62-AE47-D995935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93EE8-BE84-4DB0-8C15-CBA93E3E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04950"/>
            <a:ext cx="2486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7D024-2E08-4DC6-B836-EC3BFFE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Batch/API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316A4-17C9-45E8-817F-15B4325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43100"/>
            <a:ext cx="2257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service wrapper, queue, storage, schema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F4DF3-D663-4362-AFE0-AF03CA6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CB00F-96FA-48D4-AA00-E53487B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486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8F6"/>
          </a:solidFill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D098A-1CD6-45CF-B956-8BDECB9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Workbench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43CA3-6093-4F28-BE3C-6A68C289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43100"/>
            <a:ext cx="2257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dashboard, diff, corpus triage, analyst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E9787-7E90-4BA9-8836-86ED549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00250"/>
            <a:ext cx="171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ECA59-3660-44AE-BA63-BC446A58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04950"/>
            <a:ext cx="2486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F105A-FE97-49D7-8D52-BDEA6A6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38300"/>
            <a:ext cx="2257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Enterprise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3E982-6C23-40CA-9156-BA51F95F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943100"/>
            <a:ext cx="2257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sandbox/EDR/SOAR connectors, policy packs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E80B4-02B3-4D54-B1F2-DC13C9A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69443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6804C-7A71-4E83-BC72-137BD0B1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54203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Buyer / 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6740B-443B-45FF-A88E-56D6D3D5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2" y="3429000"/>
            <a:ext cx="36271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38D753-A3C6-4D59-91B8-073CA07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3505200"/>
            <a:ext cx="34747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Use 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07043-7396-4786-8E2C-B953185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3429000"/>
            <a:ext cx="404164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0C6340-216C-452A-91DC-B61E6389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3505200"/>
            <a:ext cx="388924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Technical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B5816-051C-4956-AB77-95A94E91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269443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7C648-6724-432E-9BB2-76D1C2D6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54203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Malware lab / reverse engineering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BD7FE-1371-4CF5-B6BA-2FB56BBD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2" y="3943350"/>
            <a:ext cx="36271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8152E-DA69-4119-BA52-C7915ABF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019550"/>
            <a:ext cx="34747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объяснимый triage packed/protected 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7E036-5DA1-4841-B943-A951F610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3943350"/>
            <a:ext cx="404164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88A90-9629-48D8-9302-3BD0CC3B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4019550"/>
            <a:ext cx="388924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CLI, JSON, HTML, Ghidra 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521FC-DAD8-4090-B90F-12227B67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69443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1FA48-919D-4ACE-B53E-4FB0C5F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254203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Sandbox vendor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A51213-5BC5-4BF3-8DE4-56DAA76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2" y="4457700"/>
            <a:ext cx="36271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03D46F-631D-4EDF-AF2A-113FBA68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4533900"/>
            <a:ext cx="34747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добавить low-level Windows ABI 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FAC775-87CA-41A1-9E4F-E2919ABF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4457700"/>
            <a:ext cx="404164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4F99BA-A9FA-42ED-867A-21D4E18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4533900"/>
            <a:ext cx="388924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batch worker + schema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CA57A0-A4EB-4C56-B761-584948D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69443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6E5867-FE48-48BA-8589-27CC56D9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54203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SOC / EDR research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CE843-3108-4CE9-9A2D-AFE68B6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2" y="4972050"/>
            <a:ext cx="36271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E629DD-C4CE-4FEF-8109-CCE8F6BF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048250"/>
            <a:ext cx="34747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подтвердить exception-flow evasion hypotheses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B48C4-34CE-45B9-82D8-E30C62A8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4972050"/>
            <a:ext cx="404164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529E80-D787-4DE2-B0A0-85A821A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5048250"/>
            <a:ext cx="388924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dynamic evidence export + SIEM fields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B12A78-6771-41B4-BFCC-5A5C22D7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2694432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7E0068-222A-416E-B2D5-1ABC0B2A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2542032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AppSec / supply-chain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F34CD1-A0D3-43AB-97B7-6DF1F070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832" y="5486400"/>
            <a:ext cx="362712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DC48A9-282A-4F70-AECC-6F541A1B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5562600"/>
            <a:ext cx="34747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проверить Windows binaries before release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748C51-3EA4-48A5-82B0-B5CEFBAE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5486400"/>
            <a:ext cx="404164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D89CBB-571F-43C2-BF61-DC320C3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152" y="5562600"/>
            <a:ext cx="388924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CI static mode + policy thresholds</a:t>
            </a:r>
          </a:p>
        </p:txBody>
      </p:sp>
    </p:spTree>
    <p:extLst>
      <p:ext uri="{BB962C8B-B14F-4D97-AF65-F5344CB8AC3E}">
        <p14:creationId xmlns:p14="http://schemas.microsoft.com/office/powerpoint/2010/main" val="10624839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92FCE-A15D-478A-A63E-4E3BB23E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Инвестиционный тезис и технический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7D566-9048-4F19-BBE9-C8C5F88F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Funding ускоряет упаковку, corpus expansion и enterprise integrations без переписывания 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5E12E-B110-41F5-8F25-33DB55A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C9A7E-9208-456F-9AC8-FD7AE7CB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EH/Unwind Analyzer 1.0.0 | technical investor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A1620-D10D-49AD-B6DD-15E45E9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15/15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A725E-7230-42C9-9157-6603532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90652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B996F-0C67-4A42-A9AE-468D4F48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175412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Horizon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ABDEB-A3B2-4863-8B6E-C97BA24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524000"/>
            <a:ext cx="550773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0B3F1-DD55-40EC-A67B-D7DAD0D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24" y="1600200"/>
            <a:ext cx="535533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Technical deliverables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7D220-40A9-4B38-A375-8732E13B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1524000"/>
            <a:ext cx="3177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266B4-6647-4058-9F91-3A9B5C43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1600200"/>
            <a:ext cx="30251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D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Investor-visible milestone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DFC24-B3C2-4C6B-9A59-4B866270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90652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AA48A-9909-47DC-8315-3D229FD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75412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0-90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19A1E-B117-413A-9D8C-439D8DE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133600"/>
            <a:ext cx="550773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58439-BE65-4162-AB89-3FA8FE0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24" y="2209800"/>
            <a:ext cx="535533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signed Windows builds, richer sample pack, GUI prototype, API wrapper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1253B-D785-4ABA-ABC6-D7CC9A07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2133600"/>
            <a:ext cx="3177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F3A4B-DF59-4F4F-B2B9-345BE25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209800"/>
            <a:ext cx="30251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pilot-ready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46560-5028-4AB6-A0A6-D7B4B41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90652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6EE02-C2B5-44F6-A9C6-EC9125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75412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90-180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B85D1-243E-4365-927A-E48EB30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743200"/>
            <a:ext cx="550773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FFA72-88CF-4265-B364-D88F9595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24" y="2819400"/>
            <a:ext cx="535533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disassembly correlation, DLL host runner, heuristic policy versioning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505B1-8733-4802-842D-5CC4F5A9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2743200"/>
            <a:ext cx="3177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F4CC7-2249-4FA0-AEB2-DF544CE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819400"/>
            <a:ext cx="30251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higher precision + wider sample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7085E-45CA-4665-A1F7-6DE17998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90652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D3B1D-3DD8-46E2-B682-96C959DA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754124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180-365 days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668E0-4D23-47FB-8D16-39D9AC7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3352800"/>
            <a:ext cx="5507736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E1712-D162-43DD-AB21-5BC4023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24" y="3429000"/>
            <a:ext cx="5355336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sandbox connector, team dashboard, policy packs, telemetry 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1B8D5-D9B2-42DB-8E38-87EE4B5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3352800"/>
            <a:ext cx="31775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03C49-9D84-4F09-A68E-30F40D25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3429000"/>
            <a:ext cx="302514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enterprise proof of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8A8213-5A7B-4F27-A028-22F7FF30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762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AA2F4D-48BD-47B6-86F5-7242744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31466-DE76-43D5-92E8-F59A8811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767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Why now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FCB92-568D-40F5-9D1D-F21481E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2400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Windows low-level metadata is a durable attack/analysis surface. Explainable signals are valuable as AI-generated and packed binaries increase analyst load.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E01C6F-C3EE-41EC-A119-3BDAD6F8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2762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6CB38D-5FE2-4A9B-886F-483D74BF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052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30FA79-8A92-4FBA-B093-7E3C96D0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767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Why this team/project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61D156-0937-4D33-9255-2D3E98C8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400550"/>
            <a:ext cx="2400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The core already has parser depth, dynamic collector, report contract, tests and verified release packaging.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3123D9-DAB4-434B-868A-9E68B19B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2762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D2ECC-55F6-4030-A215-C2FED209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6A3857-A5E1-4DEB-A882-43D37E8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767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Use of funds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18E364-3924-4F96-9908-5C91B20A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00550"/>
            <a:ext cx="2400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t>Engineering hardening, larger corpus, signed distribution, integrations, pilot support and technical sales materials.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8DC64A-7E23-4215-BE6D-E428D30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t>Conclusion: EH/Unwind Analyzer 1.0.0 is not a prototype demo; it is a verified technical core ready for investor presentation and pilot packaging.</a:t>
            </a:r>
          </a:p>
        </p:txBody>
      </p:sp>
    </p:spTree>
    <p:extLst>
      <p:ext uri="{BB962C8B-B14F-4D97-AF65-F5344CB8AC3E}">
        <p14:creationId xmlns:p14="http://schemas.microsoft.com/office/powerpoint/2010/main" val="1574909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2026-06-19T14:48:23.3920000Z</dcterms:created>
  <dcterms:modified xsi:type="dcterms:W3CDTF">2026-06-19T14:48:23.3920000Z</dcterms:modified>
</coreProperties>
</file>