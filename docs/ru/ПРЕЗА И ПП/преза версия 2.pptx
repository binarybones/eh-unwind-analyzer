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b0060154ff4f97" /><Relationship Type="http://schemas.openxmlformats.org/officeDocument/2006/relationships/extended-properties" Target="/docProps/app.xml" Id="Rfcfac36057c94084" /><Relationship Type="http://schemas.openxmlformats.org/officeDocument/2006/relationships/officeDocument" Target="/ppt/presentation.xml" Id="Rb23533a4328d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a7d771fb74767"/>
  </p:sldMasterIdLst>
  <p:notesMasterIdLst>
    <p:notesMasterId xmlns:r="http://schemas.openxmlformats.org/officeDocument/2006/relationships" r:id="Rfbb7ac854488432c"/>
  </p:notesMasterIdLst>
  <p:sldIdLst>
    <p:sldId xmlns:r="http://schemas.openxmlformats.org/officeDocument/2006/relationships" id="256" r:id="Re9c108a172144bc6"/>
    <p:sldId xmlns:r="http://schemas.openxmlformats.org/officeDocument/2006/relationships" id="257" r:id="R5bd04ea1d6fc4718"/>
    <p:sldId xmlns:r="http://schemas.openxmlformats.org/officeDocument/2006/relationships" id="258" r:id="Rbe3238b042a6446a"/>
    <p:sldId xmlns:r="http://schemas.openxmlformats.org/officeDocument/2006/relationships" id="259" r:id="R6549041169c54942"/>
    <p:sldId xmlns:r="http://schemas.openxmlformats.org/officeDocument/2006/relationships" id="260" r:id="R28a1fc36097441d1"/>
    <p:sldId xmlns:r="http://schemas.openxmlformats.org/officeDocument/2006/relationships" id="261" r:id="R86b7e35fdd8c4dc9"/>
    <p:sldId xmlns:r="http://schemas.openxmlformats.org/officeDocument/2006/relationships" id="262" r:id="R0e8135461d044273"/>
    <p:sldId xmlns:r="http://schemas.openxmlformats.org/officeDocument/2006/relationships" id="263" r:id="Ra6090cb68bb1433f"/>
    <p:sldId xmlns:r="http://schemas.openxmlformats.org/officeDocument/2006/relationships" id="264" r:id="Rd9b09a6c23ee4963"/>
    <p:sldId xmlns:r="http://schemas.openxmlformats.org/officeDocument/2006/relationships" id="265" r:id="Rb98824ea636c4e1f"/>
    <p:sldId xmlns:r="http://schemas.openxmlformats.org/officeDocument/2006/relationships" id="266" r:id="R9320a0a053b047e0"/>
    <p:sldId xmlns:r="http://schemas.openxmlformats.org/officeDocument/2006/relationships" id="267" r:id="Rb2f5aa5c19834457"/>
    <p:sldId xmlns:r="http://schemas.openxmlformats.org/officeDocument/2006/relationships" id="268" r:id="R34805c615028465e"/>
    <p:sldId xmlns:r="http://schemas.openxmlformats.org/officeDocument/2006/relationships" id="269" r:id="Rd0fdcf54f9364331"/>
    <p:sldId xmlns:r="http://schemas.openxmlformats.org/officeDocument/2006/relationships" id="270" r:id="Ra2b8208db4184623"/>
    <p:sldId xmlns:r="http://schemas.openxmlformats.org/officeDocument/2006/relationships" id="271" r:id="Rd6e0dd18efee406e"/>
    <p:sldId xmlns:r="http://schemas.openxmlformats.org/officeDocument/2006/relationships" id="272" r:id="Rbda2533f36fb4c6b"/>
    <p:sldId xmlns:r="http://schemas.openxmlformats.org/officeDocument/2006/relationships" id="273" r:id="Rd546ffe89f86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71e504de44fa8" /><Relationship Type="http://schemas.openxmlformats.org/officeDocument/2006/relationships/slideMaster" Target="/ppt/slideMasters/slideMaster1.xml" Id="Ra7da7d771fb74767" /><Relationship Type="http://schemas.openxmlformats.org/officeDocument/2006/relationships/notesMaster" Target="/ppt/notesMasters/notesMaster1.xml" Id="Rfbb7ac854488432c" /><Relationship Type="http://schemas.openxmlformats.org/officeDocument/2006/relationships/presProps" Target="/ppt/presProps.xml" Id="R5ea6e7a5329e4944" /><Relationship Type="http://schemas.openxmlformats.org/officeDocument/2006/relationships/tableStyles" Target="/ppt/tableStyles.xml" Id="R94f70146aaa34c61" /><Relationship Type="http://schemas.openxmlformats.org/officeDocument/2006/relationships/slide" Target="/ppt/slides/slide1.xml" Id="Re9c108a172144bc6" /><Relationship Type="http://schemas.openxmlformats.org/officeDocument/2006/relationships/slide" Target="/ppt/slides/slide2.xml" Id="R5bd04ea1d6fc4718" /><Relationship Type="http://schemas.openxmlformats.org/officeDocument/2006/relationships/slide" Target="/ppt/slides/slide3.xml" Id="Rbe3238b042a6446a" /><Relationship Type="http://schemas.openxmlformats.org/officeDocument/2006/relationships/slide" Target="/ppt/slides/slide4.xml" Id="R6549041169c54942" /><Relationship Type="http://schemas.openxmlformats.org/officeDocument/2006/relationships/slide" Target="/ppt/slides/slide5.xml" Id="R28a1fc36097441d1" /><Relationship Type="http://schemas.openxmlformats.org/officeDocument/2006/relationships/slide" Target="/ppt/slides/slide6.xml" Id="R86b7e35fdd8c4dc9" /><Relationship Type="http://schemas.openxmlformats.org/officeDocument/2006/relationships/slide" Target="/ppt/slides/slide7.xml" Id="R0e8135461d044273" /><Relationship Type="http://schemas.openxmlformats.org/officeDocument/2006/relationships/slide" Target="/ppt/slides/slide8.xml" Id="Ra6090cb68bb1433f" /><Relationship Type="http://schemas.openxmlformats.org/officeDocument/2006/relationships/slide" Target="/ppt/slides/slide9.xml" Id="Rd9b09a6c23ee4963" /><Relationship Type="http://schemas.openxmlformats.org/officeDocument/2006/relationships/slide" Target="/ppt/slides/slide10.xml" Id="Rb98824ea636c4e1f" /><Relationship Type="http://schemas.openxmlformats.org/officeDocument/2006/relationships/slide" Target="/ppt/slides/slide11.xml" Id="R9320a0a053b047e0" /><Relationship Type="http://schemas.openxmlformats.org/officeDocument/2006/relationships/slide" Target="/ppt/slides/slide12.xml" Id="Rb2f5aa5c19834457" /><Relationship Type="http://schemas.openxmlformats.org/officeDocument/2006/relationships/slide" Target="/ppt/slides/slide13.xml" Id="R34805c615028465e" /><Relationship Type="http://schemas.openxmlformats.org/officeDocument/2006/relationships/slide" Target="/ppt/slides/slide14.xml" Id="Rd0fdcf54f9364331" /><Relationship Type="http://schemas.openxmlformats.org/officeDocument/2006/relationships/slide" Target="/ppt/slides/slide15.xml" Id="Ra2b8208db4184623" /><Relationship Type="http://schemas.openxmlformats.org/officeDocument/2006/relationships/slide" Target="/ppt/slides/slide16.xml" Id="Rd6e0dd18efee406e" /><Relationship Type="http://schemas.openxmlformats.org/officeDocument/2006/relationships/slide" Target="/ppt/slides/slide17.xml" Id="Rbda2533f36fb4c6b" /><Relationship Type="http://schemas.openxmlformats.org/officeDocument/2006/relationships/slide" Target="/ppt/slides/slide18.xml" Id="Rd546ffe89f86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7b6333370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b18c103a9434b" /><Relationship Type="http://schemas.openxmlformats.org/officeDocument/2006/relationships/notesMaster" Target="/ppt/notesMasters/notesMaster1.xml" Id="Rb7322eff4a2a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3033b529a4479" /><Relationship Type="http://schemas.openxmlformats.org/officeDocument/2006/relationships/notesMaster" Target="/ppt/notesMasters/notesMaster1.xml" Id="Rfcd832547ff646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a3eae656a4dc3" /><Relationship Type="http://schemas.openxmlformats.org/officeDocument/2006/relationships/notesMaster" Target="/ppt/notesMasters/notesMaster1.xml" Id="R57aa7ee9f522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9fde1fd5bc4ad3" /><Relationship Type="http://schemas.openxmlformats.org/officeDocument/2006/relationships/notesMaster" Target="/ppt/notesMasters/notesMaster1.xml" Id="R02e2684c87d241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426d8e54044138" /><Relationship Type="http://schemas.openxmlformats.org/officeDocument/2006/relationships/notesMaster" Target="/ppt/notesMasters/notesMaster1.xml" Id="R119a5d9f94814f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99746699848fc" /><Relationship Type="http://schemas.openxmlformats.org/officeDocument/2006/relationships/notesMaster" Target="/ppt/notesMasters/notesMaster1.xml" Id="Red6b3d0db2b14d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07aa97ebf248b8" /><Relationship Type="http://schemas.openxmlformats.org/officeDocument/2006/relationships/notesMaster" Target="/ppt/notesMasters/notesMaster1.xml" Id="R31a6f504f4c140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44c2bdca0d436d" /><Relationship Type="http://schemas.openxmlformats.org/officeDocument/2006/relationships/notesMaster" Target="/ppt/notesMasters/notesMaster1.xml" Id="R8dad9c4e787745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0e9225a2b64d79" /><Relationship Type="http://schemas.openxmlformats.org/officeDocument/2006/relationships/notesMaster" Target="/ppt/notesMasters/notesMaster1.xml" Id="R459121a0f43840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7d620424a4626" /><Relationship Type="http://schemas.openxmlformats.org/officeDocument/2006/relationships/notesMaster" Target="/ppt/notesMasters/notesMaster1.xml" Id="R98dadeef01ec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be4881a1e24bd2" /><Relationship Type="http://schemas.openxmlformats.org/officeDocument/2006/relationships/notesMaster" Target="/ppt/notesMasters/notesMaster1.xml" Id="R6e5e84bf999645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c1c24b238645fd" /><Relationship Type="http://schemas.openxmlformats.org/officeDocument/2006/relationships/notesMaster" Target="/ppt/notesMasters/notesMaster1.xml" Id="R8816daa38e8042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b543a9b8e74845" /><Relationship Type="http://schemas.openxmlformats.org/officeDocument/2006/relationships/notesMaster" Target="/ppt/notesMasters/notesMaster1.xml" Id="R9514e29b580a40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f216779aa9411d" /><Relationship Type="http://schemas.openxmlformats.org/officeDocument/2006/relationships/notesMaster" Target="/ppt/notesMasters/notesMaster1.xml" Id="Ra4851c99926b4a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b92a5ceb8c4e27" /><Relationship Type="http://schemas.openxmlformats.org/officeDocument/2006/relationships/notesMaster" Target="/ppt/notesMasters/notesMaster1.xml" Id="R3ed895fdce184e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d38c87982e41bb" /><Relationship Type="http://schemas.openxmlformats.org/officeDocument/2006/relationships/notesMaster" Target="/ppt/notesMasters/notesMaster1.xml" Id="R16ab4f894cdc44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a9cf6214f94235" /><Relationship Type="http://schemas.openxmlformats.org/officeDocument/2006/relationships/notesMaster" Target="/ppt/notesMasters/notesMaster1.xml" Id="R849db4ecf41d48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bbeb6686dc4cae" /><Relationship Type="http://schemas.openxmlformats.org/officeDocument/2006/relationships/notesMaster" Target="/ppt/notesMasters/notesMaster1.xml" Id="R3056e004573b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задает корректный предмет работы: анализ EH/Unwind-метаданных Windows PE x64. Термин x64 соответствует PE/COFF machine type IMAGE_FILE_MACHINE_AMD64, но в публичной формулировке используется более понятное обозначение x64.</a:t>
            </a:r>
          </a:p>
          <a:p xmlns:a="http://schemas.openxmlformats.org/drawingml/2006/main">
            <a:r>
              <a:t>Ключевая защита: проект является специализированной системой анализа и валидации метаданных, а не универсальным антивирусом и не заменой дизассемблера.</a:t>
            </a:r>
          </a:p>
          <a:p xmlns:a="http://schemas.openxmlformats.org/drawingml/2006/main">
            <a:r>
              <a:t>[Sources] include/app_info.h; docs/report.schema.json; 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документе о вмешательстве подчеркивается, что Windows x64 stack unwinding и exception handling опираются не только на return addresses, но и на trusted metadata: RUNTIME_FUNCTION, UNWIND_INFO, language-specific handlers и dynamic function tables.</a:t>
            </a:r>
          </a:p>
          <a:p xmlns:a="http://schemas.openxmlformats.org/drawingml/2006/main">
            <a:r>
              <a:t>Научная постановка: существует противоречие между необходимостью доверять metadata для корректного исполнения и возможностью использовать этот слой для сокрытия, обфускации или нарушения анализа.</a:t>
            </a:r>
          </a:p>
          <a:p xmlns:a="http://schemas.openxmlformats.org/drawingml/2006/main">
            <a:r>
              <a:t>[Sources] ru/вмешательство.pdf; 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отвечает на вопрос 'зачем вообще анализировать EH/Unwind'. Поверхность вмешательства включает стек, статические таблицы .pdata/.xdata, exception-based control flow и runtime function tables.</a:t>
            </a:r>
          </a:p>
          <a:p xmlns:a="http://schemas.openxmlformats.org/drawingml/2006/main">
            <a:r>
              <a:t>Формулировки сознательно не дают эксплуатационных инструкций: задача ВКР - не демонстрация атаки, а обоснование диагностируемого слоя и инструментальной проверки.</a:t>
            </a:r>
          </a:p>
          <a:p xmlns:a="http://schemas.openxmlformats.org/drawingml/2006/main">
            <a:r>
              <a:t>[Sources] ru/вмешательство.pdf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защищается практическая необходимость: проект автоматизирует не интеллект реверсера, а повторяемую механическую часть анализа, где много ошибок адресации и смещений.</a:t>
            </a:r>
          </a:p>
          <a:p xmlns:a="http://schemas.openxmlformats.org/drawingml/2006/main">
            <a:r>
              <a:t>В документах по действиям реверсера и типичным ошибкам отдельно описаны ошибки RVA/file offset, CountOfCodes, padding, handler/chain tail и перенос результата в Ghidra/JSON/БД.</a:t>
            </a:r>
          </a:p>
          <a:p xmlns:a="http://schemas.openxmlformats.org/drawingml/2006/main">
            <a:r>
              <a:t>[Sources] ru/ДЕЙСТВИЯ РЕВЕРСА.pdf; ru/ТИПИЧНЫЕ ОШИБКИ РЕВЕРСЕРА И КАК ПРОЕКТ ИХ НИВЕЛИРУЕТ.pdf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этой формулировке важны два слова: карта и evidence. Проект не ограничивается выводом полей PE, а связывает уровни структуры и диагностический вывод.</a:t>
            </a:r>
          </a:p>
          <a:p xmlns:a="http://schemas.openxmlformats.org/drawingml/2006/main">
            <a:r>
              <a:t>Цель корректно соотносится с реальным scope: PE32+ x64, .pdata/.xdata, findings, отчеты, dynamic validation. Не заявляются функции антивируса или полной реконструкции control flow.</a:t>
            </a:r>
          </a:p>
          <a:p xmlns:a="http://schemas.openxmlformats.org/drawingml/2006/main">
            <a:r>
              <a:t>[Sources] ru/ОБОСНОВАНИЕ ПРОЕКТА.pdf;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является модульным CLI-монолитом. Это уместно для ядра: один исполняемый файл проще проверять и передавать, а JSON-контракт позволяет подключить backend, БД или frontend без изменения ядра.</a:t>
            </a:r>
          </a:p>
          <a:p xmlns:a="http://schemas.openxmlformats.org/drawingml/2006/main">
            <a:r>
              <a:t>На защите можно подчеркнуть: CLI - внешний интерфейс запуска, ядро - логика анализа, report schema - контракт данных для будущих слоев.</a:t>
            </a:r>
          </a:p>
          <a:p xmlns:a="http://schemas.openxmlformats.org/drawingml/2006/main">
            <a:r>
              <a:t>[Sources] docs/ARCHITECTURE.md; README.md; docs/report.schema.json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layer не исполняет target и поэтому безопасен для первичного анализа. Он видит файл на диске: headers, sections, Exception Directory, .pdata, .xdata и контекст размещения metadata.</a:t>
            </a:r>
          </a:p>
          <a:p xmlns:a="http://schemas.openxmlformats.org/drawingml/2006/main">
            <a:r>
              <a:t>Проект делает явными переходы, на которых обычно ошибается человек: RVA-to-file-offset, размер exception directory, полуоткрытые ranges, CountOfCodes slots, padding и interpretation of tail.</a:t>
            </a:r>
          </a:p>
          <a:p xmlns:a="http://schemas.openxmlformats.org/drawingml/2006/main">
            <a:r>
              <a:t>[Sources] ru/КАК РАБОТАЕТ СТАТИКА И ДИНАМИКА.pdf; ru/НЮАНСЫ ПРОЕКТА.pdf; src/pe.c; src/unwind.c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добавляет техническую глубину. Он показывает, что проект решает не общую задачу 'прочитать таблицу', а аккуратно работает с критическими правилами x64 unwind format.</a:t>
            </a:r>
          </a:p>
          <a:p xmlns:a="http://schemas.openxmlformats.org/drawingml/2006/main">
            <a:r>
              <a:t>Language-specific handler data зависит от конкретного handler-а, например C или C++ runtime. Поэтому проект корректно ограничивает себя: он проверяет адреса, placement и evidence, но не обещает универсально интерпретировать данные любого runtime.</a:t>
            </a:r>
          </a:p>
          <a:p xmlns:a="http://schemas.openxmlformats.org/drawingml/2006/main">
            <a:r>
              <a:t>[Sources] ru/НЮАНСЫ ПРОЕКТА.pdf; ru/ТИПИЧНЫЕ ОШИБКИ РЕВЕРСЕРА И КАК ПРОЕКТ ИХ НИВЕЛИРУЕТ.pdf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для комиссии: проект не использует термины true positive/false positive как ML-классификатор вредоносности. Он оценивает корректность срабатываний на уровне диагностических findings и evidence.</a:t>
            </a:r>
          </a:p>
          <a:p xmlns:a="http://schemas.openxmlformats.org/drawingml/2006/main">
            <a:r>
              <a:t>Severity и confidence различаются: можно быть уверенным в малозначительном gap или иметь высокую потенциальную серьезность при недостаточной динамической валидации.</a:t>
            </a:r>
          </a:p>
          <a:p xmlns:a="http://schemas.openxmlformats.org/drawingml/2006/main">
            <a:r>
              <a:t>[Sources] ru/ЧТО ТАКОЕ FINDING.pdf; ru/КРИТЕРИИ ОЦЕНКИ ПРИЗНАКОВ - С ПОЯСНЕНИЕМ ЧИСЕЛ.pdf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Комиссия может спросить, почему именно 27. Ответ: это не произвольное число, а финальная матрица проверок, сгруппированная по evidence families, покрывающих PE integrity, unwind decoding, metadata placement, reuse, dominance и composite combinations.</a:t>
            </a:r>
          </a:p>
          <a:p xmlns:a="http://schemas.openxmlformats.org/drawingml/2006/main">
            <a:r>
              <a:t>Если признаков стало бы больше, это не автоматически повысило бы качество: важны полнота уровней, объяснимость, воспроизводимость и низкий шум на benign corpus.</a:t>
            </a:r>
          </a:p>
          <a:p xmlns:a="http://schemas.openxmlformats.org/drawingml/2006/main">
            <a:r>
              <a:t>[Sources] ru/ПОЧЕМУ ИМЕННО ЭТИ ПРИЗНАКИ.pdf; docs/ru/учебник по признакам/Список_27_признаков.csv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Dynamic нужен из-за runtime function tables и exception-related behavior. Static не увидит уже созданную таблицу JIT/manual loader до запуска процесса.</a:t>
            </a:r>
          </a:p>
          <a:p xmlns:a="http://schemas.openxmlformats.org/drawingml/2006/main">
            <a:r>
              <a:t>Dynamic collector не является sandbox и не доказывает отсутствие поведения при другом input. Для неизвестных образцов требуется изолированная Windows VM.</a:t>
            </a:r>
          </a:p>
          <a:p xmlns:a="http://schemas.openxmlformats.org/drawingml/2006/main">
            <a:r>
              <a:t>[Sources] ru/КАК РАБОТАЕТ СТАТИКА И ДИНАМИКА.pdf; docs/windows_dynamic_validation.md; src/dynamic_win.c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отвечает, почему проект не просто парсер. Парсер выводит поля. Здесь отчет является контрактом evidence chain: от структуры PE к finding и дальнейшему действию специалиста.</a:t>
            </a:r>
          </a:p>
          <a:p xmlns:a="http://schemas.openxmlformats.org/drawingml/2006/main">
            <a:r>
              <a:t>Для будущего backend/БД/front-end ядро менять не нужно: внешний слой может запускать CLI, принимать JSON и сохранять его в БД. Ghidra остается средой глубокой ручной интерпретации.</a:t>
            </a:r>
          </a:p>
          <a:p xmlns:a="http://schemas.openxmlformats.org/drawingml/2006/main">
            <a:r>
              <a:t>[Sources] docs/report.schema.json; ru/ЧТО ПОКАЗЫВАЕТ ОТЧЕТ.pdf; ru/EH_Unwind_Analyzer_Ghidra_Памятка_RU.pdf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защите нужно не путать числа: 16 CTest - сценарии автоматической проверки; 27 findings - диагностические признаки; 78 PE samples - демонстрационный корпус; 106 benign PE - проверка отсутствия необоснованного шума; 124 dynamic reports - валидность динамической части.</a:t>
            </a:r>
          </a:p>
          <a:p xmlns:a="http://schemas.openxmlformats.org/drawingml/2006/main">
            <a:r>
              <a:t>Синтетические бинарники нужны, чтобы контролируемо повредить конкретные структуры. Benign corpus нужен, чтобы показать, что проект не воспринимает обычные compiler/runtime patterns как аномалию без причины.</a:t>
            </a:r>
          </a:p>
          <a:p xmlns:a="http://schemas.openxmlformats.org/drawingml/2006/main">
            <a:r>
              <a:t>[Sources] ru/КАК ТЕСТЫ ОБЪЯСНИТЬ.pdf; ru/ЗАЩИТА КАЧЕСТВА ТОЧНОСТИ И ТЕСТИРОВАНИЯ.pdf; docs/PRODUCT_READINESS.md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нужно защищать аккуратно: они подтверждают качество в scope проекта, но не являются claim о 100% обнаружении вредоносности.</a:t>
            </a:r>
          </a:p>
          <a:p xmlns:a="http://schemas.openxmlformats.org/drawingml/2006/main">
            <a:r>
              <a:t>Основные показатели: CTest 16/16, real benign 106/106 с score 0, dynamic reports 124/124 valid, unexpected dynamic failures 0. Эти показатели показывают воспроизводимость и отсутствие очевидного шума на выбранном benign corpus.</a:t>
            </a:r>
          </a:p>
          <a:p xmlns:a="http://schemas.openxmlformats.org/drawingml/2006/main">
            <a:r>
              <a:t>[Sources] docs/PRODUCT_READINESS.md; ru/ЗАЩИТА КАЧЕСТВА ТОЧНОСТИ И ТЕСТИРОВАНИЯ.pdf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Практическая ценность формулируется не как 'проект все решает', а как 'проект сокращает механическую часть экспертизы и повышает воспроизводимость'.</a:t>
            </a:r>
          </a:p>
          <a:p xmlns:a="http://schemas.openxmlformats.org/drawingml/2006/main">
            <a:r>
              <a:t>Реверс-инженер по-прежнему проверяет смысл finding-а: смотрит код, compiler/runtime context, symbols, Ghidra listing, dynamic trace. Проект подготавливает карту и доказательства.</a:t>
            </a:r>
          </a:p>
          <a:p xmlns:a="http://schemas.openxmlformats.org/drawingml/2006/main">
            <a:r>
              <a:t>[Sources] ru/ДЕЙСТВИЯ РЕВЕРСА.pdf; ru/ТИПИЧНЫЕ ОШИБКИ РЕВЕРСЕРА И КАК ПРОЕКТ ИХ НИВЕЛИРУЕТ.pdf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Ограничения нужно проговорить уверенно. Они не означают неполноту проекта, а фиксируют scope control. Инструмент завершен как EH/Unwind structural analyzer and dynamic validation core.</a:t>
            </a:r>
          </a:p>
          <a:p xmlns:a="http://schemas.openxmlformats.org/drawingml/2006/main">
            <a:r>
              <a:t>Для анализа вредоносных образцов dynamic режим должен запускаться только в изолированной Windows VM с controlled network/no-network policy. Static режим можно применять первым, потому что он не исполняет файл.</a:t>
            </a:r>
          </a:p>
          <a:p xmlns:a="http://schemas.openxmlformats.org/drawingml/2006/main">
            <a:r>
              <a:t>[Sources] ru/ОБОСНОВАНИЕ ПРОЕКТА.pdf; ru/УЛУЧШЕНИЕ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 сформулировано реалистично. Самое важное техническое улучшение - сравнение UNWIND_CODE с дизассемблированным прологом, потому что это добавит семантический слой поверх структурной проверки.</a:t>
            </a:r>
          </a:p>
          <a:p xmlns:a="http://schemas.openxmlformats.org/drawingml/2006/main">
            <a:r>
              <a:t>БД и frontend не требуют переписывания ядра: они могут работать через JSON schema. Это хороший аргумент для заказчика и коллеги-разработчика.</a:t>
            </a:r>
          </a:p>
          <a:p xmlns:a="http://schemas.openxmlformats.org/drawingml/2006/main">
            <a:r>
              <a:t>[Sources] ru/УЛУЧШЕНИЕ ПРОЕКТА.pdf; docs/report.schema.json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слайд должен закрыть исходную проблему: доверенный EH/Unwind-слой сложен, подвержен вмешательствам и ручным ошибкам; проект делает его проверку воспроизводимой.</a:t>
            </a:r>
          </a:p>
          <a:p xmlns:a="http://schemas.openxmlformats.org/drawingml/2006/main">
            <a:r>
              <a:t>Правильный ответ комиссии: проект готов как ядро специализированного инструмента. Расширение до полноценной платформы с БД/front-end/API возможно поверх существующего JSON-контракта.</a:t>
            </a:r>
          </a:p>
          <a:p xmlns:a="http://schemas.openxmlformats.org/drawingml/2006/main">
            <a:r>
              <a:t>[Sources] docs/PRODUCT_READINESS.md; 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b73fbe7cf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9f0a3f21dd4ae4" /><Relationship Type="http://schemas.openxmlformats.org/officeDocument/2006/relationships/slideLayout" Target="/ppt/slideLayouts/slideLayout1.xml" Id="Rb5e9d9a35cc5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9d9a35cc5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459c83f6b4e51" /><Relationship Type="http://schemas.openxmlformats.org/officeDocument/2006/relationships/notesSlide" Target="/ppt/notesSlides/notesSlide1.xml" Id="Rf541552e69d7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10c253064f6e" /><Relationship Type="http://schemas.openxmlformats.org/officeDocument/2006/relationships/notesSlide" Target="/ppt/notesSlides/notesSlide2.xml" Id="R580925b297e8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9a0d5642b4f6c" /><Relationship Type="http://schemas.openxmlformats.org/officeDocument/2006/relationships/notesSlide" Target="/ppt/notesSlides/notesSlide3.xml" Id="R1fefaacf079a4c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17dcaf7c44bd3" /><Relationship Type="http://schemas.openxmlformats.org/officeDocument/2006/relationships/notesSlide" Target="/ppt/notesSlides/notesSlide4.xml" Id="R0a41be45cf5f44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0eaca2e94a42" /><Relationship Type="http://schemas.openxmlformats.org/officeDocument/2006/relationships/notesSlide" Target="/ppt/notesSlides/notesSlide5.xml" Id="R8bf366fc114641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e8a6d72224dbe" /><Relationship Type="http://schemas.openxmlformats.org/officeDocument/2006/relationships/notesSlide" Target="/ppt/notesSlides/notesSlide6.xml" Id="R9688d94094ce42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df4b6283c4e5c" /><Relationship Type="http://schemas.openxmlformats.org/officeDocument/2006/relationships/notesSlide" Target="/ppt/notesSlides/notesSlide7.xml" Id="Ra94ed96ef41a42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73e9a0d8c41f2" /><Relationship Type="http://schemas.openxmlformats.org/officeDocument/2006/relationships/notesSlide" Target="/ppt/notesSlides/notesSlide8.xml" Id="R149f7cce8d9d47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891b46ffe4353" /><Relationship Type="http://schemas.openxmlformats.org/officeDocument/2006/relationships/notesSlide" Target="/ppt/notesSlides/notesSlide9.xml" Id="R6bf508131e684b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ddb4c5ebe49ab" /><Relationship Type="http://schemas.openxmlformats.org/officeDocument/2006/relationships/notesSlide" Target="/ppt/notesSlides/notesSlide10.xml" Id="R6a3e5610ebaf47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62883813341bb" /><Relationship Type="http://schemas.openxmlformats.org/officeDocument/2006/relationships/notesSlide" Target="/ppt/notesSlides/notesSlide11.xml" Id="Rf3b75f6a699f4f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6986018b4bcd" /><Relationship Type="http://schemas.openxmlformats.org/officeDocument/2006/relationships/notesSlide" Target="/ppt/notesSlides/notesSlide12.xml" Id="R717cf6eae73a47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edd96e25f4bf7" /><Relationship Type="http://schemas.openxmlformats.org/officeDocument/2006/relationships/notesSlide" Target="/ppt/notesSlides/notesSlide13.xml" Id="R875530eaf76d4c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7331ef1924a3f" /><Relationship Type="http://schemas.openxmlformats.org/officeDocument/2006/relationships/notesSlide" Target="/ppt/notesSlides/notesSlide14.xml" Id="R5539a55df3fb49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d7915bcd84d7d" /><Relationship Type="http://schemas.openxmlformats.org/officeDocument/2006/relationships/notesSlide" Target="/ppt/notesSlides/notesSlide15.xml" Id="Rc610154880934e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98a9356b04495" /><Relationship Type="http://schemas.openxmlformats.org/officeDocument/2006/relationships/notesSlide" Target="/ppt/notesSlides/notesSlide16.xml" Id="Rbd59c221294447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a1950ddec4366" /><Relationship Type="http://schemas.openxmlformats.org/officeDocument/2006/relationships/notesSlide" Target="/ppt/notesSlides/notesSlide17.xml" Id="R12262a7de5df4f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3265248064a8b" /><Relationship Type="http://schemas.openxmlformats.org/officeDocument/2006/relationships/notesSlide" Target="/ppt/notesSlides/notesSlide18.xml" Id="Rd9ecd36c741f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91EA4-A21B-4181-A0E4-86FA6C7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EFF"/>
          </a:solidFill>
          <a:ln xmlns:a="http://schemas.openxmlformats.org/drawingml/2006/main" w="0">
            <a:solidFill>
              <a:srgbClr val="F3FE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16D39-6BE5-4BCD-80E5-C33C05C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0">
            <a:solidFill>
              <a:srgbClr val="DDF8F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90369-98D6-4937-B784-328C768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E68BC-A561-4063-BFD6-5DDD8B2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9"/>
                </a:solidFill>
              </a:defRPr>
            </a:pPr>
            <a:r>
              <a:rPr sz="1275" b="1" i="0">
                <a:solidFill>
                  <a:srgbClr val="007C89"/>
                </a:solidFill>
              </a:rPr>
              <a:t>Выпускная квалификационная работа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4C5E4-EF3C-43A0-BE55-15904C4B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2331"/>
                </a:solidFill>
              </a:defRPr>
            </a:pPr>
            <a:r>
              <a:rPr sz="3750" b="1" i="0">
                <a:solidFill>
                  <a:srgbClr val="102331"/>
                </a:solidFill>
              </a:rPr>
              <a:t>Инструмент структурного анализа и динамической валидации EH/Unwind-метаданных Windows PE x64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2AAA-E0CE-4AE7-8AC6-2A5E0452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53746"/>
                </a:solidFill>
              </a:defRPr>
            </a:pPr>
            <a:r>
              <a:rPr sz="1725" b="0" i="0">
                <a:solidFill>
                  <a:srgbClr val="253746"/>
                </a:solidFill>
              </a:rPr>
              <a:t>EH_Unwind Analyzer 1.0.0 · PE32+ x64 · JSON Schema 1.2.0 · C17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2B7C-2843-4478-A0AE-4748661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9867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CDCA9-9A86-4921-8F24-1B633210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331"/>
                </a:solidFill>
              </a:defRPr>
            </a:pPr>
            <a:r>
              <a:rPr sz="1575" b="1" i="0">
                <a:solidFill>
                  <a:srgbClr val="102331"/>
                </a:solidFill>
              </a:rPr>
              <a:t>Предмет исследования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B0F7F-1B12-4348-B21B-58A31BC4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53746"/>
                </a:solidFill>
              </a:defRPr>
            </a:pPr>
            <a:r>
              <a:rPr sz="1500" b="0" i="0">
                <a:solidFill>
                  <a:srgbClr val="253746"/>
                </a:solidFill>
              </a:rPr>
              <a:t>доверенная карта функций, unwind-описаний и обработчиков исключений в Windows PE x64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6210-57A0-4DCC-A069-F00AB1D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7C89"/>
                </a:solidFill>
              </a:defRPr>
            </a:pPr>
            <a:r>
              <a:rPr sz="1350" b="1" i="0">
                <a:solidFill>
                  <a:srgbClr val="007C89"/>
                </a:solidFill>
              </a:rPr>
              <a:t>Презентация версии 2</a:t>
            </a:r>
          </a:p>
        </p:txBody>
      </p:sp>
    </p:spTree>
    <p:extLst>
      <p:ext uri="{BB962C8B-B14F-4D97-AF65-F5344CB8AC3E}">
        <p14:creationId xmlns:p14="http://schemas.microsoft.com/office/powerpoint/2010/main" val="1845174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A4F14-05CC-4C49-BCBF-029BCB7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ПРОБЛЕМАТИКА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E541-B303-4EFC-A205-FAF8226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EH/Unwind как доверенный слой Windows x64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8D14-CD4B-43F3-A780-8153D282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FCDC8-25A3-4404-9B31-84C7DB4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659D0-7117-4EFE-B6B9-B52BDB8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737E"/>
                </a:solidFill>
              </a:defRPr>
            </a:pPr>
            <a:r>
              <a:rPr sz="1350" b="0" i="0">
                <a:solidFill>
                  <a:srgbClr val="61737E"/>
                </a:solidFill>
              </a:rPr>
              <a:t>Windows x64 использует эти структуры при восстановлении контекста, обработке исключений, отладке и анализе стека.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0D41C-545F-408D-A83D-8A93974F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4C883-73E1-4EC7-902C-AE8BDA6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091A5-45BE-420D-80A9-55CEB07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Техническое противоречие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466C0-015A-4A3C-9D12-BFF0711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305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Один и тот же механизм необходим для корректной работы ABI, компилятора, отладчика и crash reporting, но при вмешательстве может искажать видимую цепочку вызовов или маршрут обработки исключений.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AB943-0B9B-4A6C-AA80-EB31B49F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C6F5D-0078-43CE-A0D1-A7CD2996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7C9F-FF67-491A-906E-AE8D25E8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Почему это важно для защиты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C2415-F763-4E58-A88B-3DD1347B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305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Если анализатор или человек доверяет только видимому коду, он может пропустить повреждение .pdata/.xdata, неверный handler target, подозрительное размещение metadata или runtime-only function 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5B373-EF63-48AC-ADC9-6FAC1696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1"/>
                </a:solidFill>
              </a:defRPr>
            </a:pPr>
            <a:r>
              <a:rPr sz="1875" b="1" i="0">
                <a:solidFill>
                  <a:srgbClr val="102331"/>
                </a:solidFill>
              </a:rPr>
              <a:t>Следовательно, объект проверки должен рассматриваться как карта доверия: PE → секции → Exception Directory → RUNTIME_FUNCTION → UNWIND_INFO → handler/runtime evidence.</a:t>
            </a:r>
          </a:p>
        </p:txBody>
      </p:sp>
    </p:spTree>
    <p:extLst>
      <p:ext uri="{BB962C8B-B14F-4D97-AF65-F5344CB8AC3E}">
        <p14:creationId xmlns:p14="http://schemas.microsoft.com/office/powerpoint/2010/main" val="419464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85EFD-E02B-4422-9A99-8FD4EE2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ПОВЕРХНОСТЬ ВМЕШАТЕЛЬСТВА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D0AC7-512F-445C-AC7E-5B5D17B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Уровни воздействия на EH/Unwind-карту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19832-CCCF-42EA-97CA-67978793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38E11-7E47-45BC-B4C1-15AE18C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EACC7-CBE9-488E-8771-45EF283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12C7B-C567-4562-9483-A0C0FDD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Уровень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E5B11-BAC4-4A3D-B277-BF371F1A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CC677-31C4-4F86-A6FB-37FEB4B7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954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Тип вмешательства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7D1A9-E4C6-4070-B668-0FD7055C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8A384-B53F-46FD-A21A-188ED3F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9547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Для чего используется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EF589-7245-428F-A31C-BDA2E3D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AC7A-9DD4-4598-8024-A9FDBCE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Стек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485F-FA0B-4860-9195-EAB4FCA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90642-7591-4086-9419-7151B20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812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synthetic frames, return-address spoofing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D3C38-9BC0-47EE-B3AD-25DC4F6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5F9F6-7DF6-40E7-A0F1-96D408F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8127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искажение stack trace и происхождения вызова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181D1-FCF4-4FCD-BCBE-D64282B5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33448-5DD6-472E-AE7D-7DF9D5E8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.pdata/.xdata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35A1F-6737-4EEC-B5BE-606D1A8F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813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35AC9-96FF-415F-BAF7-5160E312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670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изменение RUNTIME_FUNCTION или UNWIND_INFO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CEAF0-2A76-4164-95AF-50AE21B7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BEE05-9183-4A4D-BDAC-6CA7CD70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6707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подмена диапазонов, unwind-рецептов, handler-ссылок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E8C92-DD04-4181-AD67-70BA5D5D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533D9-A7AD-4BC5-8D9E-7AC18B8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Exception route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3D20E-E939-489A-A613-D4ADDE94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671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5DFB8-5ADD-454B-9883-E575715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52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VEH/SEH, handler-driven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239B9-27D7-413B-B38F-2AC5030A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9D593-A6F6-4974-855A-42AF60F7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anti-analysis, obfuscation, нестандартный control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21ACA-BA5B-4C42-B911-85822DF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B0547-85F3-40B0-AE41-E36A7BD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57D96-4643-4E8C-AC24-5EE98A9E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529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9F173-25E3-41C0-B23A-E1DC594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38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RtlAddFunctionTable, growable/callback tables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B8218-803C-4760-91A5-44113650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9EF1B7-0224-407E-B16D-40BAFDA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38675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поддержка JIT/manual loader или runtime-generated 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F851E-4831-4178-B359-C698602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1"/>
                </a:solidFill>
              </a:defRPr>
            </a:pPr>
            <a:r>
              <a:rPr sz="1650" b="1" i="0">
                <a:solidFill>
                  <a:srgbClr val="102331"/>
                </a:solidFill>
              </a:rPr>
              <a:t>Проект не воспроизводит атаки. Он выявляет структурные и контекстные признаки, по которым специалист видит, где EH/Unwind-слой требует ручной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4365713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A88AF2-AD76-400C-8E1F-56C2E37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РУЧНОЙ АНАЛИЗ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2D9C1-D658-48C2-A1F5-8341D4BA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Ошибки ручного разбора EH/Unwind-структур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89CE8-05EB-4036-94B0-3E72FCA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ECFE-2FF6-4C8D-9F95-97F98E59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11B19-1DEB-4289-AB59-CA61D9D1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F2180-788D-44D4-8158-C6E4298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Ручной шаг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350C-7865-4A1F-B537-880ED1F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14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A0002-07A3-46A5-A0C0-00EE042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022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Типичная ошибка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EA4E6-DC84-4DB2-B789-68FA8ED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A8DB-A0E8-47F8-B532-9BAC786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0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Что автоматизирует проект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A48A5-EB66-4DD0-95C1-97D1F3C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30D5C-8E9D-4BE2-A0C4-57E2218B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Адресация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F6FB0-7E5E-433B-A3DA-E894EF7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43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DFE50-F503-45A6-ACB1-0C3F2E59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2887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смешение RVA, VA и file offset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96532-C02E-4685-A2D6-CD83AA5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AC639-85C7-498F-A930-E0D9D32B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единый RVA-based mapping через карту секций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B1FFF-E92E-4D7B-BFA6-AB0E3DF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C7C38-1ADD-4998-8BF5-D47CC95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.pdata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3344F-5806-4068-A80D-021243E3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00ABF-DDB6-47EE-9DC7-A46881D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5752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неверный размер, сортировка, overlaps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9F09C-9754-4156-9567-2EEF618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E45F2-71CE-4500-9032-0FE3620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575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проверка RuntimeFunction count, ranges, ordering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5E9D2-5E05-4ABE-82AE-E04E815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889B1-554B-4B69-A470-5D93BC27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.xdata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87F5D-3FC9-4F04-AC1F-16A8452E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AEDCA-BE1E-45FF-A15A-8FB869E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CountOfCodes как число операций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4F316-4519-477D-9A1F-E67C22E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77B56-46FE-4112-ACC3-1F13AED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учет operand slots, padding, flags и хвоста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660F5-FB40-481F-AF8E-B879280A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69A8C-3AC4-497F-A1BA-7D3D7A0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Handler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27F69-EBC5-4964-A3A1-5718BC2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6BA73-145C-4F90-B54A-D8DD3AB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1482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слепое доверие handler RVA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C0AF35-56BD-4F61-B757-3F49FB12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50FDB-C499-4315-A7D6-2E0AAE6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проверка секции, permissions, dominance и placement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8A42D5-0BB7-4AA8-B39A-2E39BFD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516EA6-A4AE-4D08-8EC1-575AF9F9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Передача результата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9610A-F899-4EDE-B85C-7100135A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FFED9F-EA40-4469-BF72-50285CA7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4347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невоспроизводимый вывод в заметках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6D793F-6694-4FDC-8164-17402980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76D7F-DCBA-4B84-9F65-280D869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434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JSON/HTML/CSV/Ghidra CSV с evidence</a:t>
            </a:r>
          </a:p>
        </p:txBody>
      </p:sp>
    </p:spTree>
    <p:extLst>
      <p:ext uri="{BB962C8B-B14F-4D97-AF65-F5344CB8AC3E}">
        <p14:creationId xmlns:p14="http://schemas.microsoft.com/office/powerpoint/2010/main" val="1806985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62071-601F-4ABB-A6C6-7A51358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ЦЕЛЬ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D4381-24A4-419C-8051-BEEC8EC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Цель и научно-технический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0BB8-C4DB-4C0F-BA3E-8482792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14073-22A5-432D-B740-AEE1C2F2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A2A05-02AC-41EB-9DE7-A7053EE0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F9875-BD5C-4527-8C31-54D60DE8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01EAF-F139-4616-B5B6-459D69B0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68C2-1BFE-4CB3-BAB9-C8DA5FC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4495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Создать инструмент, который строит карту EH/Unwind-метаданных PE x64, выявляет структурные и контекстные аномалии и формирует доказательный отчет для реверс-инженера.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916E7-C431-4240-BE01-D531612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E6419-DF7E-455C-B5C7-C2B1912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167A2-22C2-4ED3-A004-60FDF52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Предметные задачи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09CB0-7C1A-46E1-ACBF-901D6346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495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Безопасный PE mapping; декодирование RUNTIME_FUNCTION и UNWIND_INFO; 27 findings; static/dynamic evidence; JSON/HTML/CSV; Ghidra bridge; воспроизводимые тесты.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1AB5D-F4D2-40F9-8532-D7ADA90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1"/>
                </a:solidFill>
              </a:defRPr>
            </a:pPr>
            <a:r>
              <a:rPr sz="1875" b="1" i="0">
                <a:solidFill>
                  <a:srgbClr val="102331"/>
                </a:solidFill>
              </a:rPr>
              <a:t>Научно-технический результат: формализованная evidence chain, связывающая байты PE-файла, структуру EH/Unwind, диагностический признак, оценку уверенности и действие специалиста.</a:t>
            </a:r>
          </a:p>
        </p:txBody>
      </p:sp>
    </p:spTree>
    <p:extLst>
      <p:ext uri="{BB962C8B-B14F-4D97-AF65-F5344CB8AC3E}">
        <p14:creationId xmlns:p14="http://schemas.microsoft.com/office/powerpoint/2010/main" val="2138051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A7A6D8-CF0B-47CA-AD34-7C92E92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31860-1395-44EE-AC67-697987F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Модульное CLI-ядро с устойчивым JSON-контрактом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D625-E960-402B-B0E2-927C687D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4F0BA-3D1A-4031-BCF5-14123E92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D72E-5EA2-4288-BAAE-9FF2A34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6B5E2-3E0A-4538-A0A7-DA66BEA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input 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E10AD-1CEE-4BF4-AAA2-7CF1266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C4876-9F47-4A34-8F88-42C8785A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634ED-98F4-4736-99E5-75F12E2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57617-EC3E-4448-8A27-111C3F1A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PE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3663-161A-40BA-ABB7-DD16660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54427-D946-4A1D-A760-0EA532C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F1F5A-7D52-4515-BBCF-EDB8C0B2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B947-5E7D-48F6-AD9A-15A1F77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Exception Directory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EE780-21DB-4F18-9CB4-9348163C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6FF87-00AD-42EE-9C21-2003862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752F7-8CDC-42E5-9060-2EADC4F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F0BD7-16E2-4568-BAB0-73600D4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.pdata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10E2F-48FF-4230-ABB4-3121F60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B1F21-5A9A-4859-94BF-FB93B6E4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E5514-D5D1-486A-B8A8-D9E352C1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51F51-C268-42BE-A0E2-A356E3FF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.xdata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3CAEF-E3CA-4372-90DA-1A0D587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C09A0-80ED-4BC0-AEEE-190E49F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1FC03-CF6B-47D0-8993-8493FE05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6E1F2-AD51-42D7-9430-A1F2618D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findings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B4471-E181-4C47-ADEA-E125950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908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7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47355-5B6E-4B32-966F-D55A6C6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19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7C89"/>
                </a:solidFill>
              </a:defRPr>
            </a:pPr>
            <a:r>
              <a:rPr sz="1800" b="1" i="0">
                <a:solidFill>
                  <a:srgbClr val="007C89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42B29-25D5-4C73-8C2E-CAB5179D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81250"/>
            <a:ext cx="13525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5338C-8D13-4301-ACD7-CF2FAC0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032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reports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201F2-AD88-45D3-BD79-7241B19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4D60FD-D5C0-4858-B53D-C50B55C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Модуль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D38FB0-5CA9-4125-A8A7-A25413D6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6C1E9-5935-4403-82A6-A62E4919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9572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Ответственность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044F62-0DA2-4F6A-95E2-A3350E6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12A62-55DD-440A-A7B8-84C95729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pe.c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8A077E-F582-471D-B939-4BD392B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724198-57E3-49D9-8AE0-E030AA61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338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PE headers, sections, RVA/file offset mapping, Exception Directory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FD3791-B3DE-4221-B295-C6461BD9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673ABE-7F71-4F52-AF20-7E1061D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unwind.c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B11798-EFA7-40CE-B3FB-A11912A2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B29E61-CCEF-4B1D-8794-2A1BCF2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7202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RUNTIME_FUNCTION, UNWIND_INFO, slots, padding, flags, chained info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45A803-4755-4CD9-B587-51AE2A4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E62097-0756-4FBD-8AD3-CFC679BE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0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heuristics.c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EF1E4F-0505-49C9-ACAD-1495D57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A3AC82-E077-4B2D-82F6-B150DA78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01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27 findings, evidence families, score, severity, confidence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A7B755-230B-4172-9300-00B16BC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8B431C-5DF6-41D0-9B38-EBFFACE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dynamic_win.c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2648FA-C8FA-43DC-AAA3-45F66F47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6260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B27943-1A52-4FD5-B839-85741F1B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4832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Windows-only debug events, exceptions, handler hits, runtime function tables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8E8823-5146-4195-9B14-9F85E330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756DCB-690E-4558-ADEB-F73E394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864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report.c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5B6DDF-4577-4029-912B-27D271B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8E2E6A-9D94-4C34-BDB1-8DF29FC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864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JSON Schema 1.2.0, HTML, CSV, Ghidra CSV</a:t>
            </a:r>
          </a:p>
        </p:txBody>
      </p:sp>
    </p:spTree>
    <p:extLst>
      <p:ext uri="{BB962C8B-B14F-4D97-AF65-F5344CB8AC3E}">
        <p14:creationId xmlns:p14="http://schemas.microsoft.com/office/powerpoint/2010/main" val="280492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5BFFF1-6FE6-4760-B997-88E25D1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STATIC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55CCF-D50A-469E-AA12-ACB56F4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Карта EH/Unwind, заявленная PE-файлом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CEF09-73B4-493D-927E-3EA9342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660D1-1050-40B0-A9C9-60BAE960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F2A18-1DDE-40D5-9ABB-3EC0182C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5742A-0DAD-4081-A4E8-090014F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Уровень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C7F92-D6D0-46CF-9554-246DDB8F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954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9E5C8-B2BD-4C02-9EC2-7A527B67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81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Проверяемые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33E22-FF65-4491-8924-EED63E0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954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BD1A3-1587-41CD-8A83-0A68753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8117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Смысл проверки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69AC3-78BB-49F3-8872-DB392C1B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328BA-D51B-4232-8DA1-AC28CBCE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PE 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86C2A-FD9C-49C9-9AE8-3E1F7F89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860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28506-E0C5-4064-BABB-354ADF62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717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MZ, PE signature, PE32+, Machine x64, sections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4AB77-99A9-411D-A7D6-CE189F1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23D74-5C4F-4DCA-A436-905E80C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17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можно ли безопасно читать файл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6A1AA-3D63-40FB-8FE4-65E2A0C7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DFE72-DD2F-4AC6-ADB6-D3ECC307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Address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28729-6716-48EE-960A-0C9B8BF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0DE60-A3E2-4D8B-A27F-110EB78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622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RVA, file offset, SizeOfImage, raw/virtual ranges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EBEEC-67D9-4B07-ACFE-AB6CB71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EDF67-B5D9-46D2-87E3-9123A18A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6227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 перепутаны ли уровни адресации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9F4D-7C11-4FC7-8DE3-90ED8394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7F57E-B78D-4295-AB67-904E8AF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Exception Directory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D3F0A-445C-47E4-83D6-1C20650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67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D1DA5-2D62-4EA0-B720-8E8057A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528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RVA, Size, кратность 12 байтам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60D60-CD7F-4BDF-A8AC-392690B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E8B9A-7E9C-4FA4-AB3D-29951F59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528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корректна ли таблица RuntimeFunction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791B3-7D26-4FB2-AD24-52496C0C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1750F-96FD-4DAC-849D-B2E3F4E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RuntimeFunction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057E24-BC4D-4B61-933C-5F1D031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8735D-D08D-4BD7-A86D-72DD2F0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43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Begin/End/UnwindInfoAddress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44066A-4E60-42D6-B28E-0EEDEC95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10A60D-4D90-49A7-9DE1-540B65C3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4337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есть ли invalid ranges, overlaps, duplicate begins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9C2A09-B2BD-4902-B3D6-D1DEE8A0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42F42D-14C1-4BC3-BD50-9AB02CBA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UNWIND_INFO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47977D-C6C5-42B5-800D-9F30AE7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48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EFF890-4C57-4670-95AC-713399E0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33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Version, Flags, CountOfCodes, slots, padding, tail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6CFB7F-693E-476D-B53D-A17E18B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482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5DD77C-D747-4178-A870-26A954E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3392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читается ли unwind-описание без сдвига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C403F9-50E6-4427-8EE3-5E4E76BA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BDD93-2BDC-481D-9814-DC8B30D8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Heuristics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A7313-9923-4720-BF3A-46518187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387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15ABCD-3004-4E82-A15D-114B5FC0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244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placement, reuse, handler dominance, composite findings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57873E-718B-4B91-B0A1-B0E8C69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387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EE214F-B3A2-4846-8E4B-1F1BD6C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24475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где требуется ручная экспертиза</a:t>
            </a:r>
          </a:p>
        </p:txBody>
      </p:sp>
    </p:spTree>
    <p:extLst>
      <p:ext uri="{BB962C8B-B14F-4D97-AF65-F5344CB8AC3E}">
        <p14:creationId xmlns:p14="http://schemas.microsoft.com/office/powerpoint/2010/main" val="1736775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0D91F-8BC4-4F73-BB45-65067296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UNWIND_INFO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C5DC2-E688-4B78-AE3E-0EE7EBB1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Критические детали декодирования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458B2-2AC3-40B3-8362-704B6A0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48E05-CD77-4F77-B9A5-85BEA2A8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9A3C5-C13F-4981-9705-3E9C3D27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239D6-781B-4E91-978B-60F99FB2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33C5E-35EE-40BF-9234-3744BFBE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CountOfCodes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43B39-8857-4A98-81C1-7D78C03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2876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Это количество двухбайтовых slots. Одна логическая UWOP-операция может занимать дополнительные operand slots, поэтому чтение “один UWOP = один slot” приводит к смещению хвоста.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DA389-CFA0-4FCB-972C-B57364CA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CA8EC-4061-4113-B361-6B981AD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solidFill>
              <a:srgbClr val="B879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E73DA-F7A3-4066-BCF2-C5079DD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Padding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930CF-18F7-4E97-AADB-696E51A6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62225"/>
            <a:ext cx="2876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Если CountOfCodes нечётный, перед handler RVA или chained info появляется выравнивающий slot. Ошибка на два байта меняет смысл хвоста структуры.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D5787-1F5A-42CE-9326-BC583AC0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333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410F2-A6FD-4677-939D-C50A537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E217F-8EA9-44AA-AB04-9F03EA7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Flags and 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D58B9-BE48-499E-BD36-3CB1CF0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62225"/>
            <a:ext cx="28765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EHANDLER/UHANDLER указывают на handler RVA, CHAININFO - на связанную запись. Language-specific data не имеет универсального формата без знания handler runtime.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26B89-5AD8-49A4-B175-EEA736C2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Декодер проекта учитывает slots, padding, flags, bounds и chain traversal; при malformed layout он фиксирует parse anomaly вместо построения вывода из неверно смещенных байтов.</a:t>
            </a:r>
          </a:p>
        </p:txBody>
      </p:sp>
    </p:spTree>
    <p:extLst>
      <p:ext uri="{BB962C8B-B14F-4D97-AF65-F5344CB8AC3E}">
        <p14:creationId xmlns:p14="http://schemas.microsoft.com/office/powerpoint/2010/main" val="176135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E07A6-7ADE-411B-9B1C-84E02E3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FINDING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E76D6-A6D4-4357-BC8C-309B3620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Диагностический признак как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E4B72-ED06-4C3B-BC39-D288BEA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4A272-70B3-4B74-AD79-344B961F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179B1-2D27-4F8B-8263-5F764C71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AA1C0-C8DF-4770-85B4-003392E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Понятие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CE0E-2551-4ED7-B02E-EC68B611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26AAA-E0E3-47D4-8EF0-411AD624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954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Определение в проекте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AAF3E-646D-42CF-B4B0-A9D6B85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1C2C3-1EB3-4186-9427-291423B8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954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Зачем нужно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1092-B0EF-4FE4-853E-289BE91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25DB-2EE2-458A-92BA-0CE96928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24D99-3279-4AA4-9932-D8E4698F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574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CED64-A1A0-4518-84A7-00D4FFA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431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конкретные адреса, секции, счетчики, parse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791C1-4904-465A-80CE-73A7C48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FABF0-FEC9-464E-9EE8-2376A1A4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431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проверяемость вывода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79E5E-9551-4513-8EB4-F3555045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44A4E-AF15-42DE-AC42-06E388B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Severity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ECC71-39AB-40D5-B27F-51FDC8C3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051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1F67A-18C5-46C8-A473-A9A38EC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серьезность последствия, если наблюдение реально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79C66-02F0-4381-98AB-2CD5109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A250D-6A25-4FDD-8A08-639873EF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приоритизация анализа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17013-1F52-4C29-935F-00B0F907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DE277-EEB4-4878-A44F-E58ACA6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B9677-C542-4AE4-91CA-59BB30C4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528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B6635-58E9-4AC4-B205-CFA1BEC9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385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надежность самого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58502-4BD5-4D52-9ED7-D891DE77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47DF7-C38A-48E9-B081-66BBDF7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38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отделение факта от интерпретации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95AD0-8B8E-4BA8-8594-34782AAB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474AC-5687-43F2-B120-7FF06D51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07393-6D49-49D8-B9C9-1365E95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005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5C08E-8149-421F-9D10-E1C5569E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инженерная оценка для triage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2D428-3561-4804-9FC1-67E8474C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D81E61-824F-4D4D-BEC4-999062E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862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сортировка кейсов, не вероятность malware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393092-5831-4752-AF97-B955ABCF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C2CBCC-30DC-4CE6-9192-0D09D98B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Manual step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5B6171-4DF3-427F-8E5F-10F2CE3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482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6D7C77-5575-4883-BB1F-31AF54F5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339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что должен проверить специалист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A6B626-03B3-4A28-BD1E-F12B31C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482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D2B85-D23A-4686-A393-59C8EDD9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339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связь автоматизации с экспертизой</a:t>
            </a:r>
          </a:p>
        </p:txBody>
      </p:sp>
    </p:spTree>
    <p:extLst>
      <p:ext uri="{BB962C8B-B14F-4D97-AF65-F5344CB8AC3E}">
        <p14:creationId xmlns:p14="http://schemas.microsoft.com/office/powerpoint/2010/main" val="1136240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A96BDE-316C-4D3A-B797-4BDD2A94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27 ПРИЗНАКОВ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4110-8BE5-4F94-A48C-C826727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Покрытие уровней EH/Unwind-карты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84CFF-9A36-4699-B2DE-4186EB0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AC40-133A-4CB7-84B3-780ADBF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DCA77-0424-466F-B7F3-FA12473D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6A5B4-763F-4662-BDE4-30D4C158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Семейство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B964D-A67F-4D9F-B2F4-0C936C7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DEFFB-23BD-4B82-992B-4FE09071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192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Что проверяет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1B509-50B8-4869-A902-9948248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E8EBA-4EFB-41AB-B33D-EAC7429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192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Пример результата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314D-C735-486D-AFD8-AA5F539B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E1516-FED7-4ADE-8D6C-CD359AA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table_integrity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7AF60-752E-4811-9292-DED2C1B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7B3F7-C435-41FC-95EF-AFF4BF27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717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sections, Exception Directory, ranges, sorting, overlaps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F83FC-E404-4207-BB46-18E6AB8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F2A13-7C08-4439-9298-BF473C00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717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invalid_ranges, rf_overlaps, duplicate_begin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23083-532B-41CD-897E-494BEC37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4660B-A30D-43EC-BA92-AF07BB2F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unwind_integrity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F8B87-B4E0-4CFF-9D20-936DD8CE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07892-4B28-4DF6-BCAC-87FCE461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parse failures, slots, operands, alignment, chains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11636-307B-44D7-9390-4C71F95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D565D-49BC-4C9C-AF75-7221816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unwind_parse_fail, unwind_anomalies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60EA6-8280-4590-9BF5-C86E3BA9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51EDB-A6A0-464A-8976-B4246CBB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metadata_placement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7AB34-D024-4BFF-81EC-D785A2C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D2AE2-B8B6-4D32-9B81-2AEDC12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где лежат unwind records и handlers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8B646-A6F3-4B7D-BE8D-7CFE7A4B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5C127-5E0B-4CE0-BF69-39971AD7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unwind_writable_section, handler_nonexec_section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A06E2-C1D8-44D7-95F4-F4A5E0DF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13992-C788-4643-9087-C3A0E28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unwind_reuse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4D1AA-8B15-4BBC-848C-54761CB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317913-B29D-4FE4-90E6-74FAA0D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290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массовое повторное использование UnwindInfoRVA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D1AB3-BE53-4640-AE9C-150F1C0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C3F85-E7FB-4148-B585-5077FCB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unwind_reuse_moderate/strong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35374-01CC-4BBD-9C5A-E9527D2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199A4-8644-490D-9FB0-2A981B8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handler_dominance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CC72A-C788-4B42-AB08-9541408F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A9071A-C53A-41B6-8FA2-F03FA0B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815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концентрация handler target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DA760D-A543-4BB5-8DB3-FBCEA8B7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B927CC-709D-4A9E-BEC7-8EC0A816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815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handler_dominance и composite findings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8D3E48-A304-44AB-97C0-1080D2A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1"/>
                </a:solidFill>
              </a:defRPr>
            </a:pPr>
            <a:r>
              <a:rPr sz="1650" b="1" i="0">
                <a:solidFill>
                  <a:srgbClr val="102331"/>
                </a:solidFill>
              </a:rPr>
              <a:t>Обоснование выбора: признаки соответствуют уровням, на которых возможно повреждение, маскировка или человеческая ошибка при анализе EH/Unwind-метаданных.</a:t>
            </a:r>
          </a:p>
        </p:txBody>
      </p:sp>
    </p:spTree>
    <p:extLst>
      <p:ext uri="{BB962C8B-B14F-4D97-AF65-F5344CB8AC3E}">
        <p14:creationId xmlns:p14="http://schemas.microsoft.com/office/powerpoint/2010/main" val="751406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97F74-F5F1-485B-800C-C10253E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DYNAMIC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B080-EABF-4CD1-A53B-31DAFD7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Runtime-факты живого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AF742-F2A7-4AE0-8035-34F05249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93453-706D-486D-8218-9E0A163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998F-9125-4B32-8FDB-60FFD944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AAFC-745F-442F-90D0-83D98B31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D8CDF-1154-486E-9503-85CD4956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Static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42DB1-1FA4-4681-9CF5-5A1E9576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Строит карту обещаний PE-файла: какие диапазоны функций, unwind descriptions, handlers и подозрительные размещения заявлены в структуре файла.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7E54B-7D92-4541-881C-F5057BEE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FE6FC-6543-488A-A192-8EF095F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5BA5B-51C8-4299-82DC-74A32B3D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Dynamic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FCB79-3FF0-4853-BC85-2237F44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622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Наблюдает живой процесс: exception events, handler hits, VEH/VCH/UEF, RtlAddFunctionTable и related runtime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3C403-958E-46D3-BAAA-8BA8D2C2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72D6A-2CDD-440C-B447-5129FCA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solidFill>
              <a:srgbClr val="B87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386D2-E64E-4946-A69D-FA7E817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Correlation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89609-708A-464A-8E0C-D3F83219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622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Связывает runtime event с адресом модуля и статической картой. Отсутствие события в одном запуске не доказывает отсутствие маршрута во всех условиях.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337A1-D3B6-453E-AED4-34DA1DB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2331"/>
                </a:solidFill>
              </a:defRPr>
            </a:pPr>
            <a:r>
              <a:rPr sz="1875" b="1" i="0">
                <a:solidFill>
                  <a:srgbClr val="102331"/>
                </a:solidFill>
              </a:rPr>
              <a:t>Ключевая формула защиты: static показывает, что файл заявляет; dynamic показывает, что реально произошло в наблюдаемом запуске.</a:t>
            </a:r>
          </a:p>
        </p:txBody>
      </p:sp>
    </p:spTree>
    <p:extLst>
      <p:ext uri="{BB962C8B-B14F-4D97-AF65-F5344CB8AC3E}">
        <p14:creationId xmlns:p14="http://schemas.microsoft.com/office/powerpoint/2010/main" val="1860305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04426-1EAF-47F7-B14F-41350F2F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ОТЧЕТ И ИНТЕГРАЦИЯ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9BEA6-FCF1-4D7C-AB6E-2B42C93F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Воспроизводимая карта для экспертизы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AE281-7257-41EF-BEA1-CCBC552B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803C4-583B-4E53-A7F7-30F4E19C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3D47C-2972-4077-B46E-AD1042C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EAD09-CC79-405F-B1B0-119F6DC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Формат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C3F46-398D-4E11-92B8-894F233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8F7F6-C5B3-4049-9B0B-958BC0B4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954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Назначение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46F79-8899-48C2-8EDA-22BD5F1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0AEF8-5A1C-4AEF-8A81-DBD5E04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Что получает специалист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AC5C-14A4-426B-A6C0-63A2CA6A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D2D3-67B4-4383-A9DB-E88F6BC7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JSON Schema 1.2.0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743FE-4DA5-4AD9-9374-4026C0B2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4DA74-20A9-453A-8C59-7AB2852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машиночитаемый 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7BBE0-FDBF-4308-99DD-2C56B3E5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50145-4F5B-4811-AE59-EFC839B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3842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input metadata, sections, functions, findings, assessment, dynamic_validation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06171-ECC5-421A-A19B-4642B08A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1D66D-96BF-4D7F-8914-1C9BDD0E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453E5-5904-408E-8958-CD4FAD21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DDA78-2C4E-49C7-A5C2-454B5883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813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человекочитаемый отчет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C3494-8539-42C9-9A3F-7C248E0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F7A31-94BB-43D3-A4D8-42E711F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summary, сработавшие/несработавшие признаки, evidence и пояснения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B8936-3B1A-4AAA-B52A-01D426C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0CA63-8289-4FEF-835F-5CE707F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86BC5-15F1-4D43-B6DD-7409D8A8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0511A-4461-4D43-B0F9-1541010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243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табличная выгрузка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B5876-93EC-425F-9F38-5C3C3E8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390E4-7C92-4670-8DB3-9659EF7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фильтрация, сравнение запусков, пакетная обработка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35210-EECD-419A-ABEE-6F6A466C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CC2AE4-34A5-4501-ABFD-8C05D8E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Ghidra 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6EAC0-CB76-4A43-8F1B-9D30A1F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114E57-C74C-47BC-9566-2ECCFCDB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672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мост в ручной RE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26A00-CBCA-44E7-A637-3BEDB4E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96709-1306-46F1-8E13-A720E3F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672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function ranges, comments, bookmarks, representative RVAs</a:t>
            </a:r>
          </a:p>
        </p:txBody>
      </p:sp>
    </p:spTree>
    <p:extLst>
      <p:ext uri="{BB962C8B-B14F-4D97-AF65-F5344CB8AC3E}">
        <p14:creationId xmlns:p14="http://schemas.microsoft.com/office/powerpoint/2010/main" val="664621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55DF7-34E0-4BB5-9F44-D601F39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МЕТОДИКА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4B130-0CCA-49EE-9170-A853642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Послойная оценка качества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20FAF-1ACE-47DE-898F-3A1747E6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55030-C749-4CE8-9708-B2102C68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EC608-5FB5-492E-A505-7B951147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37200-E961-4E1C-A7A8-6E9F8FC9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16/16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3D95-1DF2-4A1F-8650-FBEED8DD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CTest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8F2FA-81D3-4F95-93D7-ACA96CD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автоматические сценарии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CE285-FC66-4F32-91BD-23D5004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1952625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1B154-6856-48EA-A235-797AB05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105025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6C35B-E2E6-41D3-848C-BB16B74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543175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B2CA7-2BA9-4FD0-8065-AC704CDF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847975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полная матрица признаков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51515-C967-440D-B50B-FF7A1786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952625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F6117-68C0-42CD-8B24-18AD388B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105025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41530-45D3-4887-A0A9-3584F15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543175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PE samples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5F851-6664-4916-AC0A-3A2311B5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847975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static/dynamic/mixed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383D7-DCBE-4D70-A46C-06219C7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1952625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14627-A6BA-466A-8204-A2126AE5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105025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E26E3-03F6-4FA3-B85E-7EB15E2C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543175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benign 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D5A65-58E7-420B-B32E-268AC4B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847975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контроль шума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DBBB0-DC00-422D-809F-FD64F39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1952625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B3735-946E-4999-A914-9F204B6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105025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472A8-673B-4109-BB88-B75FA11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543175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dynamic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2B7E2-81EB-47C3-99F9-23F795D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847975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Windows runtime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10D11-9FAD-444B-BAD1-013C066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7C6AE-6BE0-4E98-AA78-C1D5453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Уровень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7C9C4-A091-4F8B-A04C-F434BE9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38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213B2-35F2-4BE9-A29C-495DA6C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242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Что проверяет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3EAEE-DE39-4840-9204-A67378C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C855B-CDF5-4113-B9C6-D01BBE0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242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Почему отдельно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88ADA-F632-4B00-AF40-06035BF9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C71583-DCD0-45AF-A7BA-C78EBC1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B66AB-8459-45E5-9EC6-E2180B34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91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224FE8-CECC-458C-89B2-F8EC58E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767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сборка, CLI, report contract, регрессии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7E186-D816-4B98-A391-B185DCC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56385-4084-4D62-BC66-3C93FAE0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7672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это не равно числу findings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2A078F-E852-4ACF-81A9-73D006A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561D78-8863-41F4-B0D4-52A59EFB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Synthetic 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1FCF11-9302-47CA-9678-44CB8F6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CCBCC-875C-48ED-BE76-1F7EE139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291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управляемые нарушения конкретных полей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B6646B-F940-4DEC-8412-41B12F3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43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7183C8-B51D-4D8C-8A0F-8EBA539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291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доказывает срабатывание признаков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1E5221-8839-4EB2-A9C9-E12A3884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82089-EBB1-4658-9EEA-2555A75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Real benign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14288-2D84-4FC9-BBA5-061B8231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95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58D501-B394-4AAF-B945-C0BF147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81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обычные PE-файлы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0B95AD-2725-47AC-A0C8-89672064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95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D47874-D079-4690-B9BF-ABD18F0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8162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контроль false positive discipline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2E4CEC-4D43-481C-B2DE-E4DCD01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80A3CD-D9CE-415D-8F2A-54385CD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34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Dynamic corpus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AEAE0F-338A-4E8F-951E-B29460F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4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AC565E-AD88-4C22-A9FF-FE69302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9340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runtime outcomes and event capture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93EA4A-D3AD-4EE3-9AAA-BC5AA8C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4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1ECF22-21B9-41B4-B824-5B50E55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9340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проверяет Windows-only collector</a:t>
            </a:r>
          </a:p>
        </p:txBody>
      </p:sp>
    </p:spTree>
    <p:extLst>
      <p:ext uri="{BB962C8B-B14F-4D97-AF65-F5344CB8AC3E}">
        <p14:creationId xmlns:p14="http://schemas.microsoft.com/office/powerpoint/2010/main" val="21981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B5957-050F-4BC5-B122-C3D9D58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A0D5B-CC8F-48FE-9AE8-D5A3D01A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Работоспособность ядра в заявленном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C84AC-CD40-4FE7-AA0B-600E027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DE1A8-EA96-48E4-B2B5-5322D0A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D6209-7979-4C4E-92D2-2CC2CD9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36990-0AFD-4A75-AD86-FF89D900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16/16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7E5EF-35F6-4D5C-85FB-810A6A8A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CTest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BB3DD-C928-4142-8DCF-8B105FE3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release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5A4F8-919E-4F9D-A80D-026A377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1885950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ECD29-01EF-4004-989D-0D8FCADF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038350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14/14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8958C-E02A-4682-9C00-5FB36959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476500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labeled 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D7944-F403-4BBE-AD3E-DB14089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2781300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валидные отчеты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F6E17-3716-4214-A12F-469F355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885950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A7402-13D3-4398-8CE0-FC6B717E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038350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106/106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15012-0219-48AE-B924-2BB7A8D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476500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real benign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DA96-9A2B-4D13-B597-60F60FB7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781300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non-zero score: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6EC79-A26F-4AE2-B7D0-90595E0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1885950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E2EF4-D86E-4879-88F8-B8417FCB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038350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124/124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3C66A-B5C9-415E-B9E8-7EA7D86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476500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dynamic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75DE7-1414-493A-ACA7-35E5370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781300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valid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753E2-8A13-406B-A6E2-10E15F52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1885950"/>
            <a:ext cx="194691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8867B-D058-49F0-BC45-83D3CDA6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038350"/>
            <a:ext cx="1946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07C89"/>
                </a:solidFill>
              </a:defRPr>
            </a:pPr>
            <a:r>
              <a:rPr sz="2475" b="1" i="0">
                <a:solidFill>
                  <a:srgbClr val="007C89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D3DFD-2A85-4ABC-B3BD-FE2FA52E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476500"/>
            <a:ext cx="19469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331"/>
                </a:solidFill>
              </a:defRPr>
            </a:pPr>
            <a:r>
              <a:rPr sz="1275" b="1" i="0">
                <a:solidFill>
                  <a:srgbClr val="102331"/>
                </a:solidFill>
              </a:rPr>
              <a:t>unexpected failures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CD1A7-8130-4FC1-86A3-DFAB0C58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2781300"/>
            <a:ext cx="19469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1737E"/>
                </a:solidFill>
              </a:defRPr>
            </a:pPr>
            <a:r>
              <a:rPr sz="1125" b="0" i="0">
                <a:solidFill>
                  <a:srgbClr val="61737E"/>
                </a:solidFill>
              </a:rPr>
              <a:t>dynamic corpus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3B9A3-D607-4A2F-9C21-BA3B3DE5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981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9D6BA-40B0-42D7-93D3-CA6F1E1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9D676-002B-4623-B24A-DF22253E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939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1"/>
                </a:solidFill>
              </a:defRPr>
            </a:pPr>
            <a:r>
              <a:rPr sz="1725" b="1" i="0">
                <a:solidFill>
                  <a:srgbClr val="102331"/>
                </a:solidFill>
              </a:rPr>
              <a:t>Интерпретация результата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F3EC10-B823-4875-9363-AAE66DF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71975"/>
            <a:ext cx="9353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3746"/>
                </a:solidFill>
              </a:defRPr>
            </a:pPr>
            <a:r>
              <a:rPr sz="1350" b="0" i="0">
                <a:solidFill>
                  <a:srgbClr val="253746"/>
                </a:solidFill>
              </a:rPr>
              <a:t>Проект можно защищать как завершенное ядро специализированной системы анализа: он строит карту EH/Unwind-слоя, формирует findings и сохраняет результаты в проверяемом report contract.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F8F3D-5A34-425A-ACB1-F3A0FAE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1"/>
                </a:solidFill>
              </a:defRPr>
            </a:pPr>
            <a:r>
              <a:rPr sz="1650" b="1" i="0">
                <a:solidFill>
                  <a:srgbClr val="102331"/>
                </a:solidFill>
              </a:rPr>
              <a:t>Корректная формулировка: это не оценка вероятности вредоносности, а подтверждение воспроизводимости анализа и устойчивости диагностического pipeline.</a:t>
            </a:r>
          </a:p>
        </p:txBody>
      </p:sp>
    </p:spTree>
    <p:extLst>
      <p:ext uri="{BB962C8B-B14F-4D97-AF65-F5344CB8AC3E}">
        <p14:creationId xmlns:p14="http://schemas.microsoft.com/office/powerpoint/2010/main" val="3477612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DD289-4F6F-4B4B-82D7-6D0E6DFC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ПРАКТИЧЕСКАЯ ЦЕННОСТЬ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2FF8B-145A-47A2-9B34-C306E0E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Автоматизация без подмены экспертизы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001C-86EC-4CD3-A8F5-3D149717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65483-A632-4CB8-9361-40ED52F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EBC1A-1E77-44F0-9747-AF4220A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7AFF8-8DFA-43E6-B5AF-606E7DA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954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До автоматизации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BD4A9-7ADB-45E4-A224-C02DBC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6269-3921-4FDD-94E0-04ED99F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954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После применения инструмента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2960D-1ACD-4AB6-9C0E-C0CC3169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0B6A6-7C6A-4469-BF79-F156E2B6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ручное сопоставление RVA, VA и file offset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09170-500D-4EF0-B193-957C668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F0AA3-7DA9-44DF-AA5F-35AAB10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единая адресная модель и report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BDC3B-230C-4D94-A114-B5EFC2C0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3FDCE-C41B-420A-A8AC-DC04B0DA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поиск .pdata/.xdata и проверка границ вручную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5C2C-BFB3-41CE-9E3E-B222A77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DE3F-7057-4A99-A6C9-106C06A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051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безопасный parser и section-based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78FD3-2F0E-47DD-8899-EA74CFE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42B78-8A99-423E-9679-9BD549B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субъективная оценка странных handler/reuse 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9947F-F2B8-4978-A775-85A6624D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9E9FD-D5FC-40F8-8924-E54A3B5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100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27 named findings с severity/confidence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36FAC-0037-4CEB-862F-56CC0B6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FFA47-E11A-44F2-8AB8-EE1FCAAC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копирование адресов в заметки или Ghidra вручную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7F68F-E4D5-4F5F-B7CE-CD39E3CD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67CB1-0311-4978-962E-455BA96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14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CSV/HTML/JSON/Ghidra 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6C89B-B4A6-47E7-B240-86CE4580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0C858-53D9-4C82-AAE3-EC5010A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сложность сопоставить файл и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07992-877D-4374-A1E1-CE6B89AE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1E723-6D32-4F51-989F-B3459F81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197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optional dynamic evidence по событиям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5732227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D038D5-A494-46C5-9ED0-06A68E0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41D55-18D2-4302-88C7-59E4E1EC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Явные границы применимости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32C87-6307-47B3-8690-7C1A29A0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686EE-641A-4B0E-97E0-D2B2460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FA189-3139-4698-BDC6-0B20549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81F5E-F439-4591-B85A-2263AE5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Область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C4063-7DC1-4BED-BA1E-E61BE82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081B8-8D7A-4006-9FAA-BFE9DDB8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954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Граница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EE13A-65B4-47D4-B73A-79BE6404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2BC41-3796-4757-A614-E0EDB6F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954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Почему это корректно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B718-45E8-4C97-9D20-D61F5068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1F5B-8048-4FD1-85D2-E0D8E71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Формат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885F4-1968-4DCD-AAE1-5C6B8900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4FDC2-4DC0-4EDA-9E87-644B72B6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PE32+ x64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DA58D-8245-41CC-8252-2E56657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2F468-CDA4-4010-9B5E-25716AF0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именно этот ABI использует рассматриваемые EH/Unwind-структуры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BCBBE-E083-4E25-82B8-1A74D0C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10432-D2EC-44EC-BDCB-8B1DDE2B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Static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5E467-7F54-4890-AED1-FCFC4BE7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0CDAF-13AB-43E2-8AE1-3706EE7D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289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 исполняет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57C73-AE79-4F38-A65C-39C00EBD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C0DDA-A9CF-4A7B-8204-4BFBD84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289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безопасен для первичной проверки файла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92931-A51B-4144-929D-B3AFBE2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0CD7E-FFE3-4445-B97C-58A86F0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Dynamic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3C6F6-5B32-42CE-8C4D-0E2482C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1964C-6DB0-4602-88D0-CBC9F5E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только Windows x64 и изолированная VM для untrusted samples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EA84C-2998-42F6-B30D-6CAF675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DA7CF2-9408-428B-A934-340C247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957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runtime evidence требует запуска процесса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30679-52D8-487E-8AEF-94E660B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CF9DE-2C31-41CF-9169-1736924D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Code semantics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55700-045F-4364-AD6A-AC6B67A1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C1F885-EA87-431E-BBF8-BD7C768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нет автоматического UWOP-vs-prolog matching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F43D0E-61F4-4B94-81C5-A56EE96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E8CD5-C761-4029-8148-E7A38B9C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624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это отдельный этап развития с дизассемблированием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A185A-B253-43B2-B7C0-FF354426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AC9E3-4AD0-437E-B857-430E00C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Malware verdict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A0C2E-F00B-4213-ADBF-584EDD3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7EF21-4D7A-4474-B53A-68DFBD65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292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нет вероятности вредоносности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687DE0-7B1F-47B4-9644-E166F424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38B56B-748E-42D3-B79C-3B4720AB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292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findings являются техническими наблюдениями</a:t>
            </a:r>
          </a:p>
        </p:txBody>
      </p:sp>
    </p:spTree>
    <p:extLst>
      <p:ext uri="{BB962C8B-B14F-4D97-AF65-F5344CB8AC3E}">
        <p14:creationId xmlns:p14="http://schemas.microsoft.com/office/powerpoint/2010/main" val="78900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087EF7-237C-4DCC-9840-F08756E8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C5BB5-04CD-4E24-AD2E-759147AE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Усиление доказательной силы отчета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B87C8-4347-48EC-A89F-E6475E3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8437-1A22-4084-BE12-447B27D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94FCA-0249-416C-A61C-07A3AD3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A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9DDAF-930F-4426-B9B3-BEF76506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Приоритет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7B83D-BB5D-4AAE-A803-3306F1AE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12C9C-2B0E-4D66-BAE3-B5B2FEF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95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Улучшение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9D6E2-BA92-4A24-967C-AD21B85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6F0C5-1979-4B3E-85C7-38B1A443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95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331"/>
                </a:solidFill>
              </a:defRPr>
            </a:pPr>
            <a:r>
              <a:rPr sz="1200" b="1" i="0">
                <a:solidFill>
                  <a:srgbClr val="102331"/>
                </a:solidFill>
              </a:rPr>
              <a:t>Ожидаемый эффект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452D0-165D-4592-B680-218D0A5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BB8F8-E285-4B64-8E2C-BDD59D7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Высокий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5D0EF-A79C-4ECE-BB1D-80E80069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E09CB-B60A-4EE9-A522-21F92E0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812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UWOP-vs-prolog disassembly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A7DEC-3176-49EB-A274-2265DBE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968D6-DB71-4685-99BA-1DF4AC5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812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сверка declared unwind effects с реальным прологом .text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22A32-C68B-485F-A657-3B04918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CEC83-FC5E-4BE7-978C-7E7D0B99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Высокий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A30C6-69C4-488F-AE4F-B291EA6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06EA-BE8B-4723-BB99-21135F0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670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explanatory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E31EA-3018-4D02-89F6-94292969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DA1B6-081E-4A58-ABF0-B73E07E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670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более подробная цепочка evidence → consequence → manual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2B682-C92E-4C73-95DD-0B154CA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3C6A4-1D51-419F-812F-DCB94DF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Средний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8D9B8-34DB-444A-A53A-E07896C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671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4C220-0122-440C-8AC9-4373D7E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528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static/dynamic correlation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311D3-0EF4-4125-9C95-BFC334BE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810E1-7CD6-4AD9-BC4F-026A7A8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528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связь runtime events с конкретными static findings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A3A9FA-ECF1-4EB2-B28D-9027143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CFD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DAAE0-DAAE-4037-BBD6-2D3B3293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Средний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0E7F7-256C-4BC4-B5D4-B21A4BD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529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64712-1296-4F9E-9B04-0A18C560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386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database/API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01147-9401-40F4-A180-EB54422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FA282-CE5E-4113-84DC-25A5C24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386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история анализов, сравнение версий, frontend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794395-0B4F-4AF6-BEB8-6861A91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C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F13FE9-ECAF-418F-B50F-07CFBF49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Низкий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45942B-D52C-41E8-A2E4-EB970D2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38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DAAE0A-0E88-40FB-8D2E-A3A45A7E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24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расширение corpus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25154-5D07-457A-BE73-99888D2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9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AB7AB7-9BA1-4587-8744-A69FB0C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24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331"/>
                </a:solidFill>
              </a:defRPr>
            </a:pPr>
            <a:r>
              <a:rPr sz="1200" b="0" i="0">
                <a:solidFill>
                  <a:srgbClr val="102331"/>
                </a:solidFill>
              </a:rPr>
              <a:t>больше toolchains, protected samples, controlled malware lab</a:t>
            </a:r>
          </a:p>
        </p:txBody>
      </p:sp>
    </p:spTree>
    <p:extLst>
      <p:ext uri="{BB962C8B-B14F-4D97-AF65-F5344CB8AC3E}">
        <p14:creationId xmlns:p14="http://schemas.microsoft.com/office/powerpoint/2010/main" val="108461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05080-4771-4772-9E4C-8CFCF4F1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C89"/>
                </a:solidFill>
              </a:defRPr>
            </a:pPr>
            <a:r>
              <a:rPr sz="975" b="1" i="0">
                <a:solidFill>
                  <a:srgbClr val="007C89"/>
                </a:solidFill>
              </a:rPr>
              <a:t>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A59A4-4B5B-43C9-828C-5DA0BD73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2331"/>
                </a:solidFill>
              </a:defRPr>
            </a:pPr>
            <a:r>
              <a:rPr sz="2700" b="1" i="0">
                <a:solidFill>
                  <a:srgbClr val="102331"/>
                </a:solidFill>
              </a:rPr>
              <a:t>Формализация проверки EH/Unwind-слоя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891C7-079A-4BFA-8908-8454F4D7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9D383-E405-46F4-BE40-67B4EFB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76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9719D-288B-4B85-BAE0-A5CDCF74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7C89"/>
                </a:solidFill>
              </a:defRPr>
            </a:pPr>
            <a:r>
              <a:rPr sz="2250" b="1" i="0">
                <a:solidFill>
                  <a:srgbClr val="007C89"/>
                </a:solidFill>
              </a:rPr>
              <a:t>Главный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BBD1D-CCC5-4B9C-9531-5E553D3E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331"/>
                </a:solidFill>
              </a:defRPr>
            </a:pPr>
            <a:r>
              <a:rPr sz="2100" b="1" i="0">
                <a:solidFill>
                  <a:srgbClr val="102331"/>
                </a:solidFill>
              </a:rPr>
              <a:t>Разработано ядро инструмента, которое строит карту EH/Unwind-метаданных, выявляет диагностические аномалии, связывает static и runtime evidence и формирует воспроизводимые отчеты для дальнейшей экспертизы.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F954A-D8D9-4842-9381-96D904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CEF"/>
          </a:solidFill>
          <a:ln xmlns:a="http://schemas.openxmlformats.org/drawingml/2006/main" w="0">
            <a:solidFill>
              <a:srgbClr val="BFEC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CAF37-B77E-408D-9D9F-9391700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1"/>
                </a:solidFill>
              </a:defRPr>
            </a:pPr>
            <a:r>
              <a:rPr sz="1800" b="1" i="0">
                <a:solidFill>
                  <a:srgbClr val="102331"/>
                </a:solidFill>
              </a:rPr>
              <a:t>Защитная позиция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08098-7EAD-47FC-9282-6B69A893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746"/>
                </a:solidFill>
              </a:defRPr>
            </a:pPr>
            <a:r>
              <a:rPr sz="1800" b="0" i="0">
                <a:solidFill>
                  <a:srgbClr val="253746"/>
                </a:solidFill>
              </a:rPr>
              <a:t>EH_Unwind Analyzer не подменяет реверс-инженера и не выдает malware-verdict. Его назначение — дать специалисту проверяемую карту, evidence и приоритеты ручной проверки.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1CFC0-2FB6-43B2-8827-EBA59FA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7C89"/>
                </a:solidFill>
              </a:defRPr>
            </a:pPr>
            <a:r>
              <a:rPr sz="2400" b="1" i="0">
                <a:solidFill>
                  <a:srgbClr val="007C89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770039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2026-08-15T18:42:41.1060000Z</dcterms:created>
  <dcterms:modified xsi:type="dcterms:W3CDTF">2026-08-15T18:42:41.1060000Z</dcterms:modified>
</coreProperties>
</file>